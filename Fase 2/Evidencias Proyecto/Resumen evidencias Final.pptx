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Muli Heavy" charset="1" panose="00000A00000000000000"/>
      <p:regular r:id="rId28"/>
    </p:embeddedFont>
    <p:embeddedFont>
      <p:font typeface="TT Interphases" charset="1" panose="02000503020000020004"/>
      <p:regular r:id="rId29"/>
    </p:embeddedFont>
    <p:embeddedFont>
      <p:font typeface="TT Interphases Bold" charset="1" panose="02000803060000020004"/>
      <p:regular r:id="rId30"/>
    </p:embeddedFont>
    <p:embeddedFont>
      <p:font typeface="Muli Ultra-Bold" charset="1" panose="000009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jpeg" Type="http://schemas.openxmlformats.org/officeDocument/2006/relationships/image"/><Relationship Id="rId4" Target="../media/image4.png" Type="http://schemas.openxmlformats.org/officeDocument/2006/relationships/image"/><Relationship Id="rId5"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7.png" Type="http://schemas.openxmlformats.org/officeDocument/2006/relationships/image"/><Relationship Id="rId6"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svg" Type="http://schemas.openxmlformats.org/officeDocument/2006/relationships/image"/><Relationship Id="rId5" Target="../media/image11.png" Type="http://schemas.openxmlformats.org/officeDocument/2006/relationships/image"/><Relationship Id="rId6" Target="../media/image12.sv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2.png" Type="http://schemas.openxmlformats.org/officeDocument/2006/relationships/image"/><Relationship Id="rId9" Target="../media/image2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24.png" Type="http://schemas.openxmlformats.org/officeDocument/2006/relationships/image"/><Relationship Id="rId4" Target="../media/image25.svg" Type="http://schemas.openxmlformats.org/officeDocument/2006/relationships/image"/><Relationship Id="rId5" Target="../media/image26.png" Type="http://schemas.openxmlformats.org/officeDocument/2006/relationships/image"/><Relationship Id="rId6" Target="../media/image27.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 Id="rId4" Target="../media/image30.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 Id="rId4" Target="../media/image3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 Id="rId4" Target="../media/image3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 Id="rId4" Target="../media/image33.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42.png" Type="http://schemas.openxmlformats.org/officeDocument/2006/relationships/image"/><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1.png" Type="http://schemas.openxmlformats.org/officeDocument/2006/relationships/image"/><Relationship Id="rId4" Target="../media/image44.png" Type="http://schemas.openxmlformats.org/officeDocument/2006/relationships/image"/><Relationship Id="rId5" Target="../media/image45.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 Id="rId4" Target="../media/image4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 Id="rId3" Target="../media/image1.png" Type="http://schemas.openxmlformats.org/officeDocument/2006/relationships/image"/><Relationship Id="rId4" Target="../media/image4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8.jpeg" Type="http://schemas.openxmlformats.org/officeDocument/2006/relationships/image"/><Relationship Id="rId3" Target="../media/image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4640180" y="2294629"/>
            <a:ext cx="9530043" cy="22060528"/>
            <a:chOff x="0" y="0"/>
            <a:chExt cx="2509970" cy="5810180"/>
          </a:xfrm>
        </p:grpSpPr>
        <p:sp>
          <p:nvSpPr>
            <p:cNvPr name="Freeform 3" id="3"/>
            <p:cNvSpPr/>
            <p:nvPr/>
          </p:nvSpPr>
          <p:spPr>
            <a:xfrm flipH="false" flipV="false" rot="0">
              <a:off x="0" y="0"/>
              <a:ext cx="2509970" cy="5810180"/>
            </a:xfrm>
            <a:custGeom>
              <a:avLst/>
              <a:gdLst/>
              <a:ahLst/>
              <a:cxnLst/>
              <a:rect r="r" b="b" t="t" l="l"/>
              <a:pathLst>
                <a:path h="5810180" w="2509970">
                  <a:moveTo>
                    <a:pt x="0" y="0"/>
                  </a:moveTo>
                  <a:lnTo>
                    <a:pt x="2509970" y="0"/>
                  </a:lnTo>
                  <a:lnTo>
                    <a:pt x="2509970" y="5810180"/>
                  </a:lnTo>
                  <a:lnTo>
                    <a:pt x="0" y="5810180"/>
                  </a:lnTo>
                  <a:close/>
                </a:path>
              </a:pathLst>
            </a:custGeom>
            <a:solidFill>
              <a:srgbClr val="FDB61B"/>
            </a:solidFill>
          </p:spPr>
        </p:sp>
        <p:sp>
          <p:nvSpPr>
            <p:cNvPr name="TextBox 4" id="4"/>
            <p:cNvSpPr txBox="true"/>
            <p:nvPr/>
          </p:nvSpPr>
          <p:spPr>
            <a:xfrm>
              <a:off x="0" y="-38100"/>
              <a:ext cx="2509970" cy="5848280"/>
            </a:xfrm>
            <a:prstGeom prst="rect">
              <a:avLst/>
            </a:prstGeom>
          </p:spPr>
          <p:txBody>
            <a:bodyPr anchor="ctr" rtlCol="false" tIns="50800" lIns="50800" bIns="50800" rIns="50800"/>
            <a:lstStyle/>
            <a:p>
              <a:pPr algn="ctr">
                <a:lnSpc>
                  <a:spcPts val="1774"/>
                </a:lnSpc>
              </a:pPr>
            </a:p>
          </p:txBody>
        </p:sp>
      </p:grpSp>
      <p:grpSp>
        <p:nvGrpSpPr>
          <p:cNvPr name="Group 5" id="5"/>
          <p:cNvGrpSpPr/>
          <p:nvPr/>
        </p:nvGrpSpPr>
        <p:grpSpPr>
          <a:xfrm rot="5400000">
            <a:off x="1361863" y="-2731086"/>
            <a:ext cx="12249019" cy="14972746"/>
            <a:chOff x="0" y="0"/>
            <a:chExt cx="3226079" cy="3943439"/>
          </a:xfrm>
        </p:grpSpPr>
        <p:sp>
          <p:nvSpPr>
            <p:cNvPr name="Freeform 6" id="6"/>
            <p:cNvSpPr/>
            <p:nvPr/>
          </p:nvSpPr>
          <p:spPr>
            <a:xfrm flipH="false" flipV="false" rot="0">
              <a:off x="0" y="0"/>
              <a:ext cx="3226079" cy="3943440"/>
            </a:xfrm>
            <a:custGeom>
              <a:avLst/>
              <a:gdLst/>
              <a:ahLst/>
              <a:cxnLst/>
              <a:rect r="r" b="b" t="t" l="l"/>
              <a:pathLst>
                <a:path h="3943440" w="3226079">
                  <a:moveTo>
                    <a:pt x="17697" y="0"/>
                  </a:moveTo>
                  <a:lnTo>
                    <a:pt x="3208382" y="0"/>
                  </a:lnTo>
                  <a:cubicBezTo>
                    <a:pt x="3213076" y="0"/>
                    <a:pt x="3217577" y="1865"/>
                    <a:pt x="3220896" y="5183"/>
                  </a:cubicBezTo>
                  <a:cubicBezTo>
                    <a:pt x="3224215" y="8502"/>
                    <a:pt x="3226079" y="13004"/>
                    <a:pt x="3226079" y="17697"/>
                  </a:cubicBezTo>
                  <a:lnTo>
                    <a:pt x="3226079" y="3925742"/>
                  </a:lnTo>
                  <a:cubicBezTo>
                    <a:pt x="3226079" y="3935516"/>
                    <a:pt x="3218156" y="3943440"/>
                    <a:pt x="3208382" y="3943440"/>
                  </a:cubicBezTo>
                  <a:lnTo>
                    <a:pt x="17697" y="3943440"/>
                  </a:lnTo>
                  <a:cubicBezTo>
                    <a:pt x="7923" y="3943440"/>
                    <a:pt x="0" y="3935516"/>
                    <a:pt x="0" y="3925742"/>
                  </a:cubicBezTo>
                  <a:lnTo>
                    <a:pt x="0" y="17697"/>
                  </a:lnTo>
                  <a:cubicBezTo>
                    <a:pt x="0" y="7923"/>
                    <a:pt x="7923" y="0"/>
                    <a:pt x="17697" y="0"/>
                  </a:cubicBezTo>
                  <a:close/>
                </a:path>
              </a:pathLst>
            </a:custGeom>
            <a:solidFill>
              <a:srgbClr val="00407B"/>
            </a:solidFill>
          </p:spPr>
        </p:sp>
        <p:sp>
          <p:nvSpPr>
            <p:cNvPr name="TextBox 7" id="7"/>
            <p:cNvSpPr txBox="true"/>
            <p:nvPr/>
          </p:nvSpPr>
          <p:spPr>
            <a:xfrm>
              <a:off x="0" y="-38100"/>
              <a:ext cx="3226079" cy="3981539"/>
            </a:xfrm>
            <a:prstGeom prst="rect">
              <a:avLst/>
            </a:prstGeom>
          </p:spPr>
          <p:txBody>
            <a:bodyPr anchor="ctr" rtlCol="false" tIns="50800" lIns="50800" bIns="50800" rIns="50800"/>
            <a:lstStyle/>
            <a:p>
              <a:pPr algn="ctr">
                <a:lnSpc>
                  <a:spcPts val="1774"/>
                </a:lnSpc>
              </a:pPr>
            </a:p>
          </p:txBody>
        </p:sp>
      </p:grpSp>
      <p:sp>
        <p:nvSpPr>
          <p:cNvPr name="TextBox 8" id="8"/>
          <p:cNvSpPr txBox="true"/>
          <p:nvPr/>
        </p:nvSpPr>
        <p:spPr>
          <a:xfrm rot="0">
            <a:off x="-1311559" y="1376467"/>
            <a:ext cx="12037401" cy="1137003"/>
          </a:xfrm>
          <a:prstGeom prst="rect">
            <a:avLst/>
          </a:prstGeom>
        </p:spPr>
        <p:txBody>
          <a:bodyPr anchor="t" rtlCol="false" tIns="0" lIns="0" bIns="0" rIns="0">
            <a:spAutoFit/>
          </a:bodyPr>
          <a:lstStyle/>
          <a:p>
            <a:pPr algn="ctr">
              <a:lnSpc>
                <a:spcPts val="9052"/>
              </a:lnSpc>
            </a:pPr>
            <a:r>
              <a:rPr lang="en-US" b="true" sz="7300" spc="138">
                <a:solidFill>
                  <a:srgbClr val="FFFFFF"/>
                </a:solidFill>
                <a:latin typeface="Muli Heavy"/>
                <a:ea typeface="Muli Heavy"/>
                <a:cs typeface="Muli Heavy"/>
                <a:sym typeface="Muli Heavy"/>
              </a:rPr>
              <a:t>SEGURIDAD SB</a:t>
            </a:r>
          </a:p>
        </p:txBody>
      </p:sp>
      <p:sp>
        <p:nvSpPr>
          <p:cNvPr name="TextBox 9" id="9"/>
          <p:cNvSpPr txBox="true"/>
          <p:nvPr/>
        </p:nvSpPr>
        <p:spPr>
          <a:xfrm rot="0">
            <a:off x="31604" y="804916"/>
            <a:ext cx="7491186" cy="773201"/>
          </a:xfrm>
          <a:prstGeom prst="rect">
            <a:avLst/>
          </a:prstGeom>
        </p:spPr>
        <p:txBody>
          <a:bodyPr anchor="t" rtlCol="false" tIns="0" lIns="0" bIns="0" rIns="0">
            <a:spAutoFit/>
          </a:bodyPr>
          <a:lstStyle/>
          <a:p>
            <a:pPr algn="ctr">
              <a:lnSpc>
                <a:spcPts val="6327"/>
              </a:lnSpc>
            </a:pPr>
            <a:r>
              <a:rPr lang="en-US" sz="4519">
                <a:solidFill>
                  <a:srgbClr val="FFFFFF"/>
                </a:solidFill>
                <a:latin typeface="TT Interphases"/>
                <a:ea typeface="TT Interphases"/>
                <a:cs typeface="TT Interphases"/>
                <a:sym typeface="TT Interphases"/>
              </a:rPr>
              <a:t>Informe Avance/Final</a:t>
            </a:r>
          </a:p>
        </p:txBody>
      </p:sp>
      <p:sp>
        <p:nvSpPr>
          <p:cNvPr name="TextBox 10" id="10"/>
          <p:cNvSpPr txBox="true"/>
          <p:nvPr/>
        </p:nvSpPr>
        <p:spPr>
          <a:xfrm rot="0">
            <a:off x="961549" y="2913485"/>
            <a:ext cx="7491186" cy="966599"/>
          </a:xfrm>
          <a:prstGeom prst="rect">
            <a:avLst/>
          </a:prstGeom>
        </p:spPr>
        <p:txBody>
          <a:bodyPr anchor="t" rtlCol="false" tIns="0" lIns="0" bIns="0" rIns="0">
            <a:spAutoFit/>
          </a:bodyPr>
          <a:lstStyle/>
          <a:p>
            <a:pPr algn="l">
              <a:lnSpc>
                <a:spcPts val="3947"/>
              </a:lnSpc>
            </a:pPr>
            <a:r>
              <a:rPr lang="en-US" sz="2819" b="true">
                <a:solidFill>
                  <a:srgbClr val="FFFFFF"/>
                </a:solidFill>
                <a:latin typeface="TT Interphases Bold"/>
                <a:ea typeface="TT Interphases Bold"/>
                <a:cs typeface="TT Interphases Bold"/>
                <a:sym typeface="TT Interphases Bold"/>
              </a:rPr>
              <a:t>DOCENTE</a:t>
            </a:r>
          </a:p>
          <a:p>
            <a:pPr algn="l">
              <a:lnSpc>
                <a:spcPts val="3947"/>
              </a:lnSpc>
            </a:pPr>
            <a:r>
              <a:rPr lang="en-US" sz="2819">
                <a:solidFill>
                  <a:srgbClr val="FFFFFF"/>
                </a:solidFill>
                <a:latin typeface="TT Interphases"/>
                <a:ea typeface="TT Interphases"/>
                <a:cs typeface="TT Interphases"/>
                <a:sym typeface="TT Interphases"/>
              </a:rPr>
              <a:t>Mallén González González</a:t>
            </a:r>
          </a:p>
        </p:txBody>
      </p:sp>
      <p:sp>
        <p:nvSpPr>
          <p:cNvPr name="TextBox 11" id="11"/>
          <p:cNvSpPr txBox="true"/>
          <p:nvPr/>
        </p:nvSpPr>
        <p:spPr>
          <a:xfrm rot="0">
            <a:off x="1060304" y="4264474"/>
            <a:ext cx="7491186" cy="1957199"/>
          </a:xfrm>
          <a:prstGeom prst="rect">
            <a:avLst/>
          </a:prstGeom>
        </p:spPr>
        <p:txBody>
          <a:bodyPr anchor="t" rtlCol="false" tIns="0" lIns="0" bIns="0" rIns="0">
            <a:spAutoFit/>
          </a:bodyPr>
          <a:lstStyle/>
          <a:p>
            <a:pPr algn="l">
              <a:lnSpc>
                <a:spcPts val="3947"/>
              </a:lnSpc>
            </a:pPr>
            <a:r>
              <a:rPr lang="en-US" sz="2819" b="true">
                <a:solidFill>
                  <a:srgbClr val="FFFFFF"/>
                </a:solidFill>
                <a:latin typeface="TT Interphases Bold"/>
                <a:ea typeface="TT Interphases Bold"/>
                <a:cs typeface="TT Interphases Bold"/>
                <a:sym typeface="TT Interphases Bold"/>
              </a:rPr>
              <a:t>Integrantes</a:t>
            </a:r>
          </a:p>
          <a:p>
            <a:pPr algn="l">
              <a:lnSpc>
                <a:spcPts val="3947"/>
              </a:lnSpc>
            </a:pPr>
            <a:r>
              <a:rPr lang="en-US" sz="2819">
                <a:solidFill>
                  <a:srgbClr val="FFFFFF"/>
                </a:solidFill>
                <a:latin typeface="TT Interphases"/>
                <a:ea typeface="TT Interphases"/>
                <a:cs typeface="TT Interphases"/>
                <a:sym typeface="TT Interphases"/>
              </a:rPr>
              <a:t>José Acevedo Zamorano</a:t>
            </a:r>
          </a:p>
          <a:p>
            <a:pPr algn="l">
              <a:lnSpc>
                <a:spcPts val="3947"/>
              </a:lnSpc>
            </a:pPr>
            <a:r>
              <a:rPr lang="en-US" sz="2819">
                <a:solidFill>
                  <a:srgbClr val="FFFFFF"/>
                </a:solidFill>
                <a:latin typeface="TT Interphases"/>
                <a:ea typeface="TT Interphases"/>
                <a:cs typeface="TT Interphases"/>
                <a:sym typeface="TT Interphases"/>
              </a:rPr>
              <a:t>Sebastián Revoco Fuentes</a:t>
            </a:r>
          </a:p>
          <a:p>
            <a:pPr algn="l">
              <a:lnSpc>
                <a:spcPts val="3947"/>
              </a:lnSpc>
            </a:pPr>
            <a:r>
              <a:rPr lang="en-US" sz="2819">
                <a:solidFill>
                  <a:srgbClr val="FFFFFF"/>
                </a:solidFill>
                <a:latin typeface="TT Interphases"/>
                <a:ea typeface="TT Interphases"/>
                <a:cs typeface="TT Interphases"/>
                <a:sym typeface="TT Interphases"/>
              </a:rPr>
              <a:t>Benjamín  Cerón de la Fuente</a:t>
            </a:r>
          </a:p>
        </p:txBody>
      </p:sp>
      <p:sp>
        <p:nvSpPr>
          <p:cNvPr name="TextBox 12" id="12"/>
          <p:cNvSpPr txBox="true"/>
          <p:nvPr/>
        </p:nvSpPr>
        <p:spPr>
          <a:xfrm rot="0">
            <a:off x="961549" y="6602673"/>
            <a:ext cx="7491186" cy="1957199"/>
          </a:xfrm>
          <a:prstGeom prst="rect">
            <a:avLst/>
          </a:prstGeom>
        </p:spPr>
        <p:txBody>
          <a:bodyPr anchor="t" rtlCol="false" tIns="0" lIns="0" bIns="0" rIns="0">
            <a:spAutoFit/>
          </a:bodyPr>
          <a:lstStyle/>
          <a:p>
            <a:pPr algn="l">
              <a:lnSpc>
                <a:spcPts val="3947"/>
              </a:lnSpc>
            </a:pPr>
            <a:r>
              <a:rPr lang="en-US" sz="2819" b="true">
                <a:solidFill>
                  <a:srgbClr val="FFFFFF"/>
                </a:solidFill>
                <a:latin typeface="TT Interphases Bold"/>
                <a:ea typeface="TT Interphases Bold"/>
                <a:cs typeface="TT Interphases Bold"/>
                <a:sym typeface="TT Interphases Bold"/>
              </a:rPr>
              <a:t>DUOC UC SAN BERNARDO</a:t>
            </a:r>
          </a:p>
          <a:p>
            <a:pPr algn="l">
              <a:lnSpc>
                <a:spcPts val="3947"/>
              </a:lnSpc>
            </a:pPr>
            <a:r>
              <a:rPr lang="en-US" sz="2819">
                <a:solidFill>
                  <a:srgbClr val="FFFFFF"/>
                </a:solidFill>
                <a:latin typeface="TT Interphases"/>
                <a:ea typeface="TT Interphases"/>
                <a:cs typeface="TT Interphases"/>
                <a:sym typeface="TT Interphases"/>
              </a:rPr>
              <a:t>Escuela de Informática y telecomunicaciones</a:t>
            </a:r>
          </a:p>
          <a:p>
            <a:pPr algn="l">
              <a:lnSpc>
                <a:spcPts val="3947"/>
              </a:lnSpc>
            </a:pPr>
            <a:r>
              <a:rPr lang="en-US" sz="2819">
                <a:solidFill>
                  <a:srgbClr val="FFFFFF"/>
                </a:solidFill>
                <a:latin typeface="TT Interphases"/>
                <a:ea typeface="TT Interphases"/>
                <a:cs typeface="TT Interphases"/>
                <a:sym typeface="TT Interphases"/>
              </a:rPr>
              <a:t>Carrera: Ingeniería en Informática</a:t>
            </a:r>
          </a:p>
          <a:p>
            <a:pPr algn="l">
              <a:lnSpc>
                <a:spcPts val="3947"/>
              </a:lnSpc>
            </a:pPr>
            <a:r>
              <a:rPr lang="en-US" sz="2819">
                <a:solidFill>
                  <a:srgbClr val="FFFFFF"/>
                </a:solidFill>
                <a:latin typeface="TT Interphases"/>
                <a:ea typeface="TT Interphases"/>
                <a:cs typeface="TT Interphases"/>
                <a:sym typeface="TT Interphases"/>
              </a:rPr>
              <a:t>Año: 2025 </a:t>
            </a:r>
          </a:p>
        </p:txBody>
      </p:sp>
      <p:grpSp>
        <p:nvGrpSpPr>
          <p:cNvPr name="Group 13" id="13"/>
          <p:cNvGrpSpPr>
            <a:grpSpLocks noChangeAspect="true"/>
          </p:cNvGrpSpPr>
          <p:nvPr/>
        </p:nvGrpSpPr>
        <p:grpSpPr>
          <a:xfrm rot="0">
            <a:off x="14561012" y="3384884"/>
            <a:ext cx="4196381" cy="2550705"/>
            <a:chOff x="0" y="0"/>
            <a:chExt cx="5632232" cy="3423465"/>
          </a:xfrm>
        </p:grpSpPr>
        <p:sp>
          <p:nvSpPr>
            <p:cNvPr name="Freeform 14" id="14"/>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2"/>
              <a:stretch>
                <a:fillRect l="-5149" t="-37679" r="-5140" b="-32516"/>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4563398" y="-5251795"/>
            <a:ext cx="7450725" cy="21383676"/>
            <a:chOff x="0" y="0"/>
            <a:chExt cx="1962331" cy="5631915"/>
          </a:xfrm>
        </p:grpSpPr>
        <p:sp>
          <p:nvSpPr>
            <p:cNvPr name="Freeform 3" id="3"/>
            <p:cNvSpPr/>
            <p:nvPr/>
          </p:nvSpPr>
          <p:spPr>
            <a:xfrm flipH="false" flipV="false" rot="0">
              <a:off x="0" y="0"/>
              <a:ext cx="1962331" cy="5631915"/>
            </a:xfrm>
            <a:custGeom>
              <a:avLst/>
              <a:gdLst/>
              <a:ahLst/>
              <a:cxnLst/>
              <a:rect r="r" b="b" t="t" l="l"/>
              <a:pathLst>
                <a:path h="5631915" w="1962331">
                  <a:moveTo>
                    <a:pt x="29094" y="0"/>
                  </a:moveTo>
                  <a:lnTo>
                    <a:pt x="1933236" y="0"/>
                  </a:lnTo>
                  <a:cubicBezTo>
                    <a:pt x="1949305" y="0"/>
                    <a:pt x="1962331" y="13026"/>
                    <a:pt x="1962331" y="29094"/>
                  </a:cubicBezTo>
                  <a:lnTo>
                    <a:pt x="1962331" y="5602820"/>
                  </a:lnTo>
                  <a:cubicBezTo>
                    <a:pt x="1962331" y="5618889"/>
                    <a:pt x="1949305" y="5631915"/>
                    <a:pt x="1933236" y="5631915"/>
                  </a:cubicBezTo>
                  <a:lnTo>
                    <a:pt x="29094" y="5631915"/>
                  </a:lnTo>
                  <a:cubicBezTo>
                    <a:pt x="21378" y="5631915"/>
                    <a:pt x="13978" y="5628849"/>
                    <a:pt x="8522" y="5623393"/>
                  </a:cubicBezTo>
                  <a:cubicBezTo>
                    <a:pt x="3065" y="5617937"/>
                    <a:pt x="0" y="5610537"/>
                    <a:pt x="0" y="5602820"/>
                  </a:cubicBezTo>
                  <a:lnTo>
                    <a:pt x="0" y="29094"/>
                  </a:lnTo>
                  <a:cubicBezTo>
                    <a:pt x="0" y="13026"/>
                    <a:pt x="13026" y="0"/>
                    <a:pt x="29094" y="0"/>
                  </a:cubicBezTo>
                  <a:close/>
                </a:path>
              </a:pathLst>
            </a:custGeom>
            <a:solidFill>
              <a:srgbClr val="00407B"/>
            </a:solidFill>
          </p:spPr>
        </p:sp>
        <p:sp>
          <p:nvSpPr>
            <p:cNvPr name="TextBox 4" id="4"/>
            <p:cNvSpPr txBox="true"/>
            <p:nvPr/>
          </p:nvSpPr>
          <p:spPr>
            <a:xfrm>
              <a:off x="0" y="-38100"/>
              <a:ext cx="1962331" cy="5670015"/>
            </a:xfrm>
            <a:prstGeom prst="rect">
              <a:avLst/>
            </a:prstGeom>
          </p:spPr>
          <p:txBody>
            <a:bodyPr anchor="ctr" rtlCol="false" tIns="50800" lIns="50800" bIns="50800" rIns="50800"/>
            <a:lstStyle/>
            <a:p>
              <a:pPr algn="ctr">
                <a:lnSpc>
                  <a:spcPts val="1774"/>
                </a:lnSpc>
              </a:pPr>
            </a:p>
          </p:txBody>
        </p:sp>
      </p:grpSp>
      <p:grpSp>
        <p:nvGrpSpPr>
          <p:cNvPr name="Group 5" id="5"/>
          <p:cNvGrpSpPr/>
          <p:nvPr/>
        </p:nvGrpSpPr>
        <p:grpSpPr>
          <a:xfrm rot="5400000">
            <a:off x="-6388292" y="4209940"/>
            <a:ext cx="13552631" cy="2985344"/>
            <a:chOff x="0" y="0"/>
            <a:chExt cx="3569417" cy="786263"/>
          </a:xfrm>
        </p:grpSpPr>
        <p:sp>
          <p:nvSpPr>
            <p:cNvPr name="Freeform 6" id="6"/>
            <p:cNvSpPr/>
            <p:nvPr/>
          </p:nvSpPr>
          <p:spPr>
            <a:xfrm flipH="false" flipV="false" rot="0">
              <a:off x="0" y="0"/>
              <a:ext cx="3569417" cy="786263"/>
            </a:xfrm>
            <a:custGeom>
              <a:avLst/>
              <a:gdLst/>
              <a:ahLst/>
              <a:cxnLst/>
              <a:rect r="r" b="b" t="t" l="l"/>
              <a:pathLst>
                <a:path h="786263" w="3569417">
                  <a:moveTo>
                    <a:pt x="0" y="0"/>
                  </a:moveTo>
                  <a:lnTo>
                    <a:pt x="3569417" y="0"/>
                  </a:lnTo>
                  <a:lnTo>
                    <a:pt x="3569417" y="786263"/>
                  </a:lnTo>
                  <a:lnTo>
                    <a:pt x="0" y="786263"/>
                  </a:lnTo>
                  <a:close/>
                </a:path>
              </a:pathLst>
            </a:custGeom>
            <a:solidFill>
              <a:srgbClr val="FDB720"/>
            </a:solidFill>
          </p:spPr>
        </p:sp>
        <p:sp>
          <p:nvSpPr>
            <p:cNvPr name="TextBox 7" id="7"/>
            <p:cNvSpPr txBox="true"/>
            <p:nvPr/>
          </p:nvSpPr>
          <p:spPr>
            <a:xfrm>
              <a:off x="0" y="-38100"/>
              <a:ext cx="3569417" cy="824363"/>
            </a:xfrm>
            <a:prstGeom prst="rect">
              <a:avLst/>
            </a:prstGeom>
          </p:spPr>
          <p:txBody>
            <a:bodyPr anchor="ctr" rtlCol="false" tIns="50800" lIns="50800" bIns="50800" rIns="50800"/>
            <a:lstStyle/>
            <a:p>
              <a:pPr algn="ctr">
                <a:lnSpc>
                  <a:spcPts val="1774"/>
                </a:lnSpc>
              </a:pPr>
            </a:p>
          </p:txBody>
        </p:sp>
      </p:grpSp>
      <p:sp>
        <p:nvSpPr>
          <p:cNvPr name="TextBox 8" id="8"/>
          <p:cNvSpPr txBox="true"/>
          <p:nvPr/>
        </p:nvSpPr>
        <p:spPr>
          <a:xfrm rot="0">
            <a:off x="2937970" y="1903656"/>
            <a:ext cx="4477569" cy="1114880"/>
          </a:xfrm>
          <a:prstGeom prst="rect">
            <a:avLst/>
          </a:prstGeom>
        </p:spPr>
        <p:txBody>
          <a:bodyPr anchor="t" rtlCol="false" tIns="0" lIns="0" bIns="0" rIns="0">
            <a:spAutoFit/>
          </a:bodyPr>
          <a:lstStyle/>
          <a:p>
            <a:pPr algn="l" marL="0" indent="0" lvl="0">
              <a:lnSpc>
                <a:spcPts val="8869"/>
              </a:lnSpc>
              <a:spcBef>
                <a:spcPct val="0"/>
              </a:spcBef>
            </a:pPr>
            <a:r>
              <a:rPr lang="en-US" b="true" sz="7152" spc="135">
                <a:solidFill>
                  <a:srgbClr val="FFFFFF"/>
                </a:solidFill>
                <a:latin typeface="Muli Heavy"/>
                <a:ea typeface="Muli Heavy"/>
                <a:cs typeface="Muli Heavy"/>
                <a:sym typeface="Muli Heavy"/>
              </a:rPr>
              <a:t>ÍNDICE</a:t>
            </a:r>
          </a:p>
        </p:txBody>
      </p:sp>
      <p:sp>
        <p:nvSpPr>
          <p:cNvPr name="TextBox 9" id="9"/>
          <p:cNvSpPr txBox="true"/>
          <p:nvPr/>
        </p:nvSpPr>
        <p:spPr>
          <a:xfrm rot="0">
            <a:off x="3818152" y="6052657"/>
            <a:ext cx="5499612" cy="552165"/>
          </a:xfrm>
          <a:prstGeom prst="rect">
            <a:avLst/>
          </a:prstGeom>
        </p:spPr>
        <p:txBody>
          <a:bodyPr anchor="t" rtlCol="false" tIns="0" lIns="0" bIns="0" rIns="0">
            <a:spAutoFit/>
          </a:bodyPr>
          <a:lstStyle/>
          <a:p>
            <a:pPr algn="l">
              <a:lnSpc>
                <a:spcPts val="4315"/>
              </a:lnSpc>
            </a:pPr>
            <a:r>
              <a:rPr lang="en-US" sz="3566">
                <a:solidFill>
                  <a:srgbClr val="FFFFFF"/>
                </a:solidFill>
                <a:latin typeface="TT Interphases"/>
                <a:ea typeface="TT Interphases"/>
                <a:cs typeface="TT Interphases"/>
                <a:sym typeface="TT Interphases"/>
              </a:rPr>
              <a:t>Impacto y Beneficiarios</a:t>
            </a:r>
          </a:p>
        </p:txBody>
      </p:sp>
      <p:sp>
        <p:nvSpPr>
          <p:cNvPr name="TextBox 10" id="10"/>
          <p:cNvSpPr txBox="true"/>
          <p:nvPr/>
        </p:nvSpPr>
        <p:spPr>
          <a:xfrm rot="0">
            <a:off x="3818152" y="7249645"/>
            <a:ext cx="3773586" cy="552165"/>
          </a:xfrm>
          <a:prstGeom prst="rect">
            <a:avLst/>
          </a:prstGeom>
        </p:spPr>
        <p:txBody>
          <a:bodyPr anchor="t" rtlCol="false" tIns="0" lIns="0" bIns="0" rIns="0">
            <a:spAutoFit/>
          </a:bodyPr>
          <a:lstStyle/>
          <a:p>
            <a:pPr algn="l">
              <a:lnSpc>
                <a:spcPts val="4315"/>
              </a:lnSpc>
            </a:pPr>
            <a:r>
              <a:rPr lang="en-US" sz="3566">
                <a:solidFill>
                  <a:srgbClr val="FFFFFF"/>
                </a:solidFill>
                <a:latin typeface="TT Interphases"/>
                <a:ea typeface="TT Interphases"/>
                <a:cs typeface="TT Interphases"/>
                <a:sym typeface="TT Interphases"/>
              </a:rPr>
              <a:t>Estado Actual</a:t>
            </a:r>
          </a:p>
        </p:txBody>
      </p:sp>
      <p:sp>
        <p:nvSpPr>
          <p:cNvPr name="TextBox 11" id="11"/>
          <p:cNvSpPr txBox="true"/>
          <p:nvPr/>
        </p:nvSpPr>
        <p:spPr>
          <a:xfrm rot="0">
            <a:off x="10366440" y="7300286"/>
            <a:ext cx="3773586" cy="552165"/>
          </a:xfrm>
          <a:prstGeom prst="rect">
            <a:avLst/>
          </a:prstGeom>
        </p:spPr>
        <p:txBody>
          <a:bodyPr anchor="t" rtlCol="false" tIns="0" lIns="0" bIns="0" rIns="0">
            <a:spAutoFit/>
          </a:bodyPr>
          <a:lstStyle/>
          <a:p>
            <a:pPr algn="l">
              <a:lnSpc>
                <a:spcPts val="4315"/>
              </a:lnSpc>
            </a:pPr>
            <a:r>
              <a:rPr lang="en-US" sz="3566" strike="noStrike" u="none">
                <a:solidFill>
                  <a:srgbClr val="FFFFFF"/>
                </a:solidFill>
                <a:latin typeface="TT Interphases"/>
                <a:ea typeface="TT Interphases"/>
                <a:cs typeface="TT Interphases"/>
                <a:sym typeface="TT Interphases"/>
              </a:rPr>
              <a:t>Conclusiones</a:t>
            </a:r>
          </a:p>
        </p:txBody>
      </p:sp>
      <p:sp>
        <p:nvSpPr>
          <p:cNvPr name="TextBox 12" id="12"/>
          <p:cNvSpPr txBox="true"/>
          <p:nvPr/>
        </p:nvSpPr>
        <p:spPr>
          <a:xfrm rot="0">
            <a:off x="10366440" y="6103297"/>
            <a:ext cx="7413419" cy="552165"/>
          </a:xfrm>
          <a:prstGeom prst="rect">
            <a:avLst/>
          </a:prstGeom>
        </p:spPr>
        <p:txBody>
          <a:bodyPr anchor="t" rtlCol="false" tIns="0" lIns="0" bIns="0" rIns="0">
            <a:spAutoFit/>
          </a:bodyPr>
          <a:lstStyle/>
          <a:p>
            <a:pPr algn="l">
              <a:lnSpc>
                <a:spcPts val="4315"/>
              </a:lnSpc>
            </a:pPr>
            <a:r>
              <a:rPr lang="en-US" sz="3566">
                <a:solidFill>
                  <a:srgbClr val="FFFFFF"/>
                </a:solidFill>
                <a:latin typeface="TT Interphases"/>
                <a:ea typeface="TT Interphases"/>
                <a:cs typeface="TT Interphases"/>
                <a:sym typeface="TT Interphases"/>
              </a:rPr>
              <a:t>Metodologia y equipo de trabajo</a:t>
            </a:r>
          </a:p>
        </p:txBody>
      </p:sp>
      <p:sp>
        <p:nvSpPr>
          <p:cNvPr name="TextBox 13" id="13"/>
          <p:cNvSpPr txBox="true"/>
          <p:nvPr/>
        </p:nvSpPr>
        <p:spPr>
          <a:xfrm rot="0">
            <a:off x="3818152" y="3681320"/>
            <a:ext cx="5217664" cy="552165"/>
          </a:xfrm>
          <a:prstGeom prst="rect">
            <a:avLst/>
          </a:prstGeom>
        </p:spPr>
        <p:txBody>
          <a:bodyPr anchor="t" rtlCol="false" tIns="0" lIns="0" bIns="0" rIns="0">
            <a:spAutoFit/>
          </a:bodyPr>
          <a:lstStyle/>
          <a:p>
            <a:pPr algn="l">
              <a:lnSpc>
                <a:spcPts val="4315"/>
              </a:lnSpc>
            </a:pPr>
            <a:r>
              <a:rPr lang="en-US" sz="3566">
                <a:solidFill>
                  <a:srgbClr val="FFFFFF"/>
                </a:solidFill>
                <a:latin typeface="TT Interphases"/>
                <a:ea typeface="TT Interphases"/>
                <a:cs typeface="TT Interphases"/>
                <a:sym typeface="TT Interphases"/>
              </a:rPr>
              <a:t>Necesidad Dectectada</a:t>
            </a:r>
          </a:p>
        </p:txBody>
      </p:sp>
      <p:sp>
        <p:nvSpPr>
          <p:cNvPr name="TextBox 14" id="14"/>
          <p:cNvSpPr txBox="true"/>
          <p:nvPr/>
        </p:nvSpPr>
        <p:spPr>
          <a:xfrm rot="0">
            <a:off x="3818152" y="4887878"/>
            <a:ext cx="3773586" cy="552165"/>
          </a:xfrm>
          <a:prstGeom prst="rect">
            <a:avLst/>
          </a:prstGeom>
        </p:spPr>
        <p:txBody>
          <a:bodyPr anchor="t" rtlCol="false" tIns="0" lIns="0" bIns="0" rIns="0">
            <a:spAutoFit/>
          </a:bodyPr>
          <a:lstStyle/>
          <a:p>
            <a:pPr algn="l">
              <a:lnSpc>
                <a:spcPts val="4315"/>
              </a:lnSpc>
            </a:pPr>
            <a:r>
              <a:rPr lang="en-US" sz="3566">
                <a:solidFill>
                  <a:srgbClr val="FFFFFF"/>
                </a:solidFill>
                <a:latin typeface="TT Interphases"/>
                <a:ea typeface="TT Interphases"/>
                <a:cs typeface="TT Interphases"/>
                <a:sym typeface="TT Interphases"/>
              </a:rPr>
              <a:t>Propuesta</a:t>
            </a:r>
          </a:p>
        </p:txBody>
      </p:sp>
      <p:sp>
        <p:nvSpPr>
          <p:cNvPr name="TextBox 15" id="15"/>
          <p:cNvSpPr txBox="true"/>
          <p:nvPr/>
        </p:nvSpPr>
        <p:spPr>
          <a:xfrm rot="0">
            <a:off x="10360548" y="3681314"/>
            <a:ext cx="6080864" cy="552165"/>
          </a:xfrm>
          <a:prstGeom prst="rect">
            <a:avLst/>
          </a:prstGeom>
        </p:spPr>
        <p:txBody>
          <a:bodyPr anchor="t" rtlCol="false" tIns="0" lIns="0" bIns="0" rIns="0">
            <a:spAutoFit/>
          </a:bodyPr>
          <a:lstStyle/>
          <a:p>
            <a:pPr algn="l">
              <a:lnSpc>
                <a:spcPts val="4315"/>
              </a:lnSpc>
            </a:pPr>
            <a:r>
              <a:rPr lang="en-US" sz="3566">
                <a:solidFill>
                  <a:srgbClr val="FFFFFF"/>
                </a:solidFill>
                <a:latin typeface="TT Interphases"/>
                <a:ea typeface="TT Interphases"/>
                <a:cs typeface="TT Interphases"/>
                <a:sym typeface="TT Interphases"/>
              </a:rPr>
              <a:t>Modelo de Sustentabilidad</a:t>
            </a:r>
          </a:p>
        </p:txBody>
      </p:sp>
      <p:sp>
        <p:nvSpPr>
          <p:cNvPr name="TextBox 16" id="16"/>
          <p:cNvSpPr txBox="true"/>
          <p:nvPr/>
        </p:nvSpPr>
        <p:spPr>
          <a:xfrm rot="0">
            <a:off x="10366440" y="4896299"/>
            <a:ext cx="4938007" cy="552165"/>
          </a:xfrm>
          <a:prstGeom prst="rect">
            <a:avLst/>
          </a:prstGeom>
        </p:spPr>
        <p:txBody>
          <a:bodyPr anchor="t" rtlCol="false" tIns="0" lIns="0" bIns="0" rIns="0">
            <a:spAutoFit/>
          </a:bodyPr>
          <a:lstStyle/>
          <a:p>
            <a:pPr algn="l">
              <a:lnSpc>
                <a:spcPts val="4315"/>
              </a:lnSpc>
            </a:pPr>
            <a:r>
              <a:rPr lang="en-US" sz="3566">
                <a:solidFill>
                  <a:srgbClr val="FFFFFF"/>
                </a:solidFill>
                <a:latin typeface="TT Interphases"/>
                <a:ea typeface="TT Interphases"/>
                <a:cs typeface="TT Interphases"/>
                <a:sym typeface="TT Interphases"/>
              </a:rPr>
              <a:t>Modelo de Negocio</a:t>
            </a:r>
          </a:p>
        </p:txBody>
      </p:sp>
      <p:grpSp>
        <p:nvGrpSpPr>
          <p:cNvPr name="Group 17" id="17"/>
          <p:cNvGrpSpPr/>
          <p:nvPr/>
        </p:nvGrpSpPr>
        <p:grpSpPr>
          <a:xfrm rot="0">
            <a:off x="2937970" y="3676915"/>
            <a:ext cx="626589" cy="626589"/>
            <a:chOff x="0" y="0"/>
            <a:chExt cx="835452" cy="835452"/>
          </a:xfrm>
        </p:grpSpPr>
        <p:grpSp>
          <p:nvGrpSpPr>
            <p:cNvPr name="Group 18" id="18"/>
            <p:cNvGrpSpPr/>
            <p:nvPr/>
          </p:nvGrpSpPr>
          <p:grpSpPr>
            <a:xfrm rot="0">
              <a:off x="0" y="0"/>
              <a:ext cx="835452" cy="83545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21" id="21"/>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1</a:t>
              </a:r>
            </a:p>
          </p:txBody>
        </p:sp>
      </p:grpSp>
      <p:grpSp>
        <p:nvGrpSpPr>
          <p:cNvPr name="Group 22" id="22"/>
          <p:cNvGrpSpPr/>
          <p:nvPr/>
        </p:nvGrpSpPr>
        <p:grpSpPr>
          <a:xfrm rot="0">
            <a:off x="9479242" y="3704776"/>
            <a:ext cx="626589" cy="626589"/>
            <a:chOff x="0" y="0"/>
            <a:chExt cx="835452" cy="835452"/>
          </a:xfrm>
        </p:grpSpPr>
        <p:grpSp>
          <p:nvGrpSpPr>
            <p:cNvPr name="Group 23" id="23"/>
            <p:cNvGrpSpPr/>
            <p:nvPr/>
          </p:nvGrpSpPr>
          <p:grpSpPr>
            <a:xfrm rot="0">
              <a:off x="0" y="0"/>
              <a:ext cx="835452" cy="835452"/>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26" id="26"/>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5</a:t>
              </a:r>
            </a:p>
          </p:txBody>
        </p:sp>
      </p:grpSp>
      <p:grpSp>
        <p:nvGrpSpPr>
          <p:cNvPr name="Group 27" id="27"/>
          <p:cNvGrpSpPr/>
          <p:nvPr/>
        </p:nvGrpSpPr>
        <p:grpSpPr>
          <a:xfrm rot="0">
            <a:off x="2937970" y="4869542"/>
            <a:ext cx="626589" cy="626589"/>
            <a:chOff x="0" y="0"/>
            <a:chExt cx="835452" cy="835452"/>
          </a:xfrm>
        </p:grpSpPr>
        <p:grpSp>
          <p:nvGrpSpPr>
            <p:cNvPr name="Group 28" id="28"/>
            <p:cNvGrpSpPr/>
            <p:nvPr/>
          </p:nvGrpSpPr>
          <p:grpSpPr>
            <a:xfrm rot="0">
              <a:off x="0" y="0"/>
              <a:ext cx="835452" cy="835452"/>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31" id="31"/>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2</a:t>
              </a:r>
            </a:p>
          </p:txBody>
        </p:sp>
      </p:grpSp>
      <p:grpSp>
        <p:nvGrpSpPr>
          <p:cNvPr name="Group 32" id="32"/>
          <p:cNvGrpSpPr/>
          <p:nvPr/>
        </p:nvGrpSpPr>
        <p:grpSpPr>
          <a:xfrm rot="0">
            <a:off x="9479242" y="4891893"/>
            <a:ext cx="626589" cy="626589"/>
            <a:chOff x="0" y="0"/>
            <a:chExt cx="835452" cy="835452"/>
          </a:xfrm>
        </p:grpSpPr>
        <p:grpSp>
          <p:nvGrpSpPr>
            <p:cNvPr name="Group 33" id="33"/>
            <p:cNvGrpSpPr/>
            <p:nvPr/>
          </p:nvGrpSpPr>
          <p:grpSpPr>
            <a:xfrm rot="0">
              <a:off x="0" y="0"/>
              <a:ext cx="835452" cy="835452"/>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35" id="35"/>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36" id="36"/>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6</a:t>
              </a:r>
            </a:p>
          </p:txBody>
        </p:sp>
      </p:grpSp>
      <p:grpSp>
        <p:nvGrpSpPr>
          <p:cNvPr name="Group 37" id="37"/>
          <p:cNvGrpSpPr/>
          <p:nvPr/>
        </p:nvGrpSpPr>
        <p:grpSpPr>
          <a:xfrm rot="0">
            <a:off x="2937970" y="6068516"/>
            <a:ext cx="626589" cy="626589"/>
            <a:chOff x="0" y="0"/>
            <a:chExt cx="835452" cy="835452"/>
          </a:xfrm>
        </p:grpSpPr>
        <p:grpSp>
          <p:nvGrpSpPr>
            <p:cNvPr name="Group 38" id="38"/>
            <p:cNvGrpSpPr/>
            <p:nvPr/>
          </p:nvGrpSpPr>
          <p:grpSpPr>
            <a:xfrm rot="0">
              <a:off x="0" y="0"/>
              <a:ext cx="835452" cy="835452"/>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41" id="41"/>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3</a:t>
              </a:r>
            </a:p>
          </p:txBody>
        </p:sp>
      </p:grpSp>
      <p:grpSp>
        <p:nvGrpSpPr>
          <p:cNvPr name="Group 42" id="42"/>
          <p:cNvGrpSpPr/>
          <p:nvPr/>
        </p:nvGrpSpPr>
        <p:grpSpPr>
          <a:xfrm rot="0">
            <a:off x="9479242" y="6119156"/>
            <a:ext cx="626589" cy="626589"/>
            <a:chOff x="0" y="0"/>
            <a:chExt cx="835452" cy="835452"/>
          </a:xfrm>
        </p:grpSpPr>
        <p:grpSp>
          <p:nvGrpSpPr>
            <p:cNvPr name="Group 43" id="43"/>
            <p:cNvGrpSpPr/>
            <p:nvPr/>
          </p:nvGrpSpPr>
          <p:grpSpPr>
            <a:xfrm rot="0">
              <a:off x="0" y="0"/>
              <a:ext cx="835452" cy="835452"/>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46" id="46"/>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7</a:t>
              </a:r>
            </a:p>
          </p:txBody>
        </p:sp>
      </p:grpSp>
      <p:grpSp>
        <p:nvGrpSpPr>
          <p:cNvPr name="Group 47" id="47"/>
          <p:cNvGrpSpPr/>
          <p:nvPr/>
        </p:nvGrpSpPr>
        <p:grpSpPr>
          <a:xfrm rot="0">
            <a:off x="2937970" y="7281949"/>
            <a:ext cx="626589" cy="626589"/>
            <a:chOff x="0" y="0"/>
            <a:chExt cx="835452" cy="835452"/>
          </a:xfrm>
        </p:grpSpPr>
        <p:grpSp>
          <p:nvGrpSpPr>
            <p:cNvPr name="Group 48" id="48"/>
            <p:cNvGrpSpPr/>
            <p:nvPr/>
          </p:nvGrpSpPr>
          <p:grpSpPr>
            <a:xfrm rot="0">
              <a:off x="0" y="0"/>
              <a:ext cx="835452" cy="835452"/>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51" id="51"/>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4</a:t>
              </a:r>
            </a:p>
          </p:txBody>
        </p:sp>
      </p:grpSp>
      <p:grpSp>
        <p:nvGrpSpPr>
          <p:cNvPr name="Group 52" id="52"/>
          <p:cNvGrpSpPr/>
          <p:nvPr/>
        </p:nvGrpSpPr>
        <p:grpSpPr>
          <a:xfrm rot="0">
            <a:off x="9479242" y="7332589"/>
            <a:ext cx="626589" cy="626589"/>
            <a:chOff x="0" y="0"/>
            <a:chExt cx="835452" cy="835452"/>
          </a:xfrm>
        </p:grpSpPr>
        <p:grpSp>
          <p:nvGrpSpPr>
            <p:cNvPr name="Group 53" id="53"/>
            <p:cNvGrpSpPr/>
            <p:nvPr/>
          </p:nvGrpSpPr>
          <p:grpSpPr>
            <a:xfrm rot="0">
              <a:off x="0" y="0"/>
              <a:ext cx="835452" cy="835452"/>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1774"/>
                  </a:lnSpc>
                </a:pPr>
              </a:p>
            </p:txBody>
          </p:sp>
        </p:grpSp>
        <p:sp>
          <p:nvSpPr>
            <p:cNvPr name="TextBox 56" id="56"/>
            <p:cNvSpPr txBox="true"/>
            <p:nvPr/>
          </p:nvSpPr>
          <p:spPr>
            <a:xfrm rot="0">
              <a:off x="220994" y="22895"/>
              <a:ext cx="393465" cy="732511"/>
            </a:xfrm>
            <a:prstGeom prst="rect">
              <a:avLst/>
            </a:prstGeom>
          </p:spPr>
          <p:txBody>
            <a:bodyPr anchor="t" rtlCol="false" tIns="0" lIns="0" bIns="0" rIns="0">
              <a:spAutoFit/>
            </a:bodyPr>
            <a:lstStyle/>
            <a:p>
              <a:pPr algn="ctr" marL="0" indent="0" lvl="0">
                <a:lnSpc>
                  <a:spcPts val="4763"/>
                </a:lnSpc>
                <a:spcBef>
                  <a:spcPct val="0"/>
                </a:spcBef>
              </a:pPr>
              <a:r>
                <a:rPr lang="en-US" b="true" sz="3402">
                  <a:solidFill>
                    <a:srgbClr val="000A1F"/>
                  </a:solidFill>
                  <a:latin typeface="TT Interphases Bold"/>
                  <a:ea typeface="TT Interphases Bold"/>
                  <a:cs typeface="TT Interphases Bold"/>
                  <a:sym typeface="TT Interphases Bold"/>
                </a:rPr>
                <a:t>8</a:t>
              </a:r>
            </a:p>
          </p:txBody>
        </p:sp>
      </p:grpSp>
      <p:grpSp>
        <p:nvGrpSpPr>
          <p:cNvPr name="Group 57" id="57"/>
          <p:cNvGrpSpPr>
            <a:grpSpLocks noChangeAspect="true"/>
          </p:cNvGrpSpPr>
          <p:nvPr/>
        </p:nvGrpSpPr>
        <p:grpSpPr>
          <a:xfrm rot="0">
            <a:off x="1592377" y="-419370"/>
            <a:ext cx="4231868" cy="2572276"/>
            <a:chOff x="0" y="0"/>
            <a:chExt cx="5632232" cy="3423465"/>
          </a:xfrm>
        </p:grpSpPr>
        <p:sp>
          <p:nvSpPr>
            <p:cNvPr name="Freeform 58" id="58"/>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2"/>
              <a:stretch>
                <a:fillRect l="-5149" t="-37679" r="-5140" b="-32516"/>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4841868" y="-5012707"/>
            <a:ext cx="7166290" cy="20312414"/>
            <a:chOff x="0" y="0"/>
            <a:chExt cx="1887418" cy="5349771"/>
          </a:xfrm>
        </p:grpSpPr>
        <p:sp>
          <p:nvSpPr>
            <p:cNvPr name="Freeform 4" id="4"/>
            <p:cNvSpPr/>
            <p:nvPr/>
          </p:nvSpPr>
          <p:spPr>
            <a:xfrm flipH="false" flipV="false" rot="0">
              <a:off x="0" y="0"/>
              <a:ext cx="1887418" cy="5349772"/>
            </a:xfrm>
            <a:custGeom>
              <a:avLst/>
              <a:gdLst/>
              <a:ahLst/>
              <a:cxnLst/>
              <a:rect r="r" b="b" t="t" l="l"/>
              <a:pathLst>
                <a:path h="5349772" w="1887418">
                  <a:moveTo>
                    <a:pt x="30249" y="0"/>
                  </a:moveTo>
                  <a:lnTo>
                    <a:pt x="1857169" y="0"/>
                  </a:lnTo>
                  <a:cubicBezTo>
                    <a:pt x="1865191" y="0"/>
                    <a:pt x="1872885" y="3187"/>
                    <a:pt x="1878558" y="8860"/>
                  </a:cubicBezTo>
                  <a:cubicBezTo>
                    <a:pt x="1884231" y="14533"/>
                    <a:pt x="1887418" y="22227"/>
                    <a:pt x="1887418" y="30249"/>
                  </a:cubicBezTo>
                  <a:lnTo>
                    <a:pt x="1887418" y="5319523"/>
                  </a:lnTo>
                  <a:cubicBezTo>
                    <a:pt x="1887418" y="5327545"/>
                    <a:pt x="1884231" y="5335239"/>
                    <a:pt x="1878558" y="5340912"/>
                  </a:cubicBezTo>
                  <a:cubicBezTo>
                    <a:pt x="1872885" y="5346585"/>
                    <a:pt x="1865191" y="5349772"/>
                    <a:pt x="1857169" y="5349772"/>
                  </a:cubicBezTo>
                  <a:lnTo>
                    <a:pt x="30249" y="5349772"/>
                  </a:lnTo>
                  <a:cubicBezTo>
                    <a:pt x="22227" y="5349772"/>
                    <a:pt x="14533" y="5346585"/>
                    <a:pt x="8860" y="5340912"/>
                  </a:cubicBezTo>
                  <a:cubicBezTo>
                    <a:pt x="3187" y="5335239"/>
                    <a:pt x="0" y="5327545"/>
                    <a:pt x="0" y="5319523"/>
                  </a:cubicBezTo>
                  <a:lnTo>
                    <a:pt x="0" y="30249"/>
                  </a:lnTo>
                  <a:cubicBezTo>
                    <a:pt x="0" y="22227"/>
                    <a:pt x="3187" y="14533"/>
                    <a:pt x="8860" y="8860"/>
                  </a:cubicBezTo>
                  <a:cubicBezTo>
                    <a:pt x="14533" y="3187"/>
                    <a:pt x="22227" y="0"/>
                    <a:pt x="30249" y="0"/>
                  </a:cubicBezTo>
                  <a:close/>
                </a:path>
              </a:pathLst>
            </a:custGeom>
            <a:solidFill>
              <a:srgbClr val="00407B"/>
            </a:solidFill>
          </p:spPr>
        </p:sp>
        <p:sp>
          <p:nvSpPr>
            <p:cNvPr name="TextBox 5" id="5"/>
            <p:cNvSpPr txBox="true"/>
            <p:nvPr/>
          </p:nvSpPr>
          <p:spPr>
            <a:xfrm>
              <a:off x="0" y="-38100"/>
              <a:ext cx="1887418" cy="5387871"/>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6388292" y="4209940"/>
            <a:ext cx="13552631" cy="2985344"/>
            <a:chOff x="0" y="0"/>
            <a:chExt cx="3569417" cy="786263"/>
          </a:xfrm>
        </p:grpSpPr>
        <p:sp>
          <p:nvSpPr>
            <p:cNvPr name="Freeform 7" id="7"/>
            <p:cNvSpPr/>
            <p:nvPr/>
          </p:nvSpPr>
          <p:spPr>
            <a:xfrm flipH="false" flipV="false" rot="0">
              <a:off x="0" y="0"/>
              <a:ext cx="3569417" cy="786263"/>
            </a:xfrm>
            <a:custGeom>
              <a:avLst/>
              <a:gdLst/>
              <a:ahLst/>
              <a:cxnLst/>
              <a:rect r="r" b="b" t="t" l="l"/>
              <a:pathLst>
                <a:path h="786263" w="3569417">
                  <a:moveTo>
                    <a:pt x="0" y="0"/>
                  </a:moveTo>
                  <a:lnTo>
                    <a:pt x="3569417" y="0"/>
                  </a:lnTo>
                  <a:lnTo>
                    <a:pt x="3569417" y="786263"/>
                  </a:lnTo>
                  <a:lnTo>
                    <a:pt x="0" y="786263"/>
                  </a:lnTo>
                  <a:close/>
                </a:path>
              </a:pathLst>
            </a:custGeom>
            <a:solidFill>
              <a:srgbClr val="FDB720"/>
            </a:solidFill>
          </p:spPr>
        </p:sp>
        <p:sp>
          <p:nvSpPr>
            <p:cNvPr name="TextBox 8" id="8"/>
            <p:cNvSpPr txBox="true"/>
            <p:nvPr/>
          </p:nvSpPr>
          <p:spPr>
            <a:xfrm>
              <a:off x="0" y="-38100"/>
              <a:ext cx="3569417" cy="824363"/>
            </a:xfrm>
            <a:prstGeom prst="rect">
              <a:avLst/>
            </a:prstGeom>
          </p:spPr>
          <p:txBody>
            <a:bodyPr anchor="ctr" rtlCol="false" tIns="50800" lIns="50800" bIns="50800" rIns="50800"/>
            <a:lstStyle/>
            <a:p>
              <a:pPr algn="ctr">
                <a:lnSpc>
                  <a:spcPts val="1774"/>
                </a:lnSpc>
              </a:pPr>
            </a:p>
          </p:txBody>
        </p:sp>
      </p:grpSp>
      <p:sp>
        <p:nvSpPr>
          <p:cNvPr name="TextBox 9" id="9"/>
          <p:cNvSpPr txBox="true"/>
          <p:nvPr/>
        </p:nvSpPr>
        <p:spPr>
          <a:xfrm rot="0">
            <a:off x="4748149" y="3796485"/>
            <a:ext cx="11478028" cy="1856306"/>
          </a:xfrm>
          <a:prstGeom prst="rect">
            <a:avLst/>
          </a:prstGeom>
        </p:spPr>
        <p:txBody>
          <a:bodyPr anchor="t" rtlCol="false" tIns="0" lIns="0" bIns="0" rIns="0">
            <a:spAutoFit/>
          </a:bodyPr>
          <a:lstStyle/>
          <a:p>
            <a:pPr algn="ctr">
              <a:lnSpc>
                <a:spcPts val="3733"/>
              </a:lnSpc>
            </a:pPr>
            <a:r>
              <a:rPr lang="en-US" sz="2667">
                <a:solidFill>
                  <a:srgbClr val="FFFFFF"/>
                </a:solidFill>
                <a:latin typeface="TT Interphases"/>
                <a:ea typeface="TT Interphases"/>
                <a:cs typeface="TT Interphases"/>
                <a:sym typeface="TT Interphases"/>
              </a:rPr>
              <a:t>Actualmente las denuncias relacionado con la seguridad ciudadana en la comuna de San Bernardo se realiza de manera manual. Esto significa que la información pasa por un intermediario, quien luego la transmite a los vehículos de seguridad.</a:t>
            </a:r>
          </a:p>
        </p:txBody>
      </p:sp>
      <p:sp>
        <p:nvSpPr>
          <p:cNvPr name="TextBox 10" id="10"/>
          <p:cNvSpPr txBox="true"/>
          <p:nvPr/>
        </p:nvSpPr>
        <p:spPr>
          <a:xfrm rot="0">
            <a:off x="5143680" y="2254717"/>
            <a:ext cx="10686965" cy="949976"/>
          </a:xfrm>
          <a:prstGeom prst="rect">
            <a:avLst/>
          </a:prstGeom>
        </p:spPr>
        <p:txBody>
          <a:bodyPr anchor="t" rtlCol="false" tIns="0" lIns="0" bIns="0" rIns="0">
            <a:spAutoFit/>
          </a:bodyPr>
          <a:lstStyle/>
          <a:p>
            <a:pPr algn="ctr" marL="0" indent="0" lvl="0">
              <a:lnSpc>
                <a:spcPts val="7591"/>
              </a:lnSpc>
              <a:spcBef>
                <a:spcPct val="0"/>
              </a:spcBef>
            </a:pPr>
            <a:r>
              <a:rPr lang="en-US" b="true" sz="6121" spc="116">
                <a:solidFill>
                  <a:srgbClr val="FFFFFF"/>
                </a:solidFill>
                <a:latin typeface="Muli Heavy"/>
                <a:ea typeface="Muli Heavy"/>
                <a:cs typeface="Muli Heavy"/>
                <a:sym typeface="Muli Heavy"/>
              </a:rPr>
              <a:t>CONTEXTO Y PROBLEMA</a:t>
            </a:r>
          </a:p>
        </p:txBody>
      </p:sp>
      <p:sp>
        <p:nvSpPr>
          <p:cNvPr name="TextBox 11" id="11"/>
          <p:cNvSpPr txBox="true"/>
          <p:nvPr/>
        </p:nvSpPr>
        <p:spPr>
          <a:xfrm rot="0">
            <a:off x="4748149" y="6244583"/>
            <a:ext cx="11478028" cy="1389581"/>
          </a:xfrm>
          <a:prstGeom prst="rect">
            <a:avLst/>
          </a:prstGeom>
        </p:spPr>
        <p:txBody>
          <a:bodyPr anchor="t" rtlCol="false" tIns="0" lIns="0" bIns="0" rIns="0">
            <a:spAutoFit/>
          </a:bodyPr>
          <a:lstStyle/>
          <a:p>
            <a:pPr algn="ctr">
              <a:lnSpc>
                <a:spcPts val="3733"/>
              </a:lnSpc>
            </a:pPr>
            <a:r>
              <a:rPr lang="en-US" sz="2667">
                <a:solidFill>
                  <a:srgbClr val="FFFFFF"/>
                </a:solidFill>
                <a:latin typeface="TT Interphases"/>
                <a:ea typeface="TT Interphases"/>
                <a:cs typeface="TT Interphases"/>
                <a:sym typeface="TT Interphases"/>
              </a:rPr>
              <a:t>Este proceso, al no estar automatizado, genera demoras en la respuesta ante incidentes, ya que no existe una herramienta que permita coordinar eficientemente las denuncias de la ciudadanía con las rutas de patrullaje.</a:t>
            </a:r>
          </a:p>
        </p:txBody>
      </p:sp>
      <p:grpSp>
        <p:nvGrpSpPr>
          <p:cNvPr name="Group 12" id="12"/>
          <p:cNvGrpSpPr>
            <a:grpSpLocks noChangeAspect="true"/>
          </p:cNvGrpSpPr>
          <p:nvPr/>
        </p:nvGrpSpPr>
        <p:grpSpPr>
          <a:xfrm rot="0">
            <a:off x="1782706" y="-487318"/>
            <a:ext cx="4224174" cy="2567599"/>
            <a:chOff x="0" y="0"/>
            <a:chExt cx="5632232" cy="3423465"/>
          </a:xfrm>
        </p:grpSpPr>
        <p:sp>
          <p:nvSpPr>
            <p:cNvPr name="Freeform 13" id="13"/>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1706600" y="262046"/>
            <a:ext cx="12192397" cy="11131041"/>
            <a:chOff x="0" y="0"/>
            <a:chExt cx="3211166" cy="2931632"/>
          </a:xfrm>
        </p:grpSpPr>
        <p:sp>
          <p:nvSpPr>
            <p:cNvPr name="Freeform 4" id="4"/>
            <p:cNvSpPr/>
            <p:nvPr/>
          </p:nvSpPr>
          <p:spPr>
            <a:xfrm flipH="false" flipV="false" rot="0">
              <a:off x="0" y="0"/>
              <a:ext cx="3211166" cy="2931632"/>
            </a:xfrm>
            <a:custGeom>
              <a:avLst/>
              <a:gdLst/>
              <a:ahLst/>
              <a:cxnLst/>
              <a:rect r="r" b="b" t="t" l="l"/>
              <a:pathLst>
                <a:path h="2931632" w="3211166">
                  <a:moveTo>
                    <a:pt x="17779" y="0"/>
                  </a:moveTo>
                  <a:lnTo>
                    <a:pt x="3193387" y="0"/>
                  </a:lnTo>
                  <a:cubicBezTo>
                    <a:pt x="3203206" y="0"/>
                    <a:pt x="3211166" y="7960"/>
                    <a:pt x="3211166" y="17779"/>
                  </a:cubicBezTo>
                  <a:lnTo>
                    <a:pt x="3211166" y="2913853"/>
                  </a:lnTo>
                  <a:cubicBezTo>
                    <a:pt x="3211166" y="2923672"/>
                    <a:pt x="3203206" y="2931632"/>
                    <a:pt x="3193387" y="2931632"/>
                  </a:cubicBezTo>
                  <a:lnTo>
                    <a:pt x="17779" y="2931632"/>
                  </a:lnTo>
                  <a:cubicBezTo>
                    <a:pt x="7960" y="2931632"/>
                    <a:pt x="0" y="2923672"/>
                    <a:pt x="0" y="2913853"/>
                  </a:cubicBezTo>
                  <a:lnTo>
                    <a:pt x="0" y="17779"/>
                  </a:lnTo>
                  <a:cubicBezTo>
                    <a:pt x="0" y="7960"/>
                    <a:pt x="7960" y="0"/>
                    <a:pt x="17779" y="0"/>
                  </a:cubicBezTo>
                  <a:close/>
                </a:path>
              </a:pathLst>
            </a:custGeom>
            <a:solidFill>
              <a:srgbClr val="00407B"/>
            </a:solidFill>
          </p:spPr>
        </p:sp>
        <p:sp>
          <p:nvSpPr>
            <p:cNvPr name="TextBox 5" id="5"/>
            <p:cNvSpPr txBox="true"/>
            <p:nvPr/>
          </p:nvSpPr>
          <p:spPr>
            <a:xfrm>
              <a:off x="0" y="-38100"/>
              <a:ext cx="3211166" cy="2969732"/>
            </a:xfrm>
            <a:prstGeom prst="rect">
              <a:avLst/>
            </a:prstGeom>
          </p:spPr>
          <p:txBody>
            <a:bodyPr anchor="ctr" rtlCol="false" tIns="50800" lIns="50800" bIns="50800" rIns="50800"/>
            <a:lstStyle/>
            <a:p>
              <a:pPr algn="ctr">
                <a:lnSpc>
                  <a:spcPts val="1774"/>
                </a:lnSpc>
              </a:pPr>
            </a:p>
          </p:txBody>
        </p:sp>
      </p:grpSp>
      <p:grpSp>
        <p:nvGrpSpPr>
          <p:cNvPr name="Group 6" id="6"/>
          <p:cNvGrpSpPr>
            <a:grpSpLocks noChangeAspect="true"/>
          </p:cNvGrpSpPr>
          <p:nvPr/>
        </p:nvGrpSpPr>
        <p:grpSpPr>
          <a:xfrm rot="0">
            <a:off x="10477801" y="1155115"/>
            <a:ext cx="4189249" cy="3363511"/>
            <a:chOff x="0" y="0"/>
            <a:chExt cx="7467600" cy="5995670"/>
          </a:xfrm>
        </p:grpSpPr>
        <p:sp>
          <p:nvSpPr>
            <p:cNvPr name="Freeform 7" id="7"/>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000"/>
            </a:solidFill>
          </p:spPr>
        </p:sp>
        <p:sp>
          <p:nvSpPr>
            <p:cNvPr name="Freeform 8" id="8"/>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E9E9E9"/>
            </a:solidFill>
          </p:spPr>
        </p:sp>
        <p:sp>
          <p:nvSpPr>
            <p:cNvPr name="Freeform 9" id="9"/>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10" id="10"/>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3"/>
              <a:stretch>
                <a:fillRect l="-4763" t="0" r="0" b="-86493"/>
              </a:stretch>
            </a:blipFill>
          </p:spPr>
        </p:sp>
      </p:grpSp>
      <p:grpSp>
        <p:nvGrpSpPr>
          <p:cNvPr name="Group 11" id="11"/>
          <p:cNvGrpSpPr>
            <a:grpSpLocks noChangeAspect="true"/>
          </p:cNvGrpSpPr>
          <p:nvPr/>
        </p:nvGrpSpPr>
        <p:grpSpPr>
          <a:xfrm rot="0">
            <a:off x="15189732" y="4027680"/>
            <a:ext cx="2415504" cy="4604431"/>
            <a:chOff x="0" y="0"/>
            <a:chExt cx="8624570" cy="16440150"/>
          </a:xfrm>
        </p:grpSpPr>
        <p:sp>
          <p:nvSpPr>
            <p:cNvPr name="Freeform 12" id="12"/>
            <p:cNvSpPr/>
            <p:nvPr/>
          </p:nvSpPr>
          <p:spPr>
            <a:xfrm flipH="false" flipV="false" rot="0">
              <a:off x="411480" y="269240"/>
              <a:ext cx="7753350" cy="15908021"/>
            </a:xfrm>
            <a:custGeom>
              <a:avLst/>
              <a:gdLst/>
              <a:ahLst/>
              <a:cxnLst/>
              <a:rect r="r" b="b" t="t" l="l"/>
              <a:pathLst>
                <a:path h="15908021" w="7753350">
                  <a:moveTo>
                    <a:pt x="7753350" y="791210"/>
                  </a:moveTo>
                  <a:lnTo>
                    <a:pt x="7753350" y="15116810"/>
                  </a:lnTo>
                  <a:cubicBezTo>
                    <a:pt x="7753350" y="15553690"/>
                    <a:pt x="7399020" y="15908021"/>
                    <a:pt x="6962140" y="15908021"/>
                  </a:cubicBezTo>
                  <a:lnTo>
                    <a:pt x="791210" y="15908021"/>
                  </a:lnTo>
                  <a:cubicBezTo>
                    <a:pt x="354330" y="15908021"/>
                    <a:pt x="0" y="15553690"/>
                    <a:pt x="0" y="15116810"/>
                  </a:cubicBezTo>
                  <a:lnTo>
                    <a:pt x="0" y="791210"/>
                  </a:lnTo>
                  <a:cubicBezTo>
                    <a:pt x="0" y="354330"/>
                    <a:pt x="354330" y="0"/>
                    <a:pt x="791210" y="0"/>
                  </a:cubicBezTo>
                  <a:lnTo>
                    <a:pt x="6962140" y="0"/>
                  </a:lnTo>
                  <a:cubicBezTo>
                    <a:pt x="7399020" y="0"/>
                    <a:pt x="7753350" y="353060"/>
                    <a:pt x="7753350" y="791210"/>
                  </a:cubicBezTo>
                  <a:close/>
                </a:path>
              </a:pathLst>
            </a:custGeom>
            <a:blipFill>
              <a:blip r:embed="rId4"/>
              <a:stretch>
                <a:fillRect l="-53315" t="0" r="-51860" b="0"/>
              </a:stretch>
            </a:blipFill>
          </p:spPr>
        </p:sp>
        <p:sp>
          <p:nvSpPr>
            <p:cNvPr name="Freeform 13" id="13"/>
            <p:cNvSpPr/>
            <p:nvPr/>
          </p:nvSpPr>
          <p:spPr>
            <a:xfrm flipH="false" flipV="false" rot="0">
              <a:off x="0" y="0"/>
              <a:ext cx="8636000" cy="16446500"/>
            </a:xfrm>
            <a:custGeom>
              <a:avLst/>
              <a:gdLst/>
              <a:ahLst/>
              <a:cxnLst/>
              <a:rect r="r" b="b" t="t" l="l"/>
              <a:pathLst>
                <a:path h="16446500" w="8636000">
                  <a:moveTo>
                    <a:pt x="0" y="0"/>
                  </a:moveTo>
                  <a:lnTo>
                    <a:pt x="8636000" y="0"/>
                  </a:lnTo>
                  <a:lnTo>
                    <a:pt x="8636000" y="16446500"/>
                  </a:lnTo>
                  <a:lnTo>
                    <a:pt x="0" y="16446500"/>
                  </a:lnTo>
                  <a:close/>
                </a:path>
              </a:pathLst>
            </a:custGeom>
          </p:spPr>
        </p:sp>
      </p:grpSp>
      <p:sp>
        <p:nvSpPr>
          <p:cNvPr name="TextBox 14" id="14"/>
          <p:cNvSpPr txBox="true"/>
          <p:nvPr/>
        </p:nvSpPr>
        <p:spPr>
          <a:xfrm rot="0">
            <a:off x="588070" y="2417754"/>
            <a:ext cx="9231219" cy="2100873"/>
          </a:xfrm>
          <a:prstGeom prst="rect">
            <a:avLst/>
          </a:prstGeom>
        </p:spPr>
        <p:txBody>
          <a:bodyPr anchor="t" rtlCol="false" tIns="0" lIns="0" bIns="0" rIns="0">
            <a:spAutoFit/>
          </a:bodyPr>
          <a:lstStyle/>
          <a:p>
            <a:pPr algn="ctr">
              <a:lnSpc>
                <a:spcPts val="4251"/>
              </a:lnSpc>
            </a:pPr>
            <a:r>
              <a:rPr lang="en-US" sz="2640">
                <a:solidFill>
                  <a:srgbClr val="FFFFFF"/>
                </a:solidFill>
                <a:latin typeface="TT Interphases"/>
                <a:ea typeface="TT Interphases"/>
                <a:cs typeface="TT Interphases"/>
                <a:sym typeface="TT Interphases"/>
              </a:rPr>
              <a:t>Proponemos un sistema integral de seguridad ciudadana compuesto por dos herramientas complementarias: una plataforma web y una aplicación móvil, ambas conectadas a una base de datos en tiempo real.</a:t>
            </a:r>
          </a:p>
        </p:txBody>
      </p:sp>
      <p:sp>
        <p:nvSpPr>
          <p:cNvPr name="TextBox 15" id="15"/>
          <p:cNvSpPr txBox="true"/>
          <p:nvPr/>
        </p:nvSpPr>
        <p:spPr>
          <a:xfrm rot="0">
            <a:off x="2654766" y="1019175"/>
            <a:ext cx="5097828" cy="80215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PROPUESTA</a:t>
            </a:r>
          </a:p>
        </p:txBody>
      </p:sp>
      <p:sp>
        <p:nvSpPr>
          <p:cNvPr name="TextBox 16" id="16"/>
          <p:cNvSpPr txBox="true"/>
          <p:nvPr/>
        </p:nvSpPr>
        <p:spPr>
          <a:xfrm rot="0">
            <a:off x="588070" y="5118702"/>
            <a:ext cx="9231219" cy="2100873"/>
          </a:xfrm>
          <a:prstGeom prst="rect">
            <a:avLst/>
          </a:prstGeom>
        </p:spPr>
        <p:txBody>
          <a:bodyPr anchor="t" rtlCol="false" tIns="0" lIns="0" bIns="0" rIns="0">
            <a:spAutoFit/>
          </a:bodyPr>
          <a:lstStyle/>
          <a:p>
            <a:pPr algn="ctr">
              <a:lnSpc>
                <a:spcPts val="4251"/>
              </a:lnSpc>
            </a:pPr>
            <a:r>
              <a:rPr lang="en-US" sz="2640">
                <a:solidFill>
                  <a:srgbClr val="FFFFFF"/>
                </a:solidFill>
                <a:latin typeface="TT Interphases"/>
                <a:ea typeface="TT Interphases"/>
                <a:cs typeface="TT Interphases"/>
                <a:sym typeface="TT Interphases"/>
              </a:rPr>
              <a:t>Este sistema tiene como objetivo facilitar la realización de denuncias y mejorar la capacidad de respuesta para los operadores ante incidentes, permitiendo una atención más rápida, eficiente y coordinada.</a:t>
            </a:r>
          </a:p>
        </p:txBody>
      </p:sp>
      <p:grpSp>
        <p:nvGrpSpPr>
          <p:cNvPr name="Group 17" id="17"/>
          <p:cNvGrpSpPr/>
          <p:nvPr/>
        </p:nvGrpSpPr>
        <p:grpSpPr>
          <a:xfrm rot="5400000">
            <a:off x="4440265" y="4240178"/>
            <a:ext cx="11866486" cy="21902731"/>
            <a:chOff x="0" y="0"/>
            <a:chExt cx="3125358" cy="5768707"/>
          </a:xfrm>
        </p:grpSpPr>
        <p:sp>
          <p:nvSpPr>
            <p:cNvPr name="Freeform 18" id="18"/>
            <p:cNvSpPr/>
            <p:nvPr/>
          </p:nvSpPr>
          <p:spPr>
            <a:xfrm flipH="false" flipV="false" rot="0">
              <a:off x="0" y="0"/>
              <a:ext cx="3125358" cy="5768707"/>
            </a:xfrm>
            <a:custGeom>
              <a:avLst/>
              <a:gdLst/>
              <a:ahLst/>
              <a:cxnLst/>
              <a:rect r="r" b="b" t="t" l="l"/>
              <a:pathLst>
                <a:path h="5768707" w="3125358">
                  <a:moveTo>
                    <a:pt x="3125358" y="0"/>
                  </a:moveTo>
                  <a:lnTo>
                    <a:pt x="3125358" y="5768707"/>
                  </a:lnTo>
                  <a:lnTo>
                    <a:pt x="0" y="5768707"/>
                  </a:lnTo>
                  <a:lnTo>
                    <a:pt x="0" y="0"/>
                  </a:lnTo>
                  <a:close/>
                </a:path>
              </a:pathLst>
            </a:custGeom>
            <a:solidFill>
              <a:srgbClr val="FDB61B"/>
            </a:solidFill>
          </p:spPr>
        </p:sp>
        <p:sp>
          <p:nvSpPr>
            <p:cNvPr name="TextBox 19" id="19"/>
            <p:cNvSpPr txBox="true"/>
            <p:nvPr/>
          </p:nvSpPr>
          <p:spPr>
            <a:xfrm>
              <a:off x="0" y="-38100"/>
              <a:ext cx="3125358" cy="5806807"/>
            </a:xfrm>
            <a:prstGeom prst="rect">
              <a:avLst/>
            </a:prstGeom>
          </p:spPr>
          <p:txBody>
            <a:bodyPr anchor="ctr" rtlCol="false" tIns="50800" lIns="50800" bIns="50800" rIns="50800"/>
            <a:lstStyle/>
            <a:p>
              <a:pPr algn="ctr">
                <a:lnSpc>
                  <a:spcPts val="1774"/>
                </a:lnSpc>
              </a:pPr>
            </a:p>
          </p:txBody>
        </p:sp>
      </p:grpSp>
      <p:grpSp>
        <p:nvGrpSpPr>
          <p:cNvPr name="Group 20" id="20"/>
          <p:cNvGrpSpPr>
            <a:grpSpLocks noChangeAspect="true"/>
          </p:cNvGrpSpPr>
          <p:nvPr/>
        </p:nvGrpSpPr>
        <p:grpSpPr>
          <a:xfrm rot="0">
            <a:off x="14459218" y="-255100"/>
            <a:ext cx="4224174" cy="2567599"/>
            <a:chOff x="0" y="0"/>
            <a:chExt cx="5632232" cy="3423465"/>
          </a:xfrm>
        </p:grpSpPr>
        <p:sp>
          <p:nvSpPr>
            <p:cNvPr name="Freeform 21" id="21"/>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5"/>
              <a:stretch>
                <a:fillRect l="-5149" t="-37679" r="-5140" b="-32516"/>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848038" y="1799477"/>
            <a:ext cx="7659612" cy="8082059"/>
            <a:chOff x="0" y="0"/>
            <a:chExt cx="2017346" cy="2128608"/>
          </a:xfrm>
        </p:grpSpPr>
        <p:sp>
          <p:nvSpPr>
            <p:cNvPr name="Freeform 4" id="4"/>
            <p:cNvSpPr/>
            <p:nvPr/>
          </p:nvSpPr>
          <p:spPr>
            <a:xfrm flipH="false" flipV="false" rot="0">
              <a:off x="0" y="0"/>
              <a:ext cx="2017346" cy="2128608"/>
            </a:xfrm>
            <a:custGeom>
              <a:avLst/>
              <a:gdLst/>
              <a:ahLst/>
              <a:cxnLst/>
              <a:rect r="r" b="b" t="t" l="l"/>
              <a:pathLst>
                <a:path h="2128608" w="2017346">
                  <a:moveTo>
                    <a:pt x="28301" y="0"/>
                  </a:moveTo>
                  <a:lnTo>
                    <a:pt x="1989045" y="0"/>
                  </a:lnTo>
                  <a:cubicBezTo>
                    <a:pt x="2004676" y="0"/>
                    <a:pt x="2017346" y="12671"/>
                    <a:pt x="2017346" y="28301"/>
                  </a:cubicBezTo>
                  <a:lnTo>
                    <a:pt x="2017346" y="2100307"/>
                  </a:lnTo>
                  <a:cubicBezTo>
                    <a:pt x="2017346" y="2115938"/>
                    <a:pt x="2004676" y="2128608"/>
                    <a:pt x="1989045" y="2128608"/>
                  </a:cubicBezTo>
                  <a:lnTo>
                    <a:pt x="28301" y="2128608"/>
                  </a:lnTo>
                  <a:cubicBezTo>
                    <a:pt x="12671" y="2128608"/>
                    <a:pt x="0" y="2115938"/>
                    <a:pt x="0" y="2100307"/>
                  </a:cubicBezTo>
                  <a:lnTo>
                    <a:pt x="0" y="28301"/>
                  </a:lnTo>
                  <a:cubicBezTo>
                    <a:pt x="0" y="12671"/>
                    <a:pt x="12671" y="0"/>
                    <a:pt x="28301" y="0"/>
                  </a:cubicBezTo>
                  <a:close/>
                </a:path>
              </a:pathLst>
            </a:custGeom>
            <a:solidFill>
              <a:srgbClr val="00407B"/>
            </a:solidFill>
          </p:spPr>
        </p:sp>
        <p:sp>
          <p:nvSpPr>
            <p:cNvPr name="TextBox 5" id="5"/>
            <p:cNvSpPr txBox="true"/>
            <p:nvPr/>
          </p:nvSpPr>
          <p:spPr>
            <a:xfrm>
              <a:off x="0" y="-38100"/>
              <a:ext cx="2017346" cy="2166708"/>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7319507" y="-5701485"/>
            <a:ext cx="3648985" cy="10836912"/>
            <a:chOff x="0" y="0"/>
            <a:chExt cx="961050" cy="2854166"/>
          </a:xfrm>
        </p:grpSpPr>
        <p:sp>
          <p:nvSpPr>
            <p:cNvPr name="Freeform 7" id="7"/>
            <p:cNvSpPr/>
            <p:nvPr/>
          </p:nvSpPr>
          <p:spPr>
            <a:xfrm flipH="false" flipV="false" rot="0">
              <a:off x="0" y="0"/>
              <a:ext cx="961050" cy="2854166"/>
            </a:xfrm>
            <a:custGeom>
              <a:avLst/>
              <a:gdLst/>
              <a:ahLst/>
              <a:cxnLst/>
              <a:rect r="r" b="b" t="t" l="l"/>
              <a:pathLst>
                <a:path h="2854166" w="961050">
                  <a:moveTo>
                    <a:pt x="59407" y="0"/>
                  </a:moveTo>
                  <a:lnTo>
                    <a:pt x="901643" y="0"/>
                  </a:lnTo>
                  <a:cubicBezTo>
                    <a:pt x="934452" y="0"/>
                    <a:pt x="961050" y="26597"/>
                    <a:pt x="961050" y="59407"/>
                  </a:cubicBezTo>
                  <a:lnTo>
                    <a:pt x="961050" y="2794760"/>
                  </a:lnTo>
                  <a:cubicBezTo>
                    <a:pt x="961050" y="2810515"/>
                    <a:pt x="954791" y="2825626"/>
                    <a:pt x="943650" y="2836767"/>
                  </a:cubicBezTo>
                  <a:cubicBezTo>
                    <a:pt x="932509" y="2847907"/>
                    <a:pt x="917399" y="2854166"/>
                    <a:pt x="901643" y="2854166"/>
                  </a:cubicBezTo>
                  <a:lnTo>
                    <a:pt x="59407" y="2854166"/>
                  </a:lnTo>
                  <a:cubicBezTo>
                    <a:pt x="43651" y="2854166"/>
                    <a:pt x="28541" y="2847907"/>
                    <a:pt x="17400" y="2836767"/>
                  </a:cubicBezTo>
                  <a:cubicBezTo>
                    <a:pt x="6259" y="2825626"/>
                    <a:pt x="0" y="2810515"/>
                    <a:pt x="0" y="2794760"/>
                  </a:cubicBezTo>
                  <a:lnTo>
                    <a:pt x="0" y="59407"/>
                  </a:lnTo>
                  <a:cubicBezTo>
                    <a:pt x="0" y="43651"/>
                    <a:pt x="6259" y="28541"/>
                    <a:pt x="17400" y="17400"/>
                  </a:cubicBezTo>
                  <a:cubicBezTo>
                    <a:pt x="28541" y="6259"/>
                    <a:pt x="43651" y="0"/>
                    <a:pt x="59407" y="0"/>
                  </a:cubicBezTo>
                  <a:close/>
                </a:path>
              </a:pathLst>
            </a:custGeom>
            <a:solidFill>
              <a:srgbClr val="FDB61B"/>
            </a:solidFill>
          </p:spPr>
        </p:sp>
        <p:sp>
          <p:nvSpPr>
            <p:cNvPr name="TextBox 8" id="8"/>
            <p:cNvSpPr txBox="true"/>
            <p:nvPr/>
          </p:nvSpPr>
          <p:spPr>
            <a:xfrm>
              <a:off x="0" y="-38100"/>
              <a:ext cx="961050" cy="2892266"/>
            </a:xfrm>
            <a:prstGeom prst="rect">
              <a:avLst/>
            </a:prstGeom>
          </p:spPr>
          <p:txBody>
            <a:bodyPr anchor="ctr" rtlCol="false" tIns="50800" lIns="50800" bIns="50800" rIns="50800"/>
            <a:lstStyle/>
            <a:p>
              <a:pPr algn="ctr">
                <a:lnSpc>
                  <a:spcPts val="1774"/>
                </a:lnSpc>
              </a:pPr>
            </a:p>
          </p:txBody>
        </p:sp>
      </p:grpSp>
      <p:grpSp>
        <p:nvGrpSpPr>
          <p:cNvPr name="Group 9" id="9"/>
          <p:cNvGrpSpPr/>
          <p:nvPr/>
        </p:nvGrpSpPr>
        <p:grpSpPr>
          <a:xfrm rot="5400000">
            <a:off x="9728820" y="1799477"/>
            <a:ext cx="7659612" cy="8082059"/>
            <a:chOff x="0" y="0"/>
            <a:chExt cx="2017346" cy="2128608"/>
          </a:xfrm>
        </p:grpSpPr>
        <p:sp>
          <p:nvSpPr>
            <p:cNvPr name="Freeform 10" id="10"/>
            <p:cNvSpPr/>
            <p:nvPr/>
          </p:nvSpPr>
          <p:spPr>
            <a:xfrm flipH="false" flipV="false" rot="0">
              <a:off x="0" y="0"/>
              <a:ext cx="2017346" cy="2128608"/>
            </a:xfrm>
            <a:custGeom>
              <a:avLst/>
              <a:gdLst/>
              <a:ahLst/>
              <a:cxnLst/>
              <a:rect r="r" b="b" t="t" l="l"/>
              <a:pathLst>
                <a:path h="2128608" w="2017346">
                  <a:moveTo>
                    <a:pt x="28301" y="0"/>
                  </a:moveTo>
                  <a:lnTo>
                    <a:pt x="1989045" y="0"/>
                  </a:lnTo>
                  <a:cubicBezTo>
                    <a:pt x="2004676" y="0"/>
                    <a:pt x="2017346" y="12671"/>
                    <a:pt x="2017346" y="28301"/>
                  </a:cubicBezTo>
                  <a:lnTo>
                    <a:pt x="2017346" y="2100307"/>
                  </a:lnTo>
                  <a:cubicBezTo>
                    <a:pt x="2017346" y="2115938"/>
                    <a:pt x="2004676" y="2128608"/>
                    <a:pt x="1989045" y="2128608"/>
                  </a:cubicBezTo>
                  <a:lnTo>
                    <a:pt x="28301" y="2128608"/>
                  </a:lnTo>
                  <a:cubicBezTo>
                    <a:pt x="12671" y="2128608"/>
                    <a:pt x="0" y="2115938"/>
                    <a:pt x="0" y="2100307"/>
                  </a:cubicBezTo>
                  <a:lnTo>
                    <a:pt x="0" y="28301"/>
                  </a:lnTo>
                  <a:cubicBezTo>
                    <a:pt x="0" y="12671"/>
                    <a:pt x="12671" y="0"/>
                    <a:pt x="28301" y="0"/>
                  </a:cubicBezTo>
                  <a:close/>
                </a:path>
              </a:pathLst>
            </a:custGeom>
            <a:solidFill>
              <a:srgbClr val="00407B"/>
            </a:solidFill>
          </p:spPr>
        </p:sp>
        <p:sp>
          <p:nvSpPr>
            <p:cNvPr name="TextBox 11" id="11"/>
            <p:cNvSpPr txBox="true"/>
            <p:nvPr/>
          </p:nvSpPr>
          <p:spPr>
            <a:xfrm>
              <a:off x="0" y="-38100"/>
              <a:ext cx="2017346" cy="2166708"/>
            </a:xfrm>
            <a:prstGeom prst="rect">
              <a:avLst/>
            </a:prstGeom>
          </p:spPr>
          <p:txBody>
            <a:bodyPr anchor="ctr" rtlCol="false" tIns="50800" lIns="50800" bIns="50800" rIns="50800"/>
            <a:lstStyle/>
            <a:p>
              <a:pPr algn="ctr">
                <a:lnSpc>
                  <a:spcPts val="1774"/>
                </a:lnSpc>
              </a:pPr>
            </a:p>
          </p:txBody>
        </p:sp>
      </p:grpSp>
      <p:sp>
        <p:nvSpPr>
          <p:cNvPr name="Freeform 12" id="12"/>
          <p:cNvSpPr/>
          <p:nvPr/>
        </p:nvSpPr>
        <p:spPr>
          <a:xfrm flipH="false" flipV="false" rot="0">
            <a:off x="11385128" y="5875548"/>
            <a:ext cx="4346994" cy="3382752"/>
          </a:xfrm>
          <a:custGeom>
            <a:avLst/>
            <a:gdLst/>
            <a:ahLst/>
            <a:cxnLst/>
            <a:rect r="r" b="b" t="t" l="l"/>
            <a:pathLst>
              <a:path h="3382752" w="4346994">
                <a:moveTo>
                  <a:pt x="0" y="0"/>
                </a:moveTo>
                <a:lnTo>
                  <a:pt x="4346995" y="0"/>
                </a:lnTo>
                <a:lnTo>
                  <a:pt x="4346995" y="3382752"/>
                </a:lnTo>
                <a:lnTo>
                  <a:pt x="0" y="33827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3187128" y="6504379"/>
            <a:ext cx="4024265" cy="3043389"/>
          </a:xfrm>
          <a:custGeom>
            <a:avLst/>
            <a:gdLst/>
            <a:ahLst/>
            <a:cxnLst/>
            <a:rect r="r" b="b" t="t" l="l"/>
            <a:pathLst>
              <a:path h="3043389" w="4024265">
                <a:moveTo>
                  <a:pt x="0" y="0"/>
                </a:moveTo>
                <a:lnTo>
                  <a:pt x="4024264" y="0"/>
                </a:lnTo>
                <a:lnTo>
                  <a:pt x="4024264" y="3043389"/>
                </a:lnTo>
                <a:lnTo>
                  <a:pt x="0" y="3043389"/>
                </a:lnTo>
                <a:lnTo>
                  <a:pt x="0" y="0"/>
                </a:lnTo>
                <a:close/>
              </a:path>
            </a:pathLst>
          </a:custGeom>
          <a:blipFill>
            <a:blip r:embed="rId5"/>
            <a:stretch>
              <a:fillRect l="0" t="0" r="0" b="-45507"/>
            </a:stretch>
          </a:blipFill>
        </p:spPr>
      </p:sp>
      <p:sp>
        <p:nvSpPr>
          <p:cNvPr name="TextBox 14" id="14"/>
          <p:cNvSpPr txBox="true"/>
          <p:nvPr/>
        </p:nvSpPr>
        <p:spPr>
          <a:xfrm rot="0">
            <a:off x="9713539" y="2236608"/>
            <a:ext cx="7690173" cy="2839021"/>
          </a:xfrm>
          <a:prstGeom prst="rect">
            <a:avLst/>
          </a:prstGeom>
        </p:spPr>
        <p:txBody>
          <a:bodyPr anchor="t" rtlCol="false" tIns="0" lIns="0" bIns="0" rIns="0">
            <a:spAutoFit/>
          </a:bodyPr>
          <a:lstStyle/>
          <a:p>
            <a:pPr algn="ctr">
              <a:lnSpc>
                <a:spcPts val="3811"/>
              </a:lnSpc>
            </a:pPr>
            <a:r>
              <a:rPr lang="en-US" sz="2367">
                <a:solidFill>
                  <a:srgbClr val="FFFFFF"/>
                </a:solidFill>
                <a:latin typeface="TT Interphases"/>
                <a:ea typeface="TT Interphases"/>
                <a:cs typeface="TT Interphases"/>
                <a:sym typeface="TT Interphases"/>
              </a:rPr>
              <a:t>El proyecto beneficiará principalmente a la Municipalidad de San Bernardo, a los funcionarios de seguridad ciudadana y a la comunidad local.</a:t>
            </a:r>
          </a:p>
          <a:p>
            <a:pPr algn="ctr">
              <a:lnSpc>
                <a:spcPts val="3811"/>
              </a:lnSpc>
            </a:pPr>
            <a:r>
              <a:rPr lang="en-US" sz="2367">
                <a:solidFill>
                  <a:srgbClr val="FFFFFF"/>
                </a:solidFill>
                <a:latin typeface="TT Interphases"/>
                <a:ea typeface="TT Interphases"/>
                <a:cs typeface="TT Interphases"/>
                <a:sym typeface="TT Interphases"/>
              </a:rPr>
              <a:t> Gracias a la digitalización de los procesos de monitoreo y alerta, se espera un impacto directo en la eficiencia operativa y la seguridad pública.</a:t>
            </a:r>
          </a:p>
        </p:txBody>
      </p:sp>
      <p:sp>
        <p:nvSpPr>
          <p:cNvPr name="TextBox 15" id="15"/>
          <p:cNvSpPr txBox="true"/>
          <p:nvPr/>
        </p:nvSpPr>
        <p:spPr>
          <a:xfrm rot="0">
            <a:off x="4163317" y="424101"/>
            <a:ext cx="9961365" cy="802147"/>
          </a:xfrm>
          <a:prstGeom prst="rect">
            <a:avLst/>
          </a:prstGeom>
        </p:spPr>
        <p:txBody>
          <a:bodyPr anchor="t" rtlCol="false" tIns="0" lIns="0" bIns="0" rIns="0">
            <a:spAutoFit/>
          </a:bodyPr>
          <a:lstStyle/>
          <a:p>
            <a:pPr algn="ctr" marL="0" indent="0" lvl="0">
              <a:lnSpc>
                <a:spcPts val="6475"/>
              </a:lnSpc>
              <a:spcBef>
                <a:spcPct val="0"/>
              </a:spcBef>
            </a:pPr>
            <a:r>
              <a:rPr lang="en-US" b="true" sz="5221" spc="99">
                <a:solidFill>
                  <a:srgbClr val="FFFFFF"/>
                </a:solidFill>
                <a:latin typeface="Muli Heavy"/>
                <a:ea typeface="Muli Heavy"/>
                <a:cs typeface="Muli Heavy"/>
                <a:sym typeface="Muli Heavy"/>
              </a:rPr>
              <a:t>IMPACTO Y BENEFICIARIOS</a:t>
            </a:r>
          </a:p>
        </p:txBody>
      </p:sp>
      <p:sp>
        <p:nvSpPr>
          <p:cNvPr name="TextBox 16" id="16"/>
          <p:cNvSpPr txBox="true"/>
          <p:nvPr/>
        </p:nvSpPr>
        <p:spPr>
          <a:xfrm rot="0">
            <a:off x="832757" y="2236608"/>
            <a:ext cx="7690173" cy="4267771"/>
          </a:xfrm>
          <a:prstGeom prst="rect">
            <a:avLst/>
          </a:prstGeom>
        </p:spPr>
        <p:txBody>
          <a:bodyPr anchor="t" rtlCol="false" tIns="0" lIns="0" bIns="0" rIns="0">
            <a:spAutoFit/>
          </a:bodyPr>
          <a:lstStyle/>
          <a:p>
            <a:pPr algn="ctr">
              <a:lnSpc>
                <a:spcPts val="3811"/>
              </a:lnSpc>
            </a:pPr>
            <a:r>
              <a:rPr lang="en-US" sz="2367">
                <a:solidFill>
                  <a:srgbClr val="FFFFFF"/>
                </a:solidFill>
                <a:latin typeface="TT Interphases"/>
                <a:ea typeface="TT Interphases"/>
                <a:cs typeface="TT Interphases"/>
                <a:sym typeface="TT Interphases"/>
              </a:rPr>
              <a:t>Se quiere generará un impacto significativo en la gestión de la seguridad ciudadana de la Municipalidad de San Bernardo, tanto a nivel operativo como social.</a:t>
            </a:r>
          </a:p>
          <a:p>
            <a:pPr algn="ctr">
              <a:lnSpc>
                <a:spcPts val="3811"/>
              </a:lnSpc>
            </a:pPr>
          </a:p>
          <a:p>
            <a:pPr algn="ctr"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Fortalecimiento del vínculo entre municipio y comunidad</a:t>
            </a:r>
          </a:p>
          <a:p>
            <a:pPr algn="ctr"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Eficiencia operativa y reducción de tiempos de respuesta</a:t>
            </a:r>
          </a:p>
          <a:p>
            <a:pPr algn="ctr"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 Mejora en la toma de decisiones y control municipal:</a:t>
            </a:r>
          </a:p>
        </p:txBody>
      </p:sp>
      <p:grpSp>
        <p:nvGrpSpPr>
          <p:cNvPr name="Group 17" id="17"/>
          <p:cNvGrpSpPr>
            <a:grpSpLocks noChangeAspect="true"/>
          </p:cNvGrpSpPr>
          <p:nvPr/>
        </p:nvGrpSpPr>
        <p:grpSpPr>
          <a:xfrm rot="0">
            <a:off x="-281650" y="-513040"/>
            <a:ext cx="4224174" cy="2567599"/>
            <a:chOff x="0" y="0"/>
            <a:chExt cx="5632232" cy="3423465"/>
          </a:xfrm>
        </p:grpSpPr>
        <p:sp>
          <p:nvSpPr>
            <p:cNvPr name="Freeform 18" id="18"/>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6"/>
              <a:stretch>
                <a:fillRect l="-5149" t="-37679" r="-5140" b="-32516"/>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0">
            <a:off x="10386880" y="3403397"/>
            <a:ext cx="6909082" cy="1017253"/>
            <a:chOff x="0" y="0"/>
            <a:chExt cx="2220569" cy="326944"/>
          </a:xfrm>
        </p:grpSpPr>
        <p:sp>
          <p:nvSpPr>
            <p:cNvPr name="Freeform 4" id="4"/>
            <p:cNvSpPr/>
            <p:nvPr/>
          </p:nvSpPr>
          <p:spPr>
            <a:xfrm flipH="false" flipV="false" rot="0">
              <a:off x="0" y="0"/>
              <a:ext cx="2220569" cy="326944"/>
            </a:xfrm>
            <a:custGeom>
              <a:avLst/>
              <a:gdLst/>
              <a:ahLst/>
              <a:cxnLst/>
              <a:rect r="r" b="b" t="t" l="l"/>
              <a:pathLst>
                <a:path h="326944" w="2220569">
                  <a:moveTo>
                    <a:pt x="2017369" y="0"/>
                  </a:moveTo>
                  <a:cubicBezTo>
                    <a:pt x="2129593" y="0"/>
                    <a:pt x="2220569" y="73189"/>
                    <a:pt x="2220569" y="163472"/>
                  </a:cubicBezTo>
                  <a:cubicBezTo>
                    <a:pt x="2220569" y="253755"/>
                    <a:pt x="2129593" y="326944"/>
                    <a:pt x="2017369" y="326944"/>
                  </a:cubicBezTo>
                  <a:lnTo>
                    <a:pt x="203200" y="326944"/>
                  </a:lnTo>
                  <a:cubicBezTo>
                    <a:pt x="90976" y="326944"/>
                    <a:pt x="0" y="253755"/>
                    <a:pt x="0" y="163472"/>
                  </a:cubicBezTo>
                  <a:cubicBezTo>
                    <a:pt x="0" y="73189"/>
                    <a:pt x="90976" y="0"/>
                    <a:pt x="203200" y="0"/>
                  </a:cubicBezTo>
                  <a:close/>
                </a:path>
              </a:pathLst>
            </a:custGeom>
            <a:solidFill>
              <a:srgbClr val="FFFFFF"/>
            </a:solidFill>
          </p:spPr>
        </p:sp>
        <p:sp>
          <p:nvSpPr>
            <p:cNvPr name="TextBox 5" id="5"/>
            <p:cNvSpPr txBox="true"/>
            <p:nvPr/>
          </p:nvSpPr>
          <p:spPr>
            <a:xfrm>
              <a:off x="0" y="-38100"/>
              <a:ext cx="2220569" cy="365044"/>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1723129" y="-126086"/>
            <a:ext cx="11850027" cy="9472459"/>
            <a:chOff x="0" y="0"/>
            <a:chExt cx="3120995" cy="2494804"/>
          </a:xfrm>
        </p:grpSpPr>
        <p:sp>
          <p:nvSpPr>
            <p:cNvPr name="Freeform 7" id="7"/>
            <p:cNvSpPr/>
            <p:nvPr/>
          </p:nvSpPr>
          <p:spPr>
            <a:xfrm flipH="false" flipV="false" rot="0">
              <a:off x="0" y="0"/>
              <a:ext cx="3120995" cy="2494804"/>
            </a:xfrm>
            <a:custGeom>
              <a:avLst/>
              <a:gdLst/>
              <a:ahLst/>
              <a:cxnLst/>
              <a:rect r="r" b="b" t="t" l="l"/>
              <a:pathLst>
                <a:path h="2494804" w="3120995">
                  <a:moveTo>
                    <a:pt x="18293" y="0"/>
                  </a:moveTo>
                  <a:lnTo>
                    <a:pt x="3102702" y="0"/>
                  </a:lnTo>
                  <a:cubicBezTo>
                    <a:pt x="3107553" y="0"/>
                    <a:pt x="3112206" y="1927"/>
                    <a:pt x="3115637" y="5358"/>
                  </a:cubicBezTo>
                  <a:cubicBezTo>
                    <a:pt x="3119068" y="8789"/>
                    <a:pt x="3120995" y="13441"/>
                    <a:pt x="3120995" y="18293"/>
                  </a:cubicBezTo>
                  <a:lnTo>
                    <a:pt x="3120995" y="2476511"/>
                  </a:lnTo>
                  <a:cubicBezTo>
                    <a:pt x="3120995" y="2486614"/>
                    <a:pt x="3112805" y="2494804"/>
                    <a:pt x="3102702" y="2494804"/>
                  </a:cubicBezTo>
                  <a:lnTo>
                    <a:pt x="18293" y="2494804"/>
                  </a:lnTo>
                  <a:cubicBezTo>
                    <a:pt x="13441" y="2494804"/>
                    <a:pt x="8789" y="2492877"/>
                    <a:pt x="5358" y="2489446"/>
                  </a:cubicBezTo>
                  <a:cubicBezTo>
                    <a:pt x="1927" y="2486015"/>
                    <a:pt x="0" y="2481362"/>
                    <a:pt x="0" y="2476511"/>
                  </a:cubicBezTo>
                  <a:lnTo>
                    <a:pt x="0" y="18293"/>
                  </a:lnTo>
                  <a:cubicBezTo>
                    <a:pt x="0" y="8190"/>
                    <a:pt x="8190" y="0"/>
                    <a:pt x="18293" y="0"/>
                  </a:cubicBezTo>
                  <a:close/>
                </a:path>
              </a:pathLst>
            </a:custGeom>
            <a:solidFill>
              <a:srgbClr val="FFFFFF"/>
            </a:solidFill>
          </p:spPr>
        </p:sp>
        <p:sp>
          <p:nvSpPr>
            <p:cNvPr name="TextBox 8" id="8"/>
            <p:cNvSpPr txBox="true"/>
            <p:nvPr/>
          </p:nvSpPr>
          <p:spPr>
            <a:xfrm>
              <a:off x="0" y="-38100"/>
              <a:ext cx="3120995" cy="2532904"/>
            </a:xfrm>
            <a:prstGeom prst="rect">
              <a:avLst/>
            </a:prstGeom>
          </p:spPr>
          <p:txBody>
            <a:bodyPr anchor="ctr" rtlCol="false" tIns="50800" lIns="50800" bIns="50800" rIns="50800"/>
            <a:lstStyle/>
            <a:p>
              <a:pPr algn="ctr">
                <a:lnSpc>
                  <a:spcPts val="1774"/>
                </a:lnSpc>
              </a:pPr>
            </a:p>
          </p:txBody>
        </p:sp>
      </p:grpSp>
      <p:grpSp>
        <p:nvGrpSpPr>
          <p:cNvPr name="Group 9" id="9"/>
          <p:cNvGrpSpPr/>
          <p:nvPr/>
        </p:nvGrpSpPr>
        <p:grpSpPr>
          <a:xfrm rot="0">
            <a:off x="10152577" y="522904"/>
            <a:ext cx="7237229" cy="676325"/>
            <a:chOff x="0" y="0"/>
            <a:chExt cx="2220569" cy="207514"/>
          </a:xfrm>
        </p:grpSpPr>
        <p:sp>
          <p:nvSpPr>
            <p:cNvPr name="Freeform 10" id="10"/>
            <p:cNvSpPr/>
            <p:nvPr/>
          </p:nvSpPr>
          <p:spPr>
            <a:xfrm flipH="false" flipV="false" rot="0">
              <a:off x="0" y="0"/>
              <a:ext cx="2220569" cy="207514"/>
            </a:xfrm>
            <a:custGeom>
              <a:avLst/>
              <a:gdLst/>
              <a:ahLst/>
              <a:cxnLst/>
              <a:rect r="r" b="b" t="t" l="l"/>
              <a:pathLst>
                <a:path h="207514" w="2220569">
                  <a:moveTo>
                    <a:pt x="2017369" y="0"/>
                  </a:moveTo>
                  <a:cubicBezTo>
                    <a:pt x="2129593" y="0"/>
                    <a:pt x="2220569" y="46454"/>
                    <a:pt x="2220569" y="103757"/>
                  </a:cubicBezTo>
                  <a:cubicBezTo>
                    <a:pt x="2220569" y="161060"/>
                    <a:pt x="2129593" y="207514"/>
                    <a:pt x="2017369" y="207514"/>
                  </a:cubicBezTo>
                  <a:lnTo>
                    <a:pt x="203200" y="207514"/>
                  </a:lnTo>
                  <a:cubicBezTo>
                    <a:pt x="90976" y="207514"/>
                    <a:pt x="0" y="161060"/>
                    <a:pt x="0" y="103757"/>
                  </a:cubicBezTo>
                  <a:cubicBezTo>
                    <a:pt x="0" y="46454"/>
                    <a:pt x="90976" y="0"/>
                    <a:pt x="203200" y="0"/>
                  </a:cubicBezTo>
                  <a:close/>
                </a:path>
              </a:pathLst>
            </a:custGeom>
            <a:solidFill>
              <a:srgbClr val="FFFFFF"/>
            </a:solidFill>
          </p:spPr>
        </p:sp>
        <p:sp>
          <p:nvSpPr>
            <p:cNvPr name="TextBox 11" id="11"/>
            <p:cNvSpPr txBox="true"/>
            <p:nvPr/>
          </p:nvSpPr>
          <p:spPr>
            <a:xfrm>
              <a:off x="0" y="-38100"/>
              <a:ext cx="2220569" cy="245614"/>
            </a:xfrm>
            <a:prstGeom prst="rect">
              <a:avLst/>
            </a:prstGeom>
          </p:spPr>
          <p:txBody>
            <a:bodyPr anchor="ctr" rtlCol="false" tIns="50800" lIns="50800" bIns="50800" rIns="50800"/>
            <a:lstStyle/>
            <a:p>
              <a:pPr algn="ctr">
                <a:lnSpc>
                  <a:spcPts val="1774"/>
                </a:lnSpc>
              </a:pPr>
            </a:p>
          </p:txBody>
        </p:sp>
      </p:grpSp>
      <p:grpSp>
        <p:nvGrpSpPr>
          <p:cNvPr name="Group 12" id="12"/>
          <p:cNvGrpSpPr/>
          <p:nvPr/>
        </p:nvGrpSpPr>
        <p:grpSpPr>
          <a:xfrm rot="0">
            <a:off x="10386880" y="6498744"/>
            <a:ext cx="7503919" cy="636551"/>
            <a:chOff x="0" y="0"/>
            <a:chExt cx="2220569" cy="188369"/>
          </a:xfrm>
        </p:grpSpPr>
        <p:sp>
          <p:nvSpPr>
            <p:cNvPr name="Freeform 13" id="13"/>
            <p:cNvSpPr/>
            <p:nvPr/>
          </p:nvSpPr>
          <p:spPr>
            <a:xfrm flipH="false" flipV="false" rot="0">
              <a:off x="0" y="0"/>
              <a:ext cx="2220569" cy="188369"/>
            </a:xfrm>
            <a:custGeom>
              <a:avLst/>
              <a:gdLst/>
              <a:ahLst/>
              <a:cxnLst/>
              <a:rect r="r" b="b" t="t" l="l"/>
              <a:pathLst>
                <a:path h="188369" w="2220569">
                  <a:moveTo>
                    <a:pt x="2017369" y="0"/>
                  </a:moveTo>
                  <a:cubicBezTo>
                    <a:pt x="2129593" y="0"/>
                    <a:pt x="2220569" y="42168"/>
                    <a:pt x="2220569" y="94185"/>
                  </a:cubicBezTo>
                  <a:cubicBezTo>
                    <a:pt x="2220569" y="146201"/>
                    <a:pt x="2129593" y="188369"/>
                    <a:pt x="2017369" y="188369"/>
                  </a:cubicBezTo>
                  <a:lnTo>
                    <a:pt x="203200" y="188369"/>
                  </a:lnTo>
                  <a:cubicBezTo>
                    <a:pt x="90976" y="188369"/>
                    <a:pt x="0" y="146201"/>
                    <a:pt x="0" y="94185"/>
                  </a:cubicBezTo>
                  <a:cubicBezTo>
                    <a:pt x="0" y="42168"/>
                    <a:pt x="90976" y="0"/>
                    <a:pt x="203200" y="0"/>
                  </a:cubicBezTo>
                  <a:close/>
                </a:path>
              </a:pathLst>
            </a:custGeom>
            <a:solidFill>
              <a:srgbClr val="FFFFFF"/>
            </a:solidFill>
          </p:spPr>
        </p:sp>
        <p:sp>
          <p:nvSpPr>
            <p:cNvPr name="TextBox 14" id="14"/>
            <p:cNvSpPr txBox="true"/>
            <p:nvPr/>
          </p:nvSpPr>
          <p:spPr>
            <a:xfrm>
              <a:off x="0" y="-38100"/>
              <a:ext cx="2220569" cy="226469"/>
            </a:xfrm>
            <a:prstGeom prst="rect">
              <a:avLst/>
            </a:prstGeom>
          </p:spPr>
          <p:txBody>
            <a:bodyPr anchor="ctr" rtlCol="false" tIns="50800" lIns="50800" bIns="50800" rIns="50800"/>
            <a:lstStyle/>
            <a:p>
              <a:pPr algn="ctr">
                <a:lnSpc>
                  <a:spcPts val="1774"/>
                </a:lnSpc>
              </a:pPr>
            </a:p>
          </p:txBody>
        </p:sp>
      </p:grpSp>
      <p:sp>
        <p:nvSpPr>
          <p:cNvPr name="Freeform 15" id="15"/>
          <p:cNvSpPr/>
          <p:nvPr/>
        </p:nvSpPr>
        <p:spPr>
          <a:xfrm flipH="false" flipV="false" rot="0">
            <a:off x="12763740" y="1326763"/>
            <a:ext cx="2155363" cy="1867084"/>
          </a:xfrm>
          <a:custGeom>
            <a:avLst/>
            <a:gdLst/>
            <a:ahLst/>
            <a:cxnLst/>
            <a:rect r="r" b="b" t="t" l="l"/>
            <a:pathLst>
              <a:path h="1867084" w="2155363">
                <a:moveTo>
                  <a:pt x="0" y="0"/>
                </a:moveTo>
                <a:lnTo>
                  <a:pt x="2155363" y="0"/>
                </a:lnTo>
                <a:lnTo>
                  <a:pt x="2155363" y="1867084"/>
                </a:lnTo>
                <a:lnTo>
                  <a:pt x="0" y="18670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2693510" y="4630200"/>
            <a:ext cx="2109525" cy="1769364"/>
          </a:xfrm>
          <a:custGeom>
            <a:avLst/>
            <a:gdLst/>
            <a:ahLst/>
            <a:cxnLst/>
            <a:rect r="r" b="b" t="t" l="l"/>
            <a:pathLst>
              <a:path h="1769364" w="2109525">
                <a:moveTo>
                  <a:pt x="0" y="0"/>
                </a:moveTo>
                <a:lnTo>
                  <a:pt x="2109525" y="0"/>
                </a:lnTo>
                <a:lnTo>
                  <a:pt x="2109525" y="1769364"/>
                </a:lnTo>
                <a:lnTo>
                  <a:pt x="0" y="17693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2922386" y="7330752"/>
            <a:ext cx="2070120" cy="2070120"/>
          </a:xfrm>
          <a:custGeom>
            <a:avLst/>
            <a:gdLst/>
            <a:ahLst/>
            <a:cxnLst/>
            <a:rect r="r" b="b" t="t" l="l"/>
            <a:pathLst>
              <a:path h="2070120" w="2070120">
                <a:moveTo>
                  <a:pt x="0" y="0"/>
                </a:moveTo>
                <a:lnTo>
                  <a:pt x="2070120" y="0"/>
                </a:lnTo>
                <a:lnTo>
                  <a:pt x="2070120" y="2070120"/>
                </a:lnTo>
                <a:lnTo>
                  <a:pt x="0" y="20701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0653570" y="3529237"/>
            <a:ext cx="6505157" cy="830334"/>
          </a:xfrm>
          <a:prstGeom prst="rect">
            <a:avLst/>
          </a:prstGeom>
        </p:spPr>
        <p:txBody>
          <a:bodyPr anchor="t" rtlCol="false" tIns="0" lIns="0" bIns="0" rIns="0">
            <a:spAutoFit/>
          </a:bodyPr>
          <a:lstStyle/>
          <a:p>
            <a:pPr algn="ctr" marL="0" indent="0" lvl="0">
              <a:lnSpc>
                <a:spcPts val="3368"/>
              </a:lnSpc>
              <a:spcBef>
                <a:spcPct val="0"/>
              </a:spcBef>
            </a:pPr>
            <a:r>
              <a:rPr lang="en-US" b="true" sz="2406">
                <a:solidFill>
                  <a:srgbClr val="000A1F"/>
                </a:solidFill>
                <a:latin typeface="Muli Ultra-Bold"/>
                <a:ea typeface="Muli Ultra-Bold"/>
                <a:cs typeface="Muli Ultra-Bold"/>
                <a:sym typeface="Muli Ultra-Bold"/>
              </a:rPr>
              <a:t>Reducción de los tiempos de respuesta ante emergencias</a:t>
            </a:r>
          </a:p>
        </p:txBody>
      </p:sp>
      <p:sp>
        <p:nvSpPr>
          <p:cNvPr name="TextBox 19" id="19"/>
          <p:cNvSpPr txBox="true"/>
          <p:nvPr/>
        </p:nvSpPr>
        <p:spPr>
          <a:xfrm rot="0">
            <a:off x="877191" y="1350902"/>
            <a:ext cx="7273360" cy="1846342"/>
          </a:xfrm>
          <a:prstGeom prst="rect">
            <a:avLst/>
          </a:prstGeom>
        </p:spPr>
        <p:txBody>
          <a:bodyPr anchor="t" rtlCol="false" tIns="0" lIns="0" bIns="0" rIns="0">
            <a:spAutoFit/>
          </a:bodyPr>
          <a:lstStyle/>
          <a:p>
            <a:pPr algn="ctr" marL="0" indent="0" lvl="0">
              <a:lnSpc>
                <a:spcPts val="7343"/>
              </a:lnSpc>
              <a:spcBef>
                <a:spcPct val="0"/>
              </a:spcBef>
            </a:pPr>
            <a:r>
              <a:rPr lang="en-US" b="true" sz="5921" spc="112">
                <a:solidFill>
                  <a:srgbClr val="00407B"/>
                </a:solidFill>
                <a:latin typeface="Muli Heavy"/>
                <a:ea typeface="Muli Heavy"/>
                <a:cs typeface="Muli Heavy"/>
                <a:sym typeface="Muli Heavy"/>
              </a:rPr>
              <a:t>RESULTADOS ESPERADOS</a:t>
            </a:r>
          </a:p>
        </p:txBody>
      </p:sp>
      <p:sp>
        <p:nvSpPr>
          <p:cNvPr name="TextBox 20" id="20"/>
          <p:cNvSpPr txBox="true"/>
          <p:nvPr/>
        </p:nvSpPr>
        <p:spPr>
          <a:xfrm rot="0">
            <a:off x="725683" y="3629075"/>
            <a:ext cx="7424869" cy="4236120"/>
          </a:xfrm>
          <a:prstGeom prst="rect">
            <a:avLst/>
          </a:prstGeom>
        </p:spPr>
        <p:txBody>
          <a:bodyPr anchor="t" rtlCol="false" tIns="0" lIns="0" bIns="0" rIns="0">
            <a:spAutoFit/>
          </a:bodyPr>
          <a:lstStyle/>
          <a:p>
            <a:pPr algn="l">
              <a:lnSpc>
                <a:spcPts val="4200"/>
              </a:lnSpc>
            </a:pPr>
            <a:r>
              <a:rPr lang="en-US" sz="2609">
                <a:solidFill>
                  <a:srgbClr val="00407B"/>
                </a:solidFill>
                <a:latin typeface="TT Interphases"/>
                <a:ea typeface="TT Interphases"/>
                <a:cs typeface="TT Interphases"/>
                <a:sym typeface="TT Interphases"/>
              </a:rPr>
              <a:t>Se espera lograr una mejora en la gestión de la seguridad ciudadana dentro de la Municipalidad de San Bernardo, ya que el sistema permitirá reducir los tiempos de respuesta ante emergencias gracias a la integración de la geolocalización en las alertas y en los móviles, optimizando la coordinación entre los equipos municipales y la comunidad.</a:t>
            </a:r>
          </a:p>
        </p:txBody>
      </p:sp>
      <p:sp>
        <p:nvSpPr>
          <p:cNvPr name="TextBox 21" id="21"/>
          <p:cNvSpPr txBox="true"/>
          <p:nvPr/>
        </p:nvSpPr>
        <p:spPr>
          <a:xfrm rot="0">
            <a:off x="10152577" y="603480"/>
            <a:ext cx="6970539" cy="448860"/>
          </a:xfrm>
          <a:prstGeom prst="rect">
            <a:avLst/>
          </a:prstGeom>
        </p:spPr>
        <p:txBody>
          <a:bodyPr anchor="t" rtlCol="false" tIns="0" lIns="0" bIns="0" rIns="0">
            <a:spAutoFit/>
          </a:bodyPr>
          <a:lstStyle/>
          <a:p>
            <a:pPr algn="ctr" marL="0" indent="0" lvl="0">
              <a:lnSpc>
                <a:spcPts val="3609"/>
              </a:lnSpc>
              <a:spcBef>
                <a:spcPct val="0"/>
              </a:spcBef>
            </a:pPr>
            <a:r>
              <a:rPr lang="en-US" b="true" sz="2578">
                <a:solidFill>
                  <a:srgbClr val="000A1F"/>
                </a:solidFill>
                <a:latin typeface="Muli Ultra-Bold"/>
                <a:ea typeface="Muli Ultra-Bold"/>
                <a:cs typeface="Muli Ultra-Bold"/>
                <a:sym typeface="Muli Ultra-Bold"/>
              </a:rPr>
              <a:t>Optimización de la gestión municipal</a:t>
            </a:r>
          </a:p>
        </p:txBody>
      </p:sp>
      <p:sp>
        <p:nvSpPr>
          <p:cNvPr name="TextBox 22" id="22"/>
          <p:cNvSpPr txBox="true"/>
          <p:nvPr/>
        </p:nvSpPr>
        <p:spPr>
          <a:xfrm rot="0">
            <a:off x="10653570" y="6551964"/>
            <a:ext cx="6970539" cy="448860"/>
          </a:xfrm>
          <a:prstGeom prst="rect">
            <a:avLst/>
          </a:prstGeom>
        </p:spPr>
        <p:txBody>
          <a:bodyPr anchor="t" rtlCol="false" tIns="0" lIns="0" bIns="0" rIns="0">
            <a:spAutoFit/>
          </a:bodyPr>
          <a:lstStyle/>
          <a:p>
            <a:pPr algn="ctr" marL="0" indent="0" lvl="0">
              <a:lnSpc>
                <a:spcPts val="3609"/>
              </a:lnSpc>
              <a:spcBef>
                <a:spcPct val="0"/>
              </a:spcBef>
            </a:pPr>
            <a:r>
              <a:rPr lang="en-US" b="true" sz="2578">
                <a:solidFill>
                  <a:srgbClr val="000A1F"/>
                </a:solidFill>
                <a:latin typeface="Muli Ultra-Bold"/>
                <a:ea typeface="Muli Ultra-Bold"/>
                <a:cs typeface="Muli Ultra-Bold"/>
                <a:sym typeface="Muli Ultra-Bold"/>
              </a:rPr>
              <a:t>Mayor participación ciudadana</a:t>
            </a:r>
          </a:p>
        </p:txBody>
      </p:sp>
      <p:grpSp>
        <p:nvGrpSpPr>
          <p:cNvPr name="Group 23" id="23"/>
          <p:cNvGrpSpPr/>
          <p:nvPr/>
        </p:nvGrpSpPr>
        <p:grpSpPr>
          <a:xfrm rot="5400000">
            <a:off x="7704655" y="1254885"/>
            <a:ext cx="4305294" cy="21229083"/>
            <a:chOff x="0" y="0"/>
            <a:chExt cx="1133904" cy="5591199"/>
          </a:xfrm>
        </p:grpSpPr>
        <p:sp>
          <p:nvSpPr>
            <p:cNvPr name="Freeform 24" id="24"/>
            <p:cNvSpPr/>
            <p:nvPr/>
          </p:nvSpPr>
          <p:spPr>
            <a:xfrm flipH="false" flipV="false" rot="0">
              <a:off x="0" y="0"/>
              <a:ext cx="1133904" cy="5591199"/>
            </a:xfrm>
            <a:custGeom>
              <a:avLst/>
              <a:gdLst/>
              <a:ahLst/>
              <a:cxnLst/>
              <a:rect r="r" b="b" t="t" l="l"/>
              <a:pathLst>
                <a:path h="5591199" w="1133904">
                  <a:moveTo>
                    <a:pt x="50351" y="0"/>
                  </a:moveTo>
                  <a:lnTo>
                    <a:pt x="1083554" y="0"/>
                  </a:lnTo>
                  <a:cubicBezTo>
                    <a:pt x="1096908" y="0"/>
                    <a:pt x="1109715" y="5305"/>
                    <a:pt x="1119157" y="14747"/>
                  </a:cubicBezTo>
                  <a:cubicBezTo>
                    <a:pt x="1128600" y="24190"/>
                    <a:pt x="1133904" y="36997"/>
                    <a:pt x="1133904" y="50351"/>
                  </a:cubicBezTo>
                  <a:lnTo>
                    <a:pt x="1133904" y="5540848"/>
                  </a:lnTo>
                  <a:cubicBezTo>
                    <a:pt x="1133904" y="5554202"/>
                    <a:pt x="1128600" y="5567009"/>
                    <a:pt x="1119157" y="5576451"/>
                  </a:cubicBezTo>
                  <a:cubicBezTo>
                    <a:pt x="1109715" y="5585894"/>
                    <a:pt x="1096908" y="5591199"/>
                    <a:pt x="1083554" y="5591199"/>
                  </a:cubicBezTo>
                  <a:lnTo>
                    <a:pt x="50351" y="5591199"/>
                  </a:lnTo>
                  <a:cubicBezTo>
                    <a:pt x="36997" y="5591199"/>
                    <a:pt x="24190" y="5585894"/>
                    <a:pt x="14747" y="5576451"/>
                  </a:cubicBezTo>
                  <a:cubicBezTo>
                    <a:pt x="5305" y="5567009"/>
                    <a:pt x="0" y="5554202"/>
                    <a:pt x="0" y="5540848"/>
                  </a:cubicBezTo>
                  <a:lnTo>
                    <a:pt x="0" y="50351"/>
                  </a:lnTo>
                  <a:cubicBezTo>
                    <a:pt x="0" y="36997"/>
                    <a:pt x="5305" y="24190"/>
                    <a:pt x="14747" y="14747"/>
                  </a:cubicBezTo>
                  <a:cubicBezTo>
                    <a:pt x="24190" y="5305"/>
                    <a:pt x="36997" y="0"/>
                    <a:pt x="50351" y="0"/>
                  </a:cubicBezTo>
                  <a:close/>
                </a:path>
              </a:pathLst>
            </a:custGeom>
            <a:solidFill>
              <a:srgbClr val="FDB61B"/>
            </a:solidFill>
          </p:spPr>
        </p:sp>
        <p:sp>
          <p:nvSpPr>
            <p:cNvPr name="TextBox 25" id="25"/>
            <p:cNvSpPr txBox="true"/>
            <p:nvPr/>
          </p:nvSpPr>
          <p:spPr>
            <a:xfrm>
              <a:off x="0" y="-38100"/>
              <a:ext cx="1133904" cy="5629299"/>
            </a:xfrm>
            <a:prstGeom prst="rect">
              <a:avLst/>
            </a:prstGeom>
          </p:spPr>
          <p:txBody>
            <a:bodyPr anchor="ctr" rtlCol="false" tIns="50800" lIns="50800" bIns="50800" rIns="50800"/>
            <a:lstStyle/>
            <a:p>
              <a:pPr algn="ctr">
                <a:lnSpc>
                  <a:spcPts val="1774"/>
                </a:lnSpc>
              </a:pPr>
            </a:p>
          </p:txBody>
        </p:sp>
      </p:grpSp>
      <p:grpSp>
        <p:nvGrpSpPr>
          <p:cNvPr name="Group 26" id="26"/>
          <p:cNvGrpSpPr>
            <a:grpSpLocks noChangeAspect="true"/>
          </p:cNvGrpSpPr>
          <p:nvPr/>
        </p:nvGrpSpPr>
        <p:grpSpPr>
          <a:xfrm rot="0">
            <a:off x="-281650" y="-513040"/>
            <a:ext cx="4224174" cy="2567599"/>
            <a:chOff x="0" y="0"/>
            <a:chExt cx="5632232" cy="3423465"/>
          </a:xfrm>
        </p:grpSpPr>
        <p:sp>
          <p:nvSpPr>
            <p:cNvPr name="Freeform 27" id="27"/>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9"/>
              <a:stretch>
                <a:fillRect l="-5149" t="-37679" r="-5140" b="-32516"/>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7784395" y="-5232932"/>
            <a:ext cx="3280320" cy="9891589"/>
            <a:chOff x="0" y="0"/>
            <a:chExt cx="863953" cy="2605192"/>
          </a:xfrm>
        </p:grpSpPr>
        <p:sp>
          <p:nvSpPr>
            <p:cNvPr name="Freeform 4" id="4"/>
            <p:cNvSpPr/>
            <p:nvPr/>
          </p:nvSpPr>
          <p:spPr>
            <a:xfrm flipH="false" flipV="false" rot="0">
              <a:off x="0" y="0"/>
              <a:ext cx="863953" cy="2605192"/>
            </a:xfrm>
            <a:custGeom>
              <a:avLst/>
              <a:gdLst/>
              <a:ahLst/>
              <a:cxnLst/>
              <a:rect r="r" b="b" t="t" l="l"/>
              <a:pathLst>
                <a:path h="2605192" w="863953">
                  <a:moveTo>
                    <a:pt x="66083" y="0"/>
                  </a:moveTo>
                  <a:lnTo>
                    <a:pt x="797870" y="0"/>
                  </a:lnTo>
                  <a:cubicBezTo>
                    <a:pt x="834366" y="0"/>
                    <a:pt x="863953" y="29586"/>
                    <a:pt x="863953" y="66083"/>
                  </a:cubicBezTo>
                  <a:lnTo>
                    <a:pt x="863953" y="2539109"/>
                  </a:lnTo>
                  <a:cubicBezTo>
                    <a:pt x="863953" y="2575606"/>
                    <a:pt x="834366" y="2605192"/>
                    <a:pt x="797870" y="2605192"/>
                  </a:cubicBezTo>
                  <a:lnTo>
                    <a:pt x="66083" y="2605192"/>
                  </a:lnTo>
                  <a:cubicBezTo>
                    <a:pt x="29586" y="2605192"/>
                    <a:pt x="0" y="2575606"/>
                    <a:pt x="0" y="2539109"/>
                  </a:cubicBezTo>
                  <a:lnTo>
                    <a:pt x="0" y="66083"/>
                  </a:lnTo>
                  <a:cubicBezTo>
                    <a:pt x="0" y="29586"/>
                    <a:pt x="29586" y="0"/>
                    <a:pt x="66083" y="0"/>
                  </a:cubicBezTo>
                  <a:close/>
                </a:path>
              </a:pathLst>
            </a:custGeom>
            <a:solidFill>
              <a:srgbClr val="FDB61B"/>
            </a:solidFill>
          </p:spPr>
        </p:sp>
        <p:sp>
          <p:nvSpPr>
            <p:cNvPr name="TextBox 5" id="5"/>
            <p:cNvSpPr txBox="true"/>
            <p:nvPr/>
          </p:nvSpPr>
          <p:spPr>
            <a:xfrm>
              <a:off x="0" y="-38100"/>
              <a:ext cx="863953" cy="2643292"/>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9301148" y="83532"/>
            <a:ext cx="4873636" cy="10563531"/>
            <a:chOff x="0" y="0"/>
            <a:chExt cx="1095558" cy="2374604"/>
          </a:xfrm>
        </p:grpSpPr>
        <p:sp>
          <p:nvSpPr>
            <p:cNvPr name="Freeform 7" id="7"/>
            <p:cNvSpPr/>
            <p:nvPr/>
          </p:nvSpPr>
          <p:spPr>
            <a:xfrm flipH="false" flipV="false" rot="0">
              <a:off x="0" y="0"/>
              <a:ext cx="1095558" cy="2374604"/>
            </a:xfrm>
            <a:custGeom>
              <a:avLst/>
              <a:gdLst/>
              <a:ahLst/>
              <a:cxnLst/>
              <a:rect r="r" b="b" t="t" l="l"/>
              <a:pathLst>
                <a:path h="2374604" w="1095558">
                  <a:moveTo>
                    <a:pt x="77838" y="0"/>
                  </a:moveTo>
                  <a:lnTo>
                    <a:pt x="1017720" y="0"/>
                  </a:lnTo>
                  <a:cubicBezTo>
                    <a:pt x="1060708" y="0"/>
                    <a:pt x="1095558" y="34849"/>
                    <a:pt x="1095558" y="77838"/>
                  </a:cubicBezTo>
                  <a:lnTo>
                    <a:pt x="1095558" y="2296766"/>
                  </a:lnTo>
                  <a:cubicBezTo>
                    <a:pt x="1095558" y="2339755"/>
                    <a:pt x="1060708" y="2374604"/>
                    <a:pt x="1017720" y="2374604"/>
                  </a:cubicBezTo>
                  <a:lnTo>
                    <a:pt x="77838" y="2374604"/>
                  </a:lnTo>
                  <a:cubicBezTo>
                    <a:pt x="34849" y="2374604"/>
                    <a:pt x="0" y="2339755"/>
                    <a:pt x="0" y="2296766"/>
                  </a:cubicBezTo>
                  <a:lnTo>
                    <a:pt x="0" y="77838"/>
                  </a:lnTo>
                  <a:cubicBezTo>
                    <a:pt x="0" y="34849"/>
                    <a:pt x="34849" y="0"/>
                    <a:pt x="77838" y="0"/>
                  </a:cubicBezTo>
                  <a:close/>
                </a:path>
              </a:pathLst>
            </a:custGeom>
            <a:solidFill>
              <a:srgbClr val="000A1F">
                <a:alpha val="60000"/>
              </a:srgbClr>
            </a:solidFill>
          </p:spPr>
        </p:sp>
        <p:sp>
          <p:nvSpPr>
            <p:cNvPr name="TextBox 8" id="8"/>
            <p:cNvSpPr txBox="true"/>
            <p:nvPr/>
          </p:nvSpPr>
          <p:spPr>
            <a:xfrm>
              <a:off x="0" y="-38100"/>
              <a:ext cx="1095558" cy="2412704"/>
            </a:xfrm>
            <a:prstGeom prst="rect">
              <a:avLst/>
            </a:prstGeom>
          </p:spPr>
          <p:txBody>
            <a:bodyPr anchor="ctr" rtlCol="false" tIns="50800" lIns="50800" bIns="50800" rIns="50800"/>
            <a:lstStyle/>
            <a:p>
              <a:pPr algn="ctr">
                <a:lnSpc>
                  <a:spcPts val="1774"/>
                </a:lnSpc>
              </a:pPr>
            </a:p>
          </p:txBody>
        </p:sp>
      </p:grpSp>
      <p:grpSp>
        <p:nvGrpSpPr>
          <p:cNvPr name="Group 9" id="9"/>
          <p:cNvGrpSpPr/>
          <p:nvPr/>
        </p:nvGrpSpPr>
        <p:grpSpPr>
          <a:xfrm rot="5400000">
            <a:off x="912679" y="3650039"/>
            <a:ext cx="6201793" cy="2766408"/>
            <a:chOff x="0" y="0"/>
            <a:chExt cx="1384490" cy="617574"/>
          </a:xfrm>
        </p:grpSpPr>
        <p:sp>
          <p:nvSpPr>
            <p:cNvPr name="Freeform 10" id="10"/>
            <p:cNvSpPr/>
            <p:nvPr/>
          </p:nvSpPr>
          <p:spPr>
            <a:xfrm flipH="false" flipV="false" rot="0">
              <a:off x="0" y="0"/>
              <a:ext cx="1384490" cy="617574"/>
            </a:xfrm>
            <a:custGeom>
              <a:avLst/>
              <a:gdLst/>
              <a:ahLst/>
              <a:cxnLst/>
              <a:rect r="r" b="b" t="t" l="l"/>
              <a:pathLst>
                <a:path h="617574" w="1384490">
                  <a:moveTo>
                    <a:pt x="34953" y="0"/>
                  </a:moveTo>
                  <a:lnTo>
                    <a:pt x="1349537" y="0"/>
                  </a:lnTo>
                  <a:cubicBezTo>
                    <a:pt x="1358807" y="0"/>
                    <a:pt x="1367697" y="3683"/>
                    <a:pt x="1374252" y="10238"/>
                  </a:cubicBezTo>
                  <a:cubicBezTo>
                    <a:pt x="1380807" y="16793"/>
                    <a:pt x="1384490" y="25683"/>
                    <a:pt x="1384490" y="34953"/>
                  </a:cubicBezTo>
                  <a:lnTo>
                    <a:pt x="1384490" y="582620"/>
                  </a:lnTo>
                  <a:cubicBezTo>
                    <a:pt x="1384490" y="591891"/>
                    <a:pt x="1380807" y="600781"/>
                    <a:pt x="1374252" y="607336"/>
                  </a:cubicBezTo>
                  <a:cubicBezTo>
                    <a:pt x="1367697" y="613891"/>
                    <a:pt x="1358807" y="617574"/>
                    <a:pt x="1349537" y="617574"/>
                  </a:cubicBezTo>
                  <a:lnTo>
                    <a:pt x="34953" y="617574"/>
                  </a:lnTo>
                  <a:cubicBezTo>
                    <a:pt x="25683" y="617574"/>
                    <a:pt x="16793" y="613891"/>
                    <a:pt x="10238" y="607336"/>
                  </a:cubicBezTo>
                  <a:cubicBezTo>
                    <a:pt x="3683" y="600781"/>
                    <a:pt x="0" y="591891"/>
                    <a:pt x="0" y="582620"/>
                  </a:cubicBezTo>
                  <a:lnTo>
                    <a:pt x="0" y="34953"/>
                  </a:lnTo>
                  <a:cubicBezTo>
                    <a:pt x="0" y="25683"/>
                    <a:pt x="3683" y="16793"/>
                    <a:pt x="10238" y="10238"/>
                  </a:cubicBezTo>
                  <a:cubicBezTo>
                    <a:pt x="16793" y="3683"/>
                    <a:pt x="25683" y="0"/>
                    <a:pt x="34953" y="0"/>
                  </a:cubicBezTo>
                  <a:close/>
                </a:path>
              </a:pathLst>
            </a:custGeom>
            <a:solidFill>
              <a:srgbClr val="000A1F">
                <a:alpha val="60000"/>
              </a:srgbClr>
            </a:solidFill>
          </p:spPr>
        </p:sp>
        <p:sp>
          <p:nvSpPr>
            <p:cNvPr name="TextBox 11" id="11"/>
            <p:cNvSpPr txBox="true"/>
            <p:nvPr/>
          </p:nvSpPr>
          <p:spPr>
            <a:xfrm>
              <a:off x="0" y="-38100"/>
              <a:ext cx="1384490" cy="655674"/>
            </a:xfrm>
            <a:prstGeom prst="rect">
              <a:avLst/>
            </a:prstGeom>
          </p:spPr>
          <p:txBody>
            <a:bodyPr anchor="ctr" rtlCol="false" tIns="50800" lIns="50800" bIns="50800" rIns="50800"/>
            <a:lstStyle/>
            <a:p>
              <a:pPr algn="ctr">
                <a:lnSpc>
                  <a:spcPts val="2684"/>
                </a:lnSpc>
              </a:pPr>
            </a:p>
          </p:txBody>
        </p:sp>
      </p:grpSp>
      <p:sp>
        <p:nvSpPr>
          <p:cNvPr name="Freeform 12" id="12"/>
          <p:cNvSpPr/>
          <p:nvPr/>
        </p:nvSpPr>
        <p:spPr>
          <a:xfrm flipH="false" flipV="false" rot="0">
            <a:off x="6887027" y="3061101"/>
            <a:ext cx="9701879" cy="4608392"/>
          </a:xfrm>
          <a:custGeom>
            <a:avLst/>
            <a:gdLst/>
            <a:ahLst/>
            <a:cxnLst/>
            <a:rect r="r" b="b" t="t" l="l"/>
            <a:pathLst>
              <a:path h="4608392" w="9701879">
                <a:moveTo>
                  <a:pt x="0" y="0"/>
                </a:moveTo>
                <a:lnTo>
                  <a:pt x="9701879" y="0"/>
                </a:lnTo>
                <a:lnTo>
                  <a:pt x="9701879" y="4608393"/>
                </a:lnTo>
                <a:lnTo>
                  <a:pt x="0" y="4608393"/>
                </a:lnTo>
                <a:lnTo>
                  <a:pt x="0" y="0"/>
                </a:lnTo>
                <a:close/>
              </a:path>
            </a:pathLst>
          </a:custGeom>
          <a:blipFill>
            <a:blip r:embed="rId3"/>
            <a:stretch>
              <a:fillRect l="0" t="0" r="0" b="0"/>
            </a:stretch>
          </a:blipFill>
        </p:spPr>
      </p:sp>
      <p:sp>
        <p:nvSpPr>
          <p:cNvPr name="Freeform 13" id="13"/>
          <p:cNvSpPr/>
          <p:nvPr/>
        </p:nvSpPr>
        <p:spPr>
          <a:xfrm flipH="false" flipV="false" rot="0">
            <a:off x="2780166" y="2126016"/>
            <a:ext cx="2466819" cy="5451534"/>
          </a:xfrm>
          <a:custGeom>
            <a:avLst/>
            <a:gdLst/>
            <a:ahLst/>
            <a:cxnLst/>
            <a:rect r="r" b="b" t="t" l="l"/>
            <a:pathLst>
              <a:path h="5451534" w="2466819">
                <a:moveTo>
                  <a:pt x="0" y="0"/>
                </a:moveTo>
                <a:lnTo>
                  <a:pt x="2466819" y="0"/>
                </a:lnTo>
                <a:lnTo>
                  <a:pt x="2466819" y="5451535"/>
                </a:lnTo>
                <a:lnTo>
                  <a:pt x="0" y="5451535"/>
                </a:lnTo>
                <a:lnTo>
                  <a:pt x="0" y="0"/>
                </a:lnTo>
                <a:close/>
              </a:path>
            </a:pathLst>
          </a:custGeom>
          <a:blipFill>
            <a:blip r:embed="rId4"/>
            <a:stretch>
              <a:fillRect l="0" t="0" r="0" b="0"/>
            </a:stretch>
          </a:blipFill>
        </p:spPr>
      </p:sp>
      <p:sp>
        <p:nvSpPr>
          <p:cNvPr name="TextBox 14" id="14"/>
          <p:cNvSpPr txBox="true"/>
          <p:nvPr/>
        </p:nvSpPr>
        <p:spPr>
          <a:xfrm rot="0">
            <a:off x="3745224" y="384083"/>
            <a:ext cx="11358663" cy="80215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ESTADO ACTUAL</a:t>
            </a:r>
          </a:p>
        </p:txBody>
      </p:sp>
      <p:sp>
        <p:nvSpPr>
          <p:cNvPr name="TextBox 15" id="15"/>
          <p:cNvSpPr txBox="true"/>
          <p:nvPr/>
        </p:nvSpPr>
        <p:spPr>
          <a:xfrm rot="0">
            <a:off x="1028700" y="8411486"/>
            <a:ext cx="5969751" cy="511745"/>
          </a:xfrm>
          <a:prstGeom prst="rect">
            <a:avLst/>
          </a:prstGeom>
        </p:spPr>
        <p:txBody>
          <a:bodyPr anchor="t" rtlCol="false" tIns="0" lIns="0" bIns="0" rIns="0">
            <a:spAutoFit/>
          </a:bodyPr>
          <a:lstStyle/>
          <a:p>
            <a:pPr algn="ctr" marL="0" indent="0" lvl="0">
              <a:lnSpc>
                <a:spcPts val="4090"/>
              </a:lnSpc>
              <a:spcBef>
                <a:spcPct val="0"/>
              </a:spcBef>
            </a:pPr>
            <a:r>
              <a:rPr lang="en-US" b="true" sz="3195">
                <a:solidFill>
                  <a:srgbClr val="FFFFFF"/>
                </a:solidFill>
                <a:latin typeface="TT Interphases Bold"/>
                <a:ea typeface="TT Interphases Bold"/>
                <a:cs typeface="TT Interphases Bold"/>
                <a:sym typeface="TT Interphases Bold"/>
              </a:rPr>
              <a:t>App Mobile</a:t>
            </a:r>
          </a:p>
        </p:txBody>
      </p:sp>
      <p:sp>
        <p:nvSpPr>
          <p:cNvPr name="TextBox 16" id="16"/>
          <p:cNvSpPr txBox="true"/>
          <p:nvPr/>
        </p:nvSpPr>
        <p:spPr>
          <a:xfrm rot="0">
            <a:off x="8780279" y="8414822"/>
            <a:ext cx="5928526" cy="508409"/>
          </a:xfrm>
          <a:prstGeom prst="rect">
            <a:avLst/>
          </a:prstGeom>
        </p:spPr>
        <p:txBody>
          <a:bodyPr anchor="t" rtlCol="false" tIns="0" lIns="0" bIns="0" rIns="0">
            <a:spAutoFit/>
          </a:bodyPr>
          <a:lstStyle/>
          <a:p>
            <a:pPr algn="ctr" marL="0" indent="0" lvl="0">
              <a:lnSpc>
                <a:spcPts val="4062"/>
              </a:lnSpc>
              <a:spcBef>
                <a:spcPct val="0"/>
              </a:spcBef>
            </a:pPr>
            <a:r>
              <a:rPr lang="en-US" b="true" sz="3173">
                <a:solidFill>
                  <a:srgbClr val="FFFFFF"/>
                </a:solidFill>
                <a:latin typeface="TT Interphases Bold"/>
                <a:ea typeface="TT Interphases Bold"/>
                <a:cs typeface="TT Interphases Bold"/>
                <a:sym typeface="TT Interphases Bold"/>
              </a:rPr>
              <a:t>Página Web</a:t>
            </a:r>
          </a:p>
        </p:txBody>
      </p:sp>
      <p:grpSp>
        <p:nvGrpSpPr>
          <p:cNvPr name="Group 17" id="17"/>
          <p:cNvGrpSpPr/>
          <p:nvPr/>
        </p:nvGrpSpPr>
        <p:grpSpPr>
          <a:xfrm rot="5400000">
            <a:off x="7583582" y="1046136"/>
            <a:ext cx="3681946" cy="20652693"/>
            <a:chOff x="0" y="0"/>
            <a:chExt cx="969731" cy="5439392"/>
          </a:xfrm>
        </p:grpSpPr>
        <p:sp>
          <p:nvSpPr>
            <p:cNvPr name="Freeform 18" id="18"/>
            <p:cNvSpPr/>
            <p:nvPr/>
          </p:nvSpPr>
          <p:spPr>
            <a:xfrm flipH="false" flipV="false" rot="0">
              <a:off x="0" y="0"/>
              <a:ext cx="969731" cy="5439392"/>
            </a:xfrm>
            <a:custGeom>
              <a:avLst/>
              <a:gdLst/>
              <a:ahLst/>
              <a:cxnLst/>
              <a:rect r="r" b="b" t="t" l="l"/>
              <a:pathLst>
                <a:path h="5439392" w="969731">
                  <a:moveTo>
                    <a:pt x="0" y="0"/>
                  </a:moveTo>
                  <a:lnTo>
                    <a:pt x="969731" y="0"/>
                  </a:lnTo>
                  <a:lnTo>
                    <a:pt x="969731" y="5439392"/>
                  </a:lnTo>
                  <a:lnTo>
                    <a:pt x="0" y="5439392"/>
                  </a:lnTo>
                  <a:close/>
                </a:path>
              </a:pathLst>
            </a:custGeom>
            <a:solidFill>
              <a:srgbClr val="00407B"/>
            </a:solidFill>
          </p:spPr>
        </p:sp>
        <p:sp>
          <p:nvSpPr>
            <p:cNvPr name="TextBox 19" id="19"/>
            <p:cNvSpPr txBox="true"/>
            <p:nvPr/>
          </p:nvSpPr>
          <p:spPr>
            <a:xfrm>
              <a:off x="0" y="-38100"/>
              <a:ext cx="969731" cy="5477492"/>
            </a:xfrm>
            <a:prstGeom prst="rect">
              <a:avLst/>
            </a:prstGeom>
          </p:spPr>
          <p:txBody>
            <a:bodyPr anchor="ctr" rtlCol="false" tIns="50800" lIns="50800" bIns="50800" rIns="50800"/>
            <a:lstStyle/>
            <a:p>
              <a:pPr algn="ctr">
                <a:lnSpc>
                  <a:spcPts val="1774"/>
                </a:lnSpc>
              </a:pPr>
            </a:p>
          </p:txBody>
        </p:sp>
      </p:grpSp>
      <p:grpSp>
        <p:nvGrpSpPr>
          <p:cNvPr name="Group 20" id="20"/>
          <p:cNvGrpSpPr>
            <a:grpSpLocks noChangeAspect="true"/>
          </p:cNvGrpSpPr>
          <p:nvPr/>
        </p:nvGrpSpPr>
        <p:grpSpPr>
          <a:xfrm rot="0">
            <a:off x="14370349" y="-493876"/>
            <a:ext cx="4224174" cy="2567599"/>
            <a:chOff x="0" y="0"/>
            <a:chExt cx="5632232" cy="3423465"/>
          </a:xfrm>
        </p:grpSpPr>
        <p:sp>
          <p:nvSpPr>
            <p:cNvPr name="Freeform 21" id="21"/>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5"/>
              <a:stretch>
                <a:fillRect l="-5149" t="-37679" r="-5140" b="-32516"/>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7080022" y="-3826930"/>
            <a:ext cx="4127957" cy="8175326"/>
            <a:chOff x="0" y="0"/>
            <a:chExt cx="1087198" cy="2153172"/>
          </a:xfrm>
        </p:grpSpPr>
        <p:sp>
          <p:nvSpPr>
            <p:cNvPr name="Freeform 4" id="4"/>
            <p:cNvSpPr/>
            <p:nvPr/>
          </p:nvSpPr>
          <p:spPr>
            <a:xfrm flipH="false" flipV="false" rot="0">
              <a:off x="0" y="0"/>
              <a:ext cx="1087198" cy="2153172"/>
            </a:xfrm>
            <a:custGeom>
              <a:avLst/>
              <a:gdLst/>
              <a:ahLst/>
              <a:cxnLst/>
              <a:rect r="r" b="b" t="t" l="l"/>
              <a:pathLst>
                <a:path h="2153172" w="1087198">
                  <a:moveTo>
                    <a:pt x="52514" y="0"/>
                  </a:moveTo>
                  <a:lnTo>
                    <a:pt x="1034685" y="0"/>
                  </a:lnTo>
                  <a:cubicBezTo>
                    <a:pt x="1063687" y="0"/>
                    <a:pt x="1087198" y="23511"/>
                    <a:pt x="1087198" y="52514"/>
                  </a:cubicBezTo>
                  <a:lnTo>
                    <a:pt x="1087198" y="2100659"/>
                  </a:lnTo>
                  <a:cubicBezTo>
                    <a:pt x="1087198" y="2114586"/>
                    <a:pt x="1081666" y="2127943"/>
                    <a:pt x="1071818" y="2137791"/>
                  </a:cubicBezTo>
                  <a:cubicBezTo>
                    <a:pt x="1061969" y="2147640"/>
                    <a:pt x="1048612" y="2153172"/>
                    <a:pt x="1034685" y="2153172"/>
                  </a:cubicBezTo>
                  <a:lnTo>
                    <a:pt x="52514" y="2153172"/>
                  </a:lnTo>
                  <a:cubicBezTo>
                    <a:pt x="23511" y="2153172"/>
                    <a:pt x="0" y="2129661"/>
                    <a:pt x="0" y="2100659"/>
                  </a:cubicBezTo>
                  <a:lnTo>
                    <a:pt x="0" y="52514"/>
                  </a:lnTo>
                  <a:cubicBezTo>
                    <a:pt x="0" y="23511"/>
                    <a:pt x="23511" y="0"/>
                    <a:pt x="52514" y="0"/>
                  </a:cubicBezTo>
                  <a:close/>
                </a:path>
              </a:pathLst>
            </a:custGeom>
            <a:solidFill>
              <a:srgbClr val="00407B"/>
            </a:solidFill>
          </p:spPr>
        </p:sp>
        <p:sp>
          <p:nvSpPr>
            <p:cNvPr name="TextBox 5" id="5"/>
            <p:cNvSpPr txBox="true"/>
            <p:nvPr/>
          </p:nvSpPr>
          <p:spPr>
            <a:xfrm>
              <a:off x="0" y="-38100"/>
              <a:ext cx="1087198" cy="2191272"/>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5795706" y="251208"/>
            <a:ext cx="6696587" cy="162130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MODELO DE SUSTENTABILIDAD</a:t>
            </a:r>
          </a:p>
        </p:txBody>
      </p:sp>
      <p:grpSp>
        <p:nvGrpSpPr>
          <p:cNvPr name="Group 7" id="7"/>
          <p:cNvGrpSpPr/>
          <p:nvPr/>
        </p:nvGrpSpPr>
        <p:grpSpPr>
          <a:xfrm rot="5400000">
            <a:off x="1918459" y="2930053"/>
            <a:ext cx="5634321" cy="7413838"/>
            <a:chOff x="0" y="0"/>
            <a:chExt cx="1483936" cy="1952616"/>
          </a:xfrm>
        </p:grpSpPr>
        <p:sp>
          <p:nvSpPr>
            <p:cNvPr name="Freeform 8" id="8"/>
            <p:cNvSpPr/>
            <p:nvPr/>
          </p:nvSpPr>
          <p:spPr>
            <a:xfrm flipH="false" flipV="false" rot="0">
              <a:off x="0" y="0"/>
              <a:ext cx="1483936" cy="1952616"/>
            </a:xfrm>
            <a:custGeom>
              <a:avLst/>
              <a:gdLst/>
              <a:ahLst/>
              <a:cxnLst/>
              <a:rect r="r" b="b" t="t" l="l"/>
              <a:pathLst>
                <a:path h="1952616" w="1483936">
                  <a:moveTo>
                    <a:pt x="38474" y="0"/>
                  </a:moveTo>
                  <a:lnTo>
                    <a:pt x="1445462" y="0"/>
                  </a:lnTo>
                  <a:cubicBezTo>
                    <a:pt x="1466711" y="0"/>
                    <a:pt x="1483936" y="17225"/>
                    <a:pt x="1483936" y="38474"/>
                  </a:cubicBezTo>
                  <a:lnTo>
                    <a:pt x="1483936" y="1914142"/>
                  </a:lnTo>
                  <a:cubicBezTo>
                    <a:pt x="1483936" y="1924346"/>
                    <a:pt x="1479883" y="1934132"/>
                    <a:pt x="1472668" y="1941347"/>
                  </a:cubicBezTo>
                  <a:cubicBezTo>
                    <a:pt x="1465452" y="1948562"/>
                    <a:pt x="1455666" y="1952616"/>
                    <a:pt x="1445462" y="1952616"/>
                  </a:cubicBezTo>
                  <a:lnTo>
                    <a:pt x="38474" y="1952616"/>
                  </a:lnTo>
                  <a:cubicBezTo>
                    <a:pt x="17225" y="1952616"/>
                    <a:pt x="0" y="1935390"/>
                    <a:pt x="0" y="1914142"/>
                  </a:cubicBezTo>
                  <a:lnTo>
                    <a:pt x="0" y="38474"/>
                  </a:lnTo>
                  <a:cubicBezTo>
                    <a:pt x="0" y="17225"/>
                    <a:pt x="17225" y="0"/>
                    <a:pt x="38474" y="0"/>
                  </a:cubicBezTo>
                  <a:close/>
                </a:path>
              </a:pathLst>
            </a:custGeom>
            <a:solidFill>
              <a:srgbClr val="00407B"/>
            </a:solidFill>
          </p:spPr>
        </p:sp>
        <p:sp>
          <p:nvSpPr>
            <p:cNvPr name="TextBox 9" id="9"/>
            <p:cNvSpPr txBox="true"/>
            <p:nvPr/>
          </p:nvSpPr>
          <p:spPr>
            <a:xfrm>
              <a:off x="0" y="-38100"/>
              <a:ext cx="1483936" cy="1990716"/>
            </a:xfrm>
            <a:prstGeom prst="rect">
              <a:avLst/>
            </a:prstGeom>
          </p:spPr>
          <p:txBody>
            <a:bodyPr anchor="ctr" rtlCol="false" tIns="50800" lIns="50800" bIns="50800" rIns="50800"/>
            <a:lstStyle/>
            <a:p>
              <a:pPr algn="ctr">
                <a:lnSpc>
                  <a:spcPts val="1774"/>
                </a:lnSpc>
              </a:pPr>
            </a:p>
          </p:txBody>
        </p:sp>
      </p:grpSp>
      <p:grpSp>
        <p:nvGrpSpPr>
          <p:cNvPr name="Group 10" id="10"/>
          <p:cNvGrpSpPr/>
          <p:nvPr/>
        </p:nvGrpSpPr>
        <p:grpSpPr>
          <a:xfrm rot="5400000">
            <a:off x="10735221" y="2930053"/>
            <a:ext cx="5634321" cy="7413838"/>
            <a:chOff x="0" y="0"/>
            <a:chExt cx="1483936" cy="1952616"/>
          </a:xfrm>
        </p:grpSpPr>
        <p:sp>
          <p:nvSpPr>
            <p:cNvPr name="Freeform 11" id="11"/>
            <p:cNvSpPr/>
            <p:nvPr/>
          </p:nvSpPr>
          <p:spPr>
            <a:xfrm flipH="false" flipV="false" rot="0">
              <a:off x="0" y="0"/>
              <a:ext cx="1483936" cy="1952616"/>
            </a:xfrm>
            <a:custGeom>
              <a:avLst/>
              <a:gdLst/>
              <a:ahLst/>
              <a:cxnLst/>
              <a:rect r="r" b="b" t="t" l="l"/>
              <a:pathLst>
                <a:path h="1952616" w="1483936">
                  <a:moveTo>
                    <a:pt x="38474" y="0"/>
                  </a:moveTo>
                  <a:lnTo>
                    <a:pt x="1445462" y="0"/>
                  </a:lnTo>
                  <a:cubicBezTo>
                    <a:pt x="1466711" y="0"/>
                    <a:pt x="1483936" y="17225"/>
                    <a:pt x="1483936" y="38474"/>
                  </a:cubicBezTo>
                  <a:lnTo>
                    <a:pt x="1483936" y="1914142"/>
                  </a:lnTo>
                  <a:cubicBezTo>
                    <a:pt x="1483936" y="1924346"/>
                    <a:pt x="1479883" y="1934132"/>
                    <a:pt x="1472668" y="1941347"/>
                  </a:cubicBezTo>
                  <a:cubicBezTo>
                    <a:pt x="1465452" y="1948562"/>
                    <a:pt x="1455666" y="1952616"/>
                    <a:pt x="1445462" y="1952616"/>
                  </a:cubicBezTo>
                  <a:lnTo>
                    <a:pt x="38474" y="1952616"/>
                  </a:lnTo>
                  <a:cubicBezTo>
                    <a:pt x="17225" y="1952616"/>
                    <a:pt x="0" y="1935390"/>
                    <a:pt x="0" y="1914142"/>
                  </a:cubicBezTo>
                  <a:lnTo>
                    <a:pt x="0" y="38474"/>
                  </a:lnTo>
                  <a:cubicBezTo>
                    <a:pt x="0" y="17225"/>
                    <a:pt x="17225" y="0"/>
                    <a:pt x="38474" y="0"/>
                  </a:cubicBezTo>
                  <a:close/>
                </a:path>
              </a:pathLst>
            </a:custGeom>
            <a:solidFill>
              <a:srgbClr val="00407B"/>
            </a:solidFill>
          </p:spPr>
        </p:sp>
        <p:sp>
          <p:nvSpPr>
            <p:cNvPr name="TextBox 12" id="12"/>
            <p:cNvSpPr txBox="true"/>
            <p:nvPr/>
          </p:nvSpPr>
          <p:spPr>
            <a:xfrm>
              <a:off x="0" y="-38100"/>
              <a:ext cx="1483936" cy="1990716"/>
            </a:xfrm>
            <a:prstGeom prst="rect">
              <a:avLst/>
            </a:prstGeom>
          </p:spPr>
          <p:txBody>
            <a:bodyPr anchor="ctr" rtlCol="false" tIns="50800" lIns="50800" bIns="50800" rIns="50800"/>
            <a:lstStyle/>
            <a:p>
              <a:pPr algn="ctr">
                <a:lnSpc>
                  <a:spcPts val="1774"/>
                </a:lnSpc>
              </a:pPr>
            </a:p>
          </p:txBody>
        </p:sp>
      </p:grpSp>
      <p:sp>
        <p:nvSpPr>
          <p:cNvPr name="TextBox 13" id="13"/>
          <p:cNvSpPr txBox="true"/>
          <p:nvPr/>
        </p:nvSpPr>
        <p:spPr>
          <a:xfrm rot="0">
            <a:off x="1325822" y="4051411"/>
            <a:ext cx="6819593" cy="2264092"/>
          </a:xfrm>
          <a:prstGeom prst="rect">
            <a:avLst/>
          </a:prstGeom>
        </p:spPr>
        <p:txBody>
          <a:bodyPr anchor="t" rtlCol="false" tIns="0" lIns="0" bIns="0" rIns="0">
            <a:spAutoFit/>
          </a:bodyPr>
          <a:lstStyle/>
          <a:p>
            <a:pPr algn="ctr" marL="485775" indent="-242888" lvl="1">
              <a:lnSpc>
                <a:spcPts val="3622"/>
              </a:lnSpc>
              <a:buFont typeface="Arial"/>
              <a:buChar char="•"/>
            </a:pPr>
            <a:r>
              <a:rPr lang="en-US" b="true" sz="2250">
                <a:solidFill>
                  <a:srgbClr val="FFFFFF"/>
                </a:solidFill>
                <a:latin typeface="TT Interphases Bold"/>
                <a:ea typeface="TT Interphases Bold"/>
                <a:cs typeface="TT Interphases Bold"/>
                <a:sym typeface="TT Interphases Bold"/>
              </a:rPr>
              <a:t>Continuidad Técnica:</a:t>
            </a:r>
            <a:r>
              <a:rPr lang="en-US" sz="2250">
                <a:solidFill>
                  <a:srgbClr val="FFFFFF"/>
                </a:solidFill>
                <a:latin typeface="TT Interphases"/>
                <a:ea typeface="TT Interphases"/>
                <a:cs typeface="TT Interphases"/>
                <a:sym typeface="TT Interphases"/>
              </a:rPr>
              <a:t> Al estar construido con tecnologías modernas, gratuitas y ampliamente utilizadas, el proyecto puede ser fácilmente mantenido y actualizado por nuevos desarrolladores.</a:t>
            </a:r>
          </a:p>
        </p:txBody>
      </p:sp>
      <p:sp>
        <p:nvSpPr>
          <p:cNvPr name="TextBox 14" id="14"/>
          <p:cNvSpPr txBox="true"/>
          <p:nvPr/>
        </p:nvSpPr>
        <p:spPr>
          <a:xfrm rot="0">
            <a:off x="10206480" y="4051411"/>
            <a:ext cx="6691803" cy="2264092"/>
          </a:xfrm>
          <a:prstGeom prst="rect">
            <a:avLst/>
          </a:prstGeom>
        </p:spPr>
        <p:txBody>
          <a:bodyPr anchor="t" rtlCol="false" tIns="0" lIns="0" bIns="0" rIns="0">
            <a:spAutoFit/>
          </a:bodyPr>
          <a:lstStyle/>
          <a:p>
            <a:pPr algn="ctr" marL="485775" indent="-242888" lvl="1">
              <a:lnSpc>
                <a:spcPts val="3622"/>
              </a:lnSpc>
              <a:buFont typeface="Arial"/>
              <a:buChar char="•"/>
            </a:pPr>
            <a:r>
              <a:rPr lang="en-US" b="true" sz="2250">
                <a:solidFill>
                  <a:srgbClr val="FFFFFF"/>
                </a:solidFill>
                <a:latin typeface="TT Interphases Bold"/>
                <a:ea typeface="TT Interphases Bold"/>
                <a:cs typeface="TT Interphases Bold"/>
                <a:sym typeface="TT Interphases Bold"/>
              </a:rPr>
              <a:t>Escalabilidad Futura:</a:t>
            </a:r>
            <a:r>
              <a:rPr lang="en-US" sz="2250">
                <a:solidFill>
                  <a:srgbClr val="FFFFFF"/>
                </a:solidFill>
                <a:latin typeface="TT Interphases"/>
                <a:ea typeface="TT Interphases"/>
                <a:cs typeface="TT Interphases"/>
                <a:sym typeface="TT Interphases"/>
              </a:rPr>
              <a:t> La arquitectura basada en APIs y servicios en la nube permite desarrollar sin problemas, además se pueden agregar nuevas funcionalidades, como paneles de análisis de datos.</a:t>
            </a:r>
          </a:p>
        </p:txBody>
      </p:sp>
      <p:sp>
        <p:nvSpPr>
          <p:cNvPr name="TextBox 15" id="15"/>
          <p:cNvSpPr txBox="true"/>
          <p:nvPr/>
        </p:nvSpPr>
        <p:spPr>
          <a:xfrm rot="0">
            <a:off x="1325822" y="6666929"/>
            <a:ext cx="6819593" cy="2264092"/>
          </a:xfrm>
          <a:prstGeom prst="rect">
            <a:avLst/>
          </a:prstGeom>
        </p:spPr>
        <p:txBody>
          <a:bodyPr anchor="t" rtlCol="false" tIns="0" lIns="0" bIns="0" rIns="0">
            <a:spAutoFit/>
          </a:bodyPr>
          <a:lstStyle/>
          <a:p>
            <a:pPr algn="ctr" marL="485775" indent="-242888" lvl="1">
              <a:lnSpc>
                <a:spcPts val="3622"/>
              </a:lnSpc>
              <a:buFont typeface="Arial"/>
              <a:buChar char="•"/>
            </a:pPr>
            <a:r>
              <a:rPr lang="en-US" b="true" sz="2250">
                <a:solidFill>
                  <a:srgbClr val="FFFFFF"/>
                </a:solidFill>
                <a:latin typeface="TT Interphases Bold"/>
                <a:ea typeface="TT Interphases Bold"/>
                <a:cs typeface="TT Interphases Bold"/>
                <a:sym typeface="TT Interphases Bold"/>
              </a:rPr>
              <a:t>Apoyo Institucional:</a:t>
            </a:r>
            <a:r>
              <a:rPr lang="en-US" sz="2250">
                <a:solidFill>
                  <a:srgbClr val="FFFFFF"/>
                </a:solidFill>
                <a:latin typeface="TT Interphases"/>
                <a:ea typeface="TT Interphases"/>
                <a:cs typeface="TT Interphases"/>
                <a:sym typeface="TT Interphases"/>
              </a:rPr>
              <a:t> La solución está directamente alineada con las necesidades de la Municipalidad de San Bernardo, por lo que su adopción como una herramienta de trabajo asegura el compromiso para una mejora continua.</a:t>
            </a:r>
          </a:p>
        </p:txBody>
      </p:sp>
      <p:sp>
        <p:nvSpPr>
          <p:cNvPr name="TextBox 16" id="16"/>
          <p:cNvSpPr txBox="true"/>
          <p:nvPr/>
        </p:nvSpPr>
        <p:spPr>
          <a:xfrm rot="0">
            <a:off x="10206480" y="6666929"/>
            <a:ext cx="6691803" cy="2264092"/>
          </a:xfrm>
          <a:prstGeom prst="rect">
            <a:avLst/>
          </a:prstGeom>
        </p:spPr>
        <p:txBody>
          <a:bodyPr anchor="t" rtlCol="false" tIns="0" lIns="0" bIns="0" rIns="0">
            <a:spAutoFit/>
          </a:bodyPr>
          <a:lstStyle/>
          <a:p>
            <a:pPr algn="ctr" marL="485775" indent="-242888" lvl="1">
              <a:lnSpc>
                <a:spcPts val="3622"/>
              </a:lnSpc>
              <a:buFont typeface="Arial"/>
              <a:buChar char="•"/>
            </a:pPr>
            <a:r>
              <a:rPr lang="en-US" b="true" sz="2250">
                <a:solidFill>
                  <a:srgbClr val="FFFFFF"/>
                </a:solidFill>
                <a:latin typeface="TT Interphases Bold"/>
                <a:ea typeface="TT Interphases Bold"/>
                <a:cs typeface="TT Interphases Bold"/>
                <a:sym typeface="TT Interphases Bold"/>
              </a:rPr>
              <a:t>Comunidad Activa:</a:t>
            </a:r>
            <a:r>
              <a:rPr lang="en-US" sz="2250">
                <a:solidFill>
                  <a:srgbClr val="FFFFFF"/>
                </a:solidFill>
                <a:latin typeface="TT Interphases"/>
                <a:ea typeface="TT Interphases"/>
                <a:cs typeface="TT Interphases"/>
                <a:sym typeface="TT Interphases"/>
              </a:rPr>
              <a:t> Al ser una herramienta para la comunidad, su uso constante generará una base de usuarios que retroalimentará el sistema, reportando incidentes, lo que mantendrá el proyecto vivo y relevante.</a:t>
            </a:r>
          </a:p>
        </p:txBody>
      </p:sp>
      <p:grpSp>
        <p:nvGrpSpPr>
          <p:cNvPr name="Group 17" id="17"/>
          <p:cNvGrpSpPr>
            <a:grpSpLocks noChangeAspect="true"/>
          </p:cNvGrpSpPr>
          <p:nvPr/>
        </p:nvGrpSpPr>
        <p:grpSpPr>
          <a:xfrm rot="0">
            <a:off x="14063826" y="-414141"/>
            <a:ext cx="4224174" cy="2567599"/>
            <a:chOff x="0" y="0"/>
            <a:chExt cx="5632232" cy="3423465"/>
          </a:xfrm>
        </p:grpSpPr>
        <p:sp>
          <p:nvSpPr>
            <p:cNvPr name="Freeform 18" id="18"/>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9" id="19"/>
          <p:cNvGrpSpPr/>
          <p:nvPr/>
        </p:nvGrpSpPr>
        <p:grpSpPr>
          <a:xfrm rot="5400000">
            <a:off x="7583582" y="1046136"/>
            <a:ext cx="3681946" cy="20652693"/>
            <a:chOff x="0" y="0"/>
            <a:chExt cx="969731" cy="5439392"/>
          </a:xfrm>
        </p:grpSpPr>
        <p:sp>
          <p:nvSpPr>
            <p:cNvPr name="Freeform 20" id="20"/>
            <p:cNvSpPr/>
            <p:nvPr/>
          </p:nvSpPr>
          <p:spPr>
            <a:xfrm flipH="false" flipV="false" rot="0">
              <a:off x="0" y="0"/>
              <a:ext cx="969731" cy="5439392"/>
            </a:xfrm>
            <a:custGeom>
              <a:avLst/>
              <a:gdLst/>
              <a:ahLst/>
              <a:cxnLst/>
              <a:rect r="r" b="b" t="t" l="l"/>
              <a:pathLst>
                <a:path h="5439392" w="969731">
                  <a:moveTo>
                    <a:pt x="0" y="0"/>
                  </a:moveTo>
                  <a:lnTo>
                    <a:pt x="969731" y="0"/>
                  </a:lnTo>
                  <a:lnTo>
                    <a:pt x="969731" y="5439392"/>
                  </a:lnTo>
                  <a:lnTo>
                    <a:pt x="0" y="5439392"/>
                  </a:lnTo>
                  <a:close/>
                </a:path>
              </a:pathLst>
            </a:custGeom>
            <a:solidFill>
              <a:srgbClr val="FDB61B"/>
            </a:solidFill>
          </p:spPr>
        </p:sp>
        <p:sp>
          <p:nvSpPr>
            <p:cNvPr name="TextBox 21" id="21"/>
            <p:cNvSpPr txBox="true"/>
            <p:nvPr/>
          </p:nvSpPr>
          <p:spPr>
            <a:xfrm>
              <a:off x="0" y="-38100"/>
              <a:ext cx="969731" cy="5477492"/>
            </a:xfrm>
            <a:prstGeom prst="rect">
              <a:avLst/>
            </a:prstGeom>
          </p:spPr>
          <p:txBody>
            <a:bodyPr anchor="ctr" rtlCol="false" tIns="50800" lIns="50800" bIns="50800" rIns="50800"/>
            <a:lstStyle/>
            <a:p>
              <a:pPr algn="ctr">
                <a:lnSpc>
                  <a:spcPts val="1774"/>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sp>
        <p:nvSpPr>
          <p:cNvPr name="AutoShape 3" id="3"/>
          <p:cNvSpPr/>
          <p:nvPr/>
        </p:nvSpPr>
        <p:spPr>
          <a:xfrm>
            <a:off x="849180" y="8449645"/>
            <a:ext cx="16410120" cy="0"/>
          </a:xfrm>
          <a:prstGeom prst="line">
            <a:avLst/>
          </a:prstGeom>
          <a:ln cap="flat" w="28575">
            <a:solidFill>
              <a:srgbClr val="00407B"/>
            </a:solidFill>
            <a:prstDash val="solid"/>
            <a:headEnd type="none" len="sm" w="sm"/>
            <a:tailEnd type="triangle" len="med" w="lg"/>
          </a:ln>
        </p:spPr>
      </p:sp>
      <p:grpSp>
        <p:nvGrpSpPr>
          <p:cNvPr name="Group 4" id="4"/>
          <p:cNvGrpSpPr/>
          <p:nvPr/>
        </p:nvGrpSpPr>
        <p:grpSpPr>
          <a:xfrm rot="0">
            <a:off x="2632592" y="8361933"/>
            <a:ext cx="224931" cy="224931"/>
            <a:chOff x="0" y="0"/>
            <a:chExt cx="739177" cy="739177"/>
          </a:xfrm>
        </p:grpSpPr>
        <p:sp>
          <p:nvSpPr>
            <p:cNvPr name="Freeform 5" id="5"/>
            <p:cNvSpPr/>
            <p:nvPr/>
          </p:nvSpPr>
          <p:spPr>
            <a:xfrm flipH="false" flipV="false" rot="0">
              <a:off x="0" y="0"/>
              <a:ext cx="739177" cy="739177"/>
            </a:xfrm>
            <a:custGeom>
              <a:avLst/>
              <a:gdLst/>
              <a:ahLst/>
              <a:cxnLst/>
              <a:rect r="r" b="b" t="t" l="l"/>
              <a:pathLst>
                <a:path h="739177" w="739177">
                  <a:moveTo>
                    <a:pt x="369588" y="0"/>
                  </a:moveTo>
                  <a:cubicBezTo>
                    <a:pt x="165470" y="0"/>
                    <a:pt x="0" y="165470"/>
                    <a:pt x="0" y="369588"/>
                  </a:cubicBezTo>
                  <a:cubicBezTo>
                    <a:pt x="0" y="573707"/>
                    <a:pt x="165470" y="739177"/>
                    <a:pt x="369588" y="739177"/>
                  </a:cubicBezTo>
                  <a:cubicBezTo>
                    <a:pt x="573707" y="739177"/>
                    <a:pt x="739177" y="573707"/>
                    <a:pt x="739177" y="369588"/>
                  </a:cubicBezTo>
                  <a:cubicBezTo>
                    <a:pt x="739177" y="165470"/>
                    <a:pt x="573707" y="0"/>
                    <a:pt x="369588" y="0"/>
                  </a:cubicBezTo>
                  <a:close/>
                </a:path>
              </a:pathLst>
            </a:custGeom>
            <a:solidFill>
              <a:srgbClr val="FDB61B"/>
            </a:solidFill>
          </p:spPr>
        </p:sp>
        <p:sp>
          <p:nvSpPr>
            <p:cNvPr name="TextBox 6" id="6"/>
            <p:cNvSpPr txBox="true"/>
            <p:nvPr/>
          </p:nvSpPr>
          <p:spPr>
            <a:xfrm>
              <a:off x="69298" y="40723"/>
              <a:ext cx="600581" cy="629156"/>
            </a:xfrm>
            <a:prstGeom prst="rect">
              <a:avLst/>
            </a:prstGeom>
          </p:spPr>
          <p:txBody>
            <a:bodyPr anchor="ctr" rtlCol="false" tIns="50800" lIns="50800" bIns="50800" rIns="50800"/>
            <a:lstStyle/>
            <a:p>
              <a:pPr algn="ctr">
                <a:lnSpc>
                  <a:spcPts val="2086"/>
                </a:lnSpc>
              </a:pPr>
            </a:p>
          </p:txBody>
        </p:sp>
      </p:grpSp>
      <p:grpSp>
        <p:nvGrpSpPr>
          <p:cNvPr name="Group 7" id="7"/>
          <p:cNvGrpSpPr/>
          <p:nvPr/>
        </p:nvGrpSpPr>
        <p:grpSpPr>
          <a:xfrm rot="0">
            <a:off x="6921435" y="8337179"/>
            <a:ext cx="224931" cy="224931"/>
            <a:chOff x="0" y="0"/>
            <a:chExt cx="739177" cy="739177"/>
          </a:xfrm>
        </p:grpSpPr>
        <p:sp>
          <p:nvSpPr>
            <p:cNvPr name="Freeform 8" id="8"/>
            <p:cNvSpPr/>
            <p:nvPr/>
          </p:nvSpPr>
          <p:spPr>
            <a:xfrm flipH="false" flipV="false" rot="0">
              <a:off x="0" y="0"/>
              <a:ext cx="739177" cy="739177"/>
            </a:xfrm>
            <a:custGeom>
              <a:avLst/>
              <a:gdLst/>
              <a:ahLst/>
              <a:cxnLst/>
              <a:rect r="r" b="b" t="t" l="l"/>
              <a:pathLst>
                <a:path h="739177" w="739177">
                  <a:moveTo>
                    <a:pt x="369588" y="0"/>
                  </a:moveTo>
                  <a:cubicBezTo>
                    <a:pt x="165470" y="0"/>
                    <a:pt x="0" y="165470"/>
                    <a:pt x="0" y="369588"/>
                  </a:cubicBezTo>
                  <a:cubicBezTo>
                    <a:pt x="0" y="573707"/>
                    <a:pt x="165470" y="739177"/>
                    <a:pt x="369588" y="739177"/>
                  </a:cubicBezTo>
                  <a:cubicBezTo>
                    <a:pt x="573707" y="739177"/>
                    <a:pt x="739177" y="573707"/>
                    <a:pt x="739177" y="369588"/>
                  </a:cubicBezTo>
                  <a:cubicBezTo>
                    <a:pt x="739177" y="165470"/>
                    <a:pt x="573707" y="0"/>
                    <a:pt x="369588" y="0"/>
                  </a:cubicBezTo>
                  <a:close/>
                </a:path>
              </a:pathLst>
            </a:custGeom>
            <a:solidFill>
              <a:srgbClr val="FDB61B"/>
            </a:solidFill>
          </p:spPr>
        </p:sp>
        <p:sp>
          <p:nvSpPr>
            <p:cNvPr name="TextBox 9" id="9"/>
            <p:cNvSpPr txBox="true"/>
            <p:nvPr/>
          </p:nvSpPr>
          <p:spPr>
            <a:xfrm>
              <a:off x="69298" y="40723"/>
              <a:ext cx="600581" cy="629156"/>
            </a:xfrm>
            <a:prstGeom prst="rect">
              <a:avLst/>
            </a:prstGeom>
          </p:spPr>
          <p:txBody>
            <a:bodyPr anchor="ctr" rtlCol="false" tIns="50800" lIns="50800" bIns="50800" rIns="50800"/>
            <a:lstStyle/>
            <a:p>
              <a:pPr algn="ctr">
                <a:lnSpc>
                  <a:spcPts val="2086"/>
                </a:lnSpc>
              </a:pPr>
            </a:p>
          </p:txBody>
        </p:sp>
      </p:grpSp>
      <p:grpSp>
        <p:nvGrpSpPr>
          <p:cNvPr name="Group 10" id="10"/>
          <p:cNvGrpSpPr/>
          <p:nvPr/>
        </p:nvGrpSpPr>
        <p:grpSpPr>
          <a:xfrm rot="0">
            <a:off x="11164080" y="8337179"/>
            <a:ext cx="224931" cy="224931"/>
            <a:chOff x="0" y="0"/>
            <a:chExt cx="739177" cy="739177"/>
          </a:xfrm>
        </p:grpSpPr>
        <p:sp>
          <p:nvSpPr>
            <p:cNvPr name="Freeform 11" id="11"/>
            <p:cNvSpPr/>
            <p:nvPr/>
          </p:nvSpPr>
          <p:spPr>
            <a:xfrm flipH="false" flipV="false" rot="0">
              <a:off x="0" y="0"/>
              <a:ext cx="739177" cy="739177"/>
            </a:xfrm>
            <a:custGeom>
              <a:avLst/>
              <a:gdLst/>
              <a:ahLst/>
              <a:cxnLst/>
              <a:rect r="r" b="b" t="t" l="l"/>
              <a:pathLst>
                <a:path h="739177" w="739177">
                  <a:moveTo>
                    <a:pt x="369588" y="0"/>
                  </a:moveTo>
                  <a:cubicBezTo>
                    <a:pt x="165470" y="0"/>
                    <a:pt x="0" y="165470"/>
                    <a:pt x="0" y="369588"/>
                  </a:cubicBezTo>
                  <a:cubicBezTo>
                    <a:pt x="0" y="573707"/>
                    <a:pt x="165470" y="739177"/>
                    <a:pt x="369588" y="739177"/>
                  </a:cubicBezTo>
                  <a:cubicBezTo>
                    <a:pt x="573707" y="739177"/>
                    <a:pt x="739177" y="573707"/>
                    <a:pt x="739177" y="369588"/>
                  </a:cubicBezTo>
                  <a:cubicBezTo>
                    <a:pt x="739177" y="165470"/>
                    <a:pt x="573707" y="0"/>
                    <a:pt x="369588" y="0"/>
                  </a:cubicBezTo>
                  <a:close/>
                </a:path>
              </a:pathLst>
            </a:custGeom>
            <a:solidFill>
              <a:srgbClr val="FDB61B"/>
            </a:solidFill>
          </p:spPr>
        </p:sp>
        <p:sp>
          <p:nvSpPr>
            <p:cNvPr name="TextBox 12" id="12"/>
            <p:cNvSpPr txBox="true"/>
            <p:nvPr/>
          </p:nvSpPr>
          <p:spPr>
            <a:xfrm>
              <a:off x="69298" y="40723"/>
              <a:ext cx="600581" cy="629156"/>
            </a:xfrm>
            <a:prstGeom prst="rect">
              <a:avLst/>
            </a:prstGeom>
          </p:spPr>
          <p:txBody>
            <a:bodyPr anchor="ctr" rtlCol="false" tIns="50800" lIns="50800" bIns="50800" rIns="50800"/>
            <a:lstStyle/>
            <a:p>
              <a:pPr algn="ctr">
                <a:lnSpc>
                  <a:spcPts val="2086"/>
                </a:lnSpc>
              </a:pPr>
            </a:p>
          </p:txBody>
        </p:sp>
      </p:grpSp>
      <p:grpSp>
        <p:nvGrpSpPr>
          <p:cNvPr name="Group 13" id="13"/>
          <p:cNvGrpSpPr/>
          <p:nvPr/>
        </p:nvGrpSpPr>
        <p:grpSpPr>
          <a:xfrm rot="0">
            <a:off x="15416325" y="8337179"/>
            <a:ext cx="224931" cy="224931"/>
            <a:chOff x="0" y="0"/>
            <a:chExt cx="739177" cy="739177"/>
          </a:xfrm>
        </p:grpSpPr>
        <p:sp>
          <p:nvSpPr>
            <p:cNvPr name="Freeform 14" id="14"/>
            <p:cNvSpPr/>
            <p:nvPr/>
          </p:nvSpPr>
          <p:spPr>
            <a:xfrm flipH="false" flipV="false" rot="0">
              <a:off x="0" y="0"/>
              <a:ext cx="739177" cy="739177"/>
            </a:xfrm>
            <a:custGeom>
              <a:avLst/>
              <a:gdLst/>
              <a:ahLst/>
              <a:cxnLst/>
              <a:rect r="r" b="b" t="t" l="l"/>
              <a:pathLst>
                <a:path h="739177" w="739177">
                  <a:moveTo>
                    <a:pt x="369588" y="0"/>
                  </a:moveTo>
                  <a:cubicBezTo>
                    <a:pt x="165470" y="0"/>
                    <a:pt x="0" y="165470"/>
                    <a:pt x="0" y="369588"/>
                  </a:cubicBezTo>
                  <a:cubicBezTo>
                    <a:pt x="0" y="573707"/>
                    <a:pt x="165470" y="739177"/>
                    <a:pt x="369588" y="739177"/>
                  </a:cubicBezTo>
                  <a:cubicBezTo>
                    <a:pt x="573707" y="739177"/>
                    <a:pt x="739177" y="573707"/>
                    <a:pt x="739177" y="369588"/>
                  </a:cubicBezTo>
                  <a:cubicBezTo>
                    <a:pt x="739177" y="165470"/>
                    <a:pt x="573707" y="0"/>
                    <a:pt x="369588" y="0"/>
                  </a:cubicBezTo>
                  <a:close/>
                </a:path>
              </a:pathLst>
            </a:custGeom>
            <a:solidFill>
              <a:srgbClr val="FDB61B"/>
            </a:solidFill>
          </p:spPr>
        </p:sp>
        <p:sp>
          <p:nvSpPr>
            <p:cNvPr name="TextBox 15" id="15"/>
            <p:cNvSpPr txBox="true"/>
            <p:nvPr/>
          </p:nvSpPr>
          <p:spPr>
            <a:xfrm>
              <a:off x="69298" y="40723"/>
              <a:ext cx="600581" cy="629156"/>
            </a:xfrm>
            <a:prstGeom prst="rect">
              <a:avLst/>
            </a:prstGeom>
          </p:spPr>
          <p:txBody>
            <a:bodyPr anchor="ctr" rtlCol="false" tIns="50800" lIns="50800" bIns="50800" rIns="50800"/>
            <a:lstStyle/>
            <a:p>
              <a:pPr algn="ctr">
                <a:lnSpc>
                  <a:spcPts val="2086"/>
                </a:lnSpc>
              </a:pPr>
            </a:p>
          </p:txBody>
        </p:sp>
      </p:grpSp>
      <p:grpSp>
        <p:nvGrpSpPr>
          <p:cNvPr name="Group 16" id="16"/>
          <p:cNvGrpSpPr/>
          <p:nvPr/>
        </p:nvGrpSpPr>
        <p:grpSpPr>
          <a:xfrm rot="0">
            <a:off x="1135332" y="3600463"/>
            <a:ext cx="3219451" cy="4542842"/>
            <a:chOff x="0" y="0"/>
            <a:chExt cx="536591" cy="757163"/>
          </a:xfrm>
        </p:grpSpPr>
        <p:sp>
          <p:nvSpPr>
            <p:cNvPr name="Freeform 17" id="17"/>
            <p:cNvSpPr/>
            <p:nvPr/>
          </p:nvSpPr>
          <p:spPr>
            <a:xfrm flipH="false" flipV="false" rot="0">
              <a:off x="0" y="0"/>
              <a:ext cx="536591" cy="749718"/>
            </a:xfrm>
            <a:custGeom>
              <a:avLst/>
              <a:gdLst/>
              <a:ahLst/>
              <a:cxnLst/>
              <a:rect r="r" b="b" t="t" l="l"/>
              <a:pathLst>
                <a:path h="749718" w="536591">
                  <a:moveTo>
                    <a:pt x="536591" y="52604"/>
                  </a:moveTo>
                  <a:lnTo>
                    <a:pt x="536591" y="590259"/>
                  </a:lnTo>
                  <a:cubicBezTo>
                    <a:pt x="536591" y="622159"/>
                    <a:pt x="517544" y="650977"/>
                    <a:pt x="488197" y="663480"/>
                  </a:cubicBezTo>
                  <a:lnTo>
                    <a:pt x="316690" y="736546"/>
                  </a:lnTo>
                  <a:cubicBezTo>
                    <a:pt x="285772" y="749718"/>
                    <a:pt x="250820" y="749718"/>
                    <a:pt x="219901" y="736546"/>
                  </a:cubicBezTo>
                  <a:lnTo>
                    <a:pt x="48395" y="663480"/>
                  </a:lnTo>
                  <a:cubicBezTo>
                    <a:pt x="19047" y="650977"/>
                    <a:pt x="0" y="622159"/>
                    <a:pt x="0" y="590259"/>
                  </a:cubicBezTo>
                  <a:lnTo>
                    <a:pt x="0" y="52604"/>
                  </a:lnTo>
                  <a:cubicBezTo>
                    <a:pt x="0" y="23551"/>
                    <a:pt x="23551" y="0"/>
                    <a:pt x="52604" y="0"/>
                  </a:cubicBezTo>
                  <a:lnTo>
                    <a:pt x="483988" y="0"/>
                  </a:lnTo>
                  <a:cubicBezTo>
                    <a:pt x="513040" y="0"/>
                    <a:pt x="536591" y="23551"/>
                    <a:pt x="536591" y="52604"/>
                  </a:cubicBezTo>
                  <a:close/>
                </a:path>
              </a:pathLst>
            </a:custGeom>
            <a:solidFill>
              <a:srgbClr val="00407B"/>
            </a:solidFill>
            <a:ln cap="rnd">
              <a:noFill/>
              <a:prstDash val="solid"/>
              <a:round/>
            </a:ln>
          </p:spPr>
        </p:sp>
        <p:sp>
          <p:nvSpPr>
            <p:cNvPr name="TextBox 18" id="18"/>
            <p:cNvSpPr txBox="true"/>
            <p:nvPr/>
          </p:nvSpPr>
          <p:spPr>
            <a:xfrm>
              <a:off x="0" y="-38100"/>
              <a:ext cx="536591" cy="680963"/>
            </a:xfrm>
            <a:prstGeom prst="rect">
              <a:avLst/>
            </a:prstGeom>
          </p:spPr>
          <p:txBody>
            <a:bodyPr anchor="ctr" rtlCol="false" tIns="50800" lIns="50800" bIns="50800" rIns="50800"/>
            <a:lstStyle/>
            <a:p>
              <a:pPr algn="ctr" marL="0" indent="0" lvl="0">
                <a:lnSpc>
                  <a:spcPts val="1774"/>
                </a:lnSpc>
                <a:spcBef>
                  <a:spcPct val="0"/>
                </a:spcBef>
              </a:pPr>
            </a:p>
          </p:txBody>
        </p:sp>
      </p:grpSp>
      <p:sp>
        <p:nvSpPr>
          <p:cNvPr name="TextBox 19" id="19"/>
          <p:cNvSpPr txBox="true"/>
          <p:nvPr/>
        </p:nvSpPr>
        <p:spPr>
          <a:xfrm rot="0">
            <a:off x="1838499" y="8944992"/>
            <a:ext cx="1813117" cy="958055"/>
          </a:xfrm>
          <a:prstGeom prst="rect">
            <a:avLst/>
          </a:prstGeom>
        </p:spPr>
        <p:txBody>
          <a:bodyPr anchor="t" rtlCol="false" tIns="0" lIns="0" bIns="0" rIns="0">
            <a:spAutoFit/>
          </a:bodyPr>
          <a:lstStyle/>
          <a:p>
            <a:pPr algn="ctr">
              <a:lnSpc>
                <a:spcPts val="2569"/>
              </a:lnSpc>
            </a:pPr>
            <a:r>
              <a:rPr lang="en-US" sz="2007" b="true">
                <a:solidFill>
                  <a:srgbClr val="000A1F"/>
                </a:solidFill>
                <a:latin typeface="TT Interphases Bold"/>
                <a:ea typeface="TT Interphases Bold"/>
                <a:cs typeface="TT Interphases Bold"/>
                <a:sym typeface="TT Interphases Bold"/>
              </a:rPr>
              <a:t>¿Qué es el Proyecto?</a:t>
            </a:r>
          </a:p>
          <a:p>
            <a:pPr algn="ctr" marL="0" indent="0" lvl="0">
              <a:lnSpc>
                <a:spcPts val="2569"/>
              </a:lnSpc>
            </a:pPr>
          </a:p>
        </p:txBody>
      </p:sp>
      <p:sp>
        <p:nvSpPr>
          <p:cNvPr name="TextBox 20" id="20"/>
          <p:cNvSpPr txBox="true"/>
          <p:nvPr/>
        </p:nvSpPr>
        <p:spPr>
          <a:xfrm rot="0">
            <a:off x="6101981" y="8944992"/>
            <a:ext cx="1813117" cy="958055"/>
          </a:xfrm>
          <a:prstGeom prst="rect">
            <a:avLst/>
          </a:prstGeom>
        </p:spPr>
        <p:txBody>
          <a:bodyPr anchor="t" rtlCol="false" tIns="0" lIns="0" bIns="0" rIns="0">
            <a:spAutoFit/>
          </a:bodyPr>
          <a:lstStyle/>
          <a:p>
            <a:pPr algn="ctr" marL="0" indent="0" lvl="0">
              <a:lnSpc>
                <a:spcPts val="2569"/>
              </a:lnSpc>
              <a:spcBef>
                <a:spcPct val="0"/>
              </a:spcBef>
            </a:pPr>
            <a:r>
              <a:rPr lang="en-US" b="true" sz="2007">
                <a:solidFill>
                  <a:srgbClr val="000A1F"/>
                </a:solidFill>
                <a:latin typeface="TT Interphases Bold"/>
                <a:ea typeface="TT Interphases Bold"/>
                <a:cs typeface="TT Interphases Bold"/>
                <a:sym typeface="TT Interphases Bold"/>
              </a:rPr>
              <a:t>¿Cómo s</a:t>
            </a:r>
            <a:r>
              <a:rPr lang="en-US" b="true" sz="2007" strike="noStrike" u="none">
                <a:solidFill>
                  <a:srgbClr val="000A1F"/>
                </a:solidFill>
                <a:latin typeface="TT Interphases Bold"/>
                <a:ea typeface="TT Interphases Bold"/>
                <a:cs typeface="TT Interphases Bold"/>
                <a:sym typeface="TT Interphases Bold"/>
              </a:rPr>
              <a:t>e Diferencia?</a:t>
            </a:r>
          </a:p>
          <a:p>
            <a:pPr algn="ctr" marL="0" indent="0" lvl="0">
              <a:lnSpc>
                <a:spcPts val="2569"/>
              </a:lnSpc>
              <a:spcBef>
                <a:spcPct val="0"/>
              </a:spcBef>
            </a:pPr>
          </a:p>
        </p:txBody>
      </p:sp>
      <p:sp>
        <p:nvSpPr>
          <p:cNvPr name="TextBox 21" id="21"/>
          <p:cNvSpPr txBox="true"/>
          <p:nvPr/>
        </p:nvSpPr>
        <p:spPr>
          <a:xfrm rot="0">
            <a:off x="10369183" y="8944992"/>
            <a:ext cx="1813117" cy="958055"/>
          </a:xfrm>
          <a:prstGeom prst="rect">
            <a:avLst/>
          </a:prstGeom>
        </p:spPr>
        <p:txBody>
          <a:bodyPr anchor="t" rtlCol="false" tIns="0" lIns="0" bIns="0" rIns="0">
            <a:spAutoFit/>
          </a:bodyPr>
          <a:lstStyle/>
          <a:p>
            <a:pPr algn="ctr" marL="0" indent="0" lvl="0">
              <a:lnSpc>
                <a:spcPts val="2569"/>
              </a:lnSpc>
              <a:spcBef>
                <a:spcPct val="0"/>
              </a:spcBef>
            </a:pPr>
            <a:r>
              <a:rPr lang="en-US" b="true" sz="2007">
                <a:solidFill>
                  <a:srgbClr val="000A1F"/>
                </a:solidFill>
                <a:latin typeface="TT Interphases Bold"/>
                <a:ea typeface="TT Interphases Bold"/>
                <a:cs typeface="TT Interphases Bold"/>
                <a:sym typeface="TT Interphases Bold"/>
              </a:rPr>
              <a:t>¿Para Quién Está H</a:t>
            </a:r>
            <a:r>
              <a:rPr lang="en-US" b="true" sz="2007" strike="noStrike" u="none">
                <a:solidFill>
                  <a:srgbClr val="000A1F"/>
                </a:solidFill>
                <a:latin typeface="TT Interphases Bold"/>
                <a:ea typeface="TT Interphases Bold"/>
                <a:cs typeface="TT Interphases Bold"/>
                <a:sym typeface="TT Interphases Bold"/>
              </a:rPr>
              <a:t>echo?</a:t>
            </a:r>
          </a:p>
          <a:p>
            <a:pPr algn="ctr" marL="0" indent="0" lvl="0">
              <a:lnSpc>
                <a:spcPts val="2569"/>
              </a:lnSpc>
              <a:spcBef>
                <a:spcPct val="0"/>
              </a:spcBef>
            </a:pPr>
          </a:p>
        </p:txBody>
      </p:sp>
      <p:sp>
        <p:nvSpPr>
          <p:cNvPr name="TextBox 22" id="22"/>
          <p:cNvSpPr txBox="true"/>
          <p:nvPr/>
        </p:nvSpPr>
        <p:spPr>
          <a:xfrm rot="0">
            <a:off x="14636384" y="8944992"/>
            <a:ext cx="1813117" cy="958055"/>
          </a:xfrm>
          <a:prstGeom prst="rect">
            <a:avLst/>
          </a:prstGeom>
        </p:spPr>
        <p:txBody>
          <a:bodyPr anchor="t" rtlCol="false" tIns="0" lIns="0" bIns="0" rIns="0">
            <a:spAutoFit/>
          </a:bodyPr>
          <a:lstStyle/>
          <a:p>
            <a:pPr algn="ctr" marL="0" indent="0" lvl="0">
              <a:lnSpc>
                <a:spcPts val="2569"/>
              </a:lnSpc>
              <a:spcBef>
                <a:spcPct val="0"/>
              </a:spcBef>
            </a:pPr>
            <a:r>
              <a:rPr lang="en-US" b="true" sz="2007">
                <a:solidFill>
                  <a:srgbClr val="000A1F"/>
                </a:solidFill>
                <a:latin typeface="TT Interphases Bold"/>
                <a:ea typeface="TT Interphases Bold"/>
                <a:cs typeface="TT Interphases Bold"/>
                <a:sym typeface="TT Interphases Bold"/>
              </a:rPr>
              <a:t>¿</a:t>
            </a:r>
            <a:r>
              <a:rPr lang="en-US" b="true" sz="2007" strike="noStrike" u="none">
                <a:solidFill>
                  <a:srgbClr val="000A1F"/>
                </a:solidFill>
                <a:latin typeface="TT Interphases Bold"/>
                <a:ea typeface="TT Interphases Bold"/>
                <a:cs typeface="TT Interphases Bold"/>
                <a:sym typeface="TT Interphases Bold"/>
              </a:rPr>
              <a:t>Cómo Entrega Valor?</a:t>
            </a:r>
          </a:p>
          <a:p>
            <a:pPr algn="ctr" marL="0" indent="0" lvl="0">
              <a:lnSpc>
                <a:spcPts val="2569"/>
              </a:lnSpc>
              <a:spcBef>
                <a:spcPct val="0"/>
              </a:spcBef>
            </a:pPr>
          </a:p>
        </p:txBody>
      </p:sp>
      <p:sp>
        <p:nvSpPr>
          <p:cNvPr name="TextBox 23" id="23"/>
          <p:cNvSpPr txBox="true"/>
          <p:nvPr/>
        </p:nvSpPr>
        <p:spPr>
          <a:xfrm rot="0">
            <a:off x="1271571" y="4360647"/>
            <a:ext cx="2965193" cy="2217420"/>
          </a:xfrm>
          <a:prstGeom prst="rect">
            <a:avLst/>
          </a:prstGeom>
        </p:spPr>
        <p:txBody>
          <a:bodyPr anchor="t" rtlCol="false" tIns="0" lIns="0" bIns="0" rIns="0">
            <a:spAutoFit/>
          </a:bodyPr>
          <a:lstStyle/>
          <a:p>
            <a:pPr algn="ctr" marL="0" indent="0" lvl="0">
              <a:lnSpc>
                <a:spcPts val="2940"/>
              </a:lnSpc>
            </a:pPr>
            <a:r>
              <a:rPr lang="en-US" sz="2000">
                <a:solidFill>
                  <a:srgbClr val="FFFFFF"/>
                </a:solidFill>
                <a:latin typeface="TT Interphases"/>
                <a:ea typeface="TT Interphases"/>
                <a:cs typeface="TT Interphases"/>
                <a:sym typeface="TT Interphases"/>
              </a:rPr>
              <a:t>Una</a:t>
            </a:r>
            <a:r>
              <a:rPr lang="en-US" sz="2000" strike="noStrike" u="none">
                <a:solidFill>
                  <a:srgbClr val="FFFFFF"/>
                </a:solidFill>
                <a:latin typeface="TT Interphases"/>
                <a:ea typeface="TT Interphases"/>
                <a:cs typeface="TT Interphases"/>
                <a:sym typeface="TT Interphases"/>
              </a:rPr>
              <a:t> plataforma digital web y móvil que centraliza y agiliza la gestión de la seguridad ciudadana para la municipalidad de San Bernardo.</a:t>
            </a:r>
          </a:p>
        </p:txBody>
      </p:sp>
      <p:grpSp>
        <p:nvGrpSpPr>
          <p:cNvPr name="Group 24" id="24"/>
          <p:cNvGrpSpPr/>
          <p:nvPr/>
        </p:nvGrpSpPr>
        <p:grpSpPr>
          <a:xfrm rot="5400000">
            <a:off x="7080022" y="-3027191"/>
            <a:ext cx="4127957" cy="6575850"/>
            <a:chOff x="0" y="0"/>
            <a:chExt cx="1087198" cy="1731911"/>
          </a:xfrm>
        </p:grpSpPr>
        <p:sp>
          <p:nvSpPr>
            <p:cNvPr name="Freeform 25" id="25"/>
            <p:cNvSpPr/>
            <p:nvPr/>
          </p:nvSpPr>
          <p:spPr>
            <a:xfrm flipH="false" flipV="false" rot="0">
              <a:off x="0" y="0"/>
              <a:ext cx="1087198" cy="1731911"/>
            </a:xfrm>
            <a:custGeom>
              <a:avLst/>
              <a:gdLst/>
              <a:ahLst/>
              <a:cxnLst/>
              <a:rect r="r" b="b" t="t" l="l"/>
              <a:pathLst>
                <a:path h="1731911" w="1087198">
                  <a:moveTo>
                    <a:pt x="52514" y="0"/>
                  </a:moveTo>
                  <a:lnTo>
                    <a:pt x="1034685" y="0"/>
                  </a:lnTo>
                  <a:cubicBezTo>
                    <a:pt x="1063687" y="0"/>
                    <a:pt x="1087198" y="23511"/>
                    <a:pt x="1087198" y="52514"/>
                  </a:cubicBezTo>
                  <a:lnTo>
                    <a:pt x="1087198" y="1679397"/>
                  </a:lnTo>
                  <a:cubicBezTo>
                    <a:pt x="1087198" y="1693325"/>
                    <a:pt x="1081666" y="1706682"/>
                    <a:pt x="1071818" y="1716530"/>
                  </a:cubicBezTo>
                  <a:cubicBezTo>
                    <a:pt x="1061969" y="1726378"/>
                    <a:pt x="1048612" y="1731911"/>
                    <a:pt x="1034685" y="1731911"/>
                  </a:cubicBezTo>
                  <a:lnTo>
                    <a:pt x="52514" y="1731911"/>
                  </a:lnTo>
                  <a:cubicBezTo>
                    <a:pt x="38586" y="1731911"/>
                    <a:pt x="25229" y="1726378"/>
                    <a:pt x="15381" y="1716530"/>
                  </a:cubicBezTo>
                  <a:cubicBezTo>
                    <a:pt x="5533" y="1706682"/>
                    <a:pt x="0" y="1693325"/>
                    <a:pt x="0" y="1679397"/>
                  </a:cubicBezTo>
                  <a:lnTo>
                    <a:pt x="0" y="52514"/>
                  </a:lnTo>
                  <a:cubicBezTo>
                    <a:pt x="0" y="23511"/>
                    <a:pt x="23511" y="0"/>
                    <a:pt x="52514" y="0"/>
                  </a:cubicBezTo>
                  <a:close/>
                </a:path>
              </a:pathLst>
            </a:custGeom>
            <a:solidFill>
              <a:srgbClr val="FDB61B"/>
            </a:solidFill>
          </p:spPr>
        </p:sp>
        <p:sp>
          <p:nvSpPr>
            <p:cNvPr name="TextBox 26" id="26"/>
            <p:cNvSpPr txBox="true"/>
            <p:nvPr/>
          </p:nvSpPr>
          <p:spPr>
            <a:xfrm>
              <a:off x="0" y="-38100"/>
              <a:ext cx="1087198" cy="1770011"/>
            </a:xfrm>
            <a:prstGeom prst="rect">
              <a:avLst/>
            </a:prstGeom>
          </p:spPr>
          <p:txBody>
            <a:bodyPr anchor="ctr" rtlCol="false" tIns="50800" lIns="50800" bIns="50800" rIns="50800"/>
            <a:lstStyle/>
            <a:p>
              <a:pPr algn="ctr">
                <a:lnSpc>
                  <a:spcPts val="1774"/>
                </a:lnSpc>
              </a:pPr>
            </a:p>
          </p:txBody>
        </p:sp>
      </p:grpSp>
      <p:sp>
        <p:nvSpPr>
          <p:cNvPr name="TextBox 27" id="27"/>
          <p:cNvSpPr txBox="true"/>
          <p:nvPr/>
        </p:nvSpPr>
        <p:spPr>
          <a:xfrm rot="0">
            <a:off x="6086170" y="251208"/>
            <a:ext cx="6115660" cy="162130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MODELO DE NEGOCIO</a:t>
            </a:r>
          </a:p>
        </p:txBody>
      </p:sp>
      <p:grpSp>
        <p:nvGrpSpPr>
          <p:cNvPr name="Group 28" id="28"/>
          <p:cNvGrpSpPr/>
          <p:nvPr/>
        </p:nvGrpSpPr>
        <p:grpSpPr>
          <a:xfrm rot="0">
            <a:off x="5398814" y="3600463"/>
            <a:ext cx="3219451" cy="4542842"/>
            <a:chOff x="0" y="0"/>
            <a:chExt cx="536591" cy="757163"/>
          </a:xfrm>
        </p:grpSpPr>
        <p:sp>
          <p:nvSpPr>
            <p:cNvPr name="Freeform 29" id="29"/>
            <p:cNvSpPr/>
            <p:nvPr/>
          </p:nvSpPr>
          <p:spPr>
            <a:xfrm flipH="false" flipV="false" rot="0">
              <a:off x="0" y="0"/>
              <a:ext cx="536591" cy="749718"/>
            </a:xfrm>
            <a:custGeom>
              <a:avLst/>
              <a:gdLst/>
              <a:ahLst/>
              <a:cxnLst/>
              <a:rect r="r" b="b" t="t" l="l"/>
              <a:pathLst>
                <a:path h="749718" w="536591">
                  <a:moveTo>
                    <a:pt x="536591" y="52604"/>
                  </a:moveTo>
                  <a:lnTo>
                    <a:pt x="536591" y="590259"/>
                  </a:lnTo>
                  <a:cubicBezTo>
                    <a:pt x="536591" y="622159"/>
                    <a:pt x="517544" y="650977"/>
                    <a:pt x="488197" y="663480"/>
                  </a:cubicBezTo>
                  <a:lnTo>
                    <a:pt x="316690" y="736546"/>
                  </a:lnTo>
                  <a:cubicBezTo>
                    <a:pt x="285772" y="749718"/>
                    <a:pt x="250820" y="749718"/>
                    <a:pt x="219901" y="736546"/>
                  </a:cubicBezTo>
                  <a:lnTo>
                    <a:pt x="48395" y="663480"/>
                  </a:lnTo>
                  <a:cubicBezTo>
                    <a:pt x="19047" y="650977"/>
                    <a:pt x="0" y="622159"/>
                    <a:pt x="0" y="590259"/>
                  </a:cubicBezTo>
                  <a:lnTo>
                    <a:pt x="0" y="52604"/>
                  </a:lnTo>
                  <a:cubicBezTo>
                    <a:pt x="0" y="23551"/>
                    <a:pt x="23551" y="0"/>
                    <a:pt x="52604" y="0"/>
                  </a:cubicBezTo>
                  <a:lnTo>
                    <a:pt x="483988" y="0"/>
                  </a:lnTo>
                  <a:cubicBezTo>
                    <a:pt x="513040" y="0"/>
                    <a:pt x="536591" y="23551"/>
                    <a:pt x="536591" y="52604"/>
                  </a:cubicBezTo>
                  <a:close/>
                </a:path>
              </a:pathLst>
            </a:custGeom>
            <a:solidFill>
              <a:srgbClr val="00407B"/>
            </a:solidFill>
            <a:ln cap="rnd">
              <a:noFill/>
              <a:prstDash val="solid"/>
              <a:round/>
            </a:ln>
          </p:spPr>
        </p:sp>
        <p:sp>
          <p:nvSpPr>
            <p:cNvPr name="TextBox 30" id="30"/>
            <p:cNvSpPr txBox="true"/>
            <p:nvPr/>
          </p:nvSpPr>
          <p:spPr>
            <a:xfrm>
              <a:off x="0" y="-38100"/>
              <a:ext cx="536591" cy="680963"/>
            </a:xfrm>
            <a:prstGeom prst="rect">
              <a:avLst/>
            </a:prstGeom>
          </p:spPr>
          <p:txBody>
            <a:bodyPr anchor="ctr" rtlCol="false" tIns="50800" lIns="50800" bIns="50800" rIns="50800"/>
            <a:lstStyle/>
            <a:p>
              <a:pPr algn="ctr" marL="0" indent="0" lvl="0">
                <a:lnSpc>
                  <a:spcPts val="1774"/>
                </a:lnSpc>
                <a:spcBef>
                  <a:spcPct val="0"/>
                </a:spcBef>
              </a:pPr>
            </a:p>
          </p:txBody>
        </p:sp>
      </p:grpSp>
      <p:sp>
        <p:nvSpPr>
          <p:cNvPr name="TextBox 31" id="31"/>
          <p:cNvSpPr txBox="true"/>
          <p:nvPr/>
        </p:nvSpPr>
        <p:spPr>
          <a:xfrm rot="0">
            <a:off x="5525943" y="3682255"/>
            <a:ext cx="2965193" cy="3818677"/>
          </a:xfrm>
          <a:prstGeom prst="rect">
            <a:avLst/>
          </a:prstGeom>
        </p:spPr>
        <p:txBody>
          <a:bodyPr anchor="t" rtlCol="false" tIns="0" lIns="0" bIns="0" rIns="0">
            <a:spAutoFit/>
          </a:bodyPr>
          <a:lstStyle/>
          <a:p>
            <a:pPr algn="ctr" marL="0" indent="0" lvl="0">
              <a:lnSpc>
                <a:spcPts val="2940"/>
              </a:lnSpc>
            </a:pPr>
            <a:r>
              <a:rPr lang="en-US" b="true" sz="2000">
                <a:solidFill>
                  <a:srgbClr val="FCFEFD"/>
                </a:solidFill>
                <a:latin typeface="TT Interphases Bold"/>
                <a:ea typeface="TT Interphases Bold"/>
                <a:cs typeface="TT Interphases Bold"/>
                <a:sym typeface="TT Interphases Bold"/>
              </a:rPr>
              <a:t>In</a:t>
            </a:r>
            <a:r>
              <a:rPr lang="en-US" b="true" sz="2000" strike="noStrike" u="none">
                <a:solidFill>
                  <a:srgbClr val="FCFEFD"/>
                </a:solidFill>
                <a:latin typeface="TT Interphases Bold"/>
                <a:ea typeface="TT Interphases Bold"/>
                <a:cs typeface="TT Interphases Bold"/>
                <a:sym typeface="TT Interphases Bold"/>
              </a:rPr>
              <a:t>tegración Total:</a:t>
            </a:r>
            <a:r>
              <a:rPr lang="en-US" sz="2000" strike="noStrike" u="none">
                <a:solidFill>
                  <a:srgbClr val="FCFEFD"/>
                </a:solidFill>
                <a:latin typeface="TT Interphases"/>
                <a:ea typeface="TT Interphases"/>
                <a:cs typeface="TT Interphases"/>
                <a:sym typeface="TT Interphases"/>
              </a:rPr>
              <a:t> Conectada en tiempo real a la base de datos, la plataforma web para funcionarios y la app móvil para la comunidad.</a:t>
            </a:r>
          </a:p>
          <a:p>
            <a:pPr algn="ctr">
              <a:lnSpc>
                <a:spcPts val="1028"/>
              </a:lnSpc>
            </a:pPr>
          </a:p>
          <a:p>
            <a:pPr algn="ctr" marL="0" indent="0" lvl="0">
              <a:lnSpc>
                <a:spcPts val="2940"/>
              </a:lnSpc>
            </a:pPr>
            <a:r>
              <a:rPr lang="en-US" b="true" sz="2000" strike="noStrike" u="none">
                <a:solidFill>
                  <a:srgbClr val="FCFEFD"/>
                </a:solidFill>
                <a:latin typeface="TT Interphases Bold"/>
                <a:ea typeface="TT Interphases Bold"/>
                <a:cs typeface="TT Interphases Bold"/>
                <a:sym typeface="TT Interphases Bold"/>
              </a:rPr>
              <a:t>Arquitectura Escalable:</a:t>
            </a:r>
            <a:r>
              <a:rPr lang="en-US" sz="2000" strike="noStrike" u="none">
                <a:solidFill>
                  <a:srgbClr val="FCFEFD"/>
                </a:solidFill>
                <a:latin typeface="TT Interphases"/>
                <a:ea typeface="TT Interphases"/>
                <a:cs typeface="TT Interphases"/>
                <a:sym typeface="TT Interphases"/>
              </a:rPr>
              <a:t> Usa tecnologías modernas que permiten  adaptarse fácilmente.</a:t>
            </a:r>
          </a:p>
        </p:txBody>
      </p:sp>
      <p:grpSp>
        <p:nvGrpSpPr>
          <p:cNvPr name="Group 32" id="32"/>
          <p:cNvGrpSpPr/>
          <p:nvPr/>
        </p:nvGrpSpPr>
        <p:grpSpPr>
          <a:xfrm rot="0">
            <a:off x="9666015" y="3600463"/>
            <a:ext cx="3219451" cy="4542842"/>
            <a:chOff x="0" y="0"/>
            <a:chExt cx="536591" cy="757163"/>
          </a:xfrm>
        </p:grpSpPr>
        <p:sp>
          <p:nvSpPr>
            <p:cNvPr name="Freeform 33" id="33"/>
            <p:cNvSpPr/>
            <p:nvPr/>
          </p:nvSpPr>
          <p:spPr>
            <a:xfrm flipH="false" flipV="false" rot="0">
              <a:off x="0" y="0"/>
              <a:ext cx="536591" cy="749718"/>
            </a:xfrm>
            <a:custGeom>
              <a:avLst/>
              <a:gdLst/>
              <a:ahLst/>
              <a:cxnLst/>
              <a:rect r="r" b="b" t="t" l="l"/>
              <a:pathLst>
                <a:path h="749718" w="536591">
                  <a:moveTo>
                    <a:pt x="536591" y="52604"/>
                  </a:moveTo>
                  <a:lnTo>
                    <a:pt x="536591" y="590259"/>
                  </a:lnTo>
                  <a:cubicBezTo>
                    <a:pt x="536591" y="622159"/>
                    <a:pt x="517544" y="650977"/>
                    <a:pt x="488197" y="663480"/>
                  </a:cubicBezTo>
                  <a:lnTo>
                    <a:pt x="316690" y="736546"/>
                  </a:lnTo>
                  <a:cubicBezTo>
                    <a:pt x="285772" y="749718"/>
                    <a:pt x="250820" y="749718"/>
                    <a:pt x="219901" y="736546"/>
                  </a:cubicBezTo>
                  <a:lnTo>
                    <a:pt x="48395" y="663480"/>
                  </a:lnTo>
                  <a:cubicBezTo>
                    <a:pt x="19047" y="650977"/>
                    <a:pt x="0" y="622159"/>
                    <a:pt x="0" y="590259"/>
                  </a:cubicBezTo>
                  <a:lnTo>
                    <a:pt x="0" y="52604"/>
                  </a:lnTo>
                  <a:cubicBezTo>
                    <a:pt x="0" y="23551"/>
                    <a:pt x="23551" y="0"/>
                    <a:pt x="52604" y="0"/>
                  </a:cubicBezTo>
                  <a:lnTo>
                    <a:pt x="483988" y="0"/>
                  </a:lnTo>
                  <a:cubicBezTo>
                    <a:pt x="513040" y="0"/>
                    <a:pt x="536591" y="23551"/>
                    <a:pt x="536591" y="52604"/>
                  </a:cubicBezTo>
                  <a:close/>
                </a:path>
              </a:pathLst>
            </a:custGeom>
            <a:solidFill>
              <a:srgbClr val="00407B"/>
            </a:solidFill>
            <a:ln cap="rnd">
              <a:noFill/>
              <a:prstDash val="solid"/>
              <a:round/>
            </a:ln>
          </p:spPr>
        </p:sp>
        <p:sp>
          <p:nvSpPr>
            <p:cNvPr name="TextBox 34" id="34"/>
            <p:cNvSpPr txBox="true"/>
            <p:nvPr/>
          </p:nvSpPr>
          <p:spPr>
            <a:xfrm>
              <a:off x="0" y="-38100"/>
              <a:ext cx="536591" cy="680963"/>
            </a:xfrm>
            <a:prstGeom prst="rect">
              <a:avLst/>
            </a:prstGeom>
          </p:spPr>
          <p:txBody>
            <a:bodyPr anchor="ctr" rtlCol="false" tIns="50800" lIns="50800" bIns="50800" rIns="50800"/>
            <a:lstStyle/>
            <a:p>
              <a:pPr algn="ctr" marL="0" indent="0" lvl="0">
                <a:lnSpc>
                  <a:spcPts val="1774"/>
                </a:lnSpc>
                <a:spcBef>
                  <a:spcPct val="0"/>
                </a:spcBef>
              </a:pPr>
            </a:p>
          </p:txBody>
        </p:sp>
      </p:grpSp>
      <p:sp>
        <p:nvSpPr>
          <p:cNvPr name="TextBox 35" id="35"/>
          <p:cNvSpPr txBox="true"/>
          <p:nvPr/>
        </p:nvSpPr>
        <p:spPr>
          <a:xfrm rot="0">
            <a:off x="9793949" y="3682255"/>
            <a:ext cx="2965193" cy="2812444"/>
          </a:xfrm>
          <a:prstGeom prst="rect">
            <a:avLst/>
          </a:prstGeom>
        </p:spPr>
        <p:txBody>
          <a:bodyPr anchor="t" rtlCol="false" tIns="0" lIns="0" bIns="0" rIns="0">
            <a:spAutoFit/>
          </a:bodyPr>
          <a:lstStyle/>
          <a:p>
            <a:pPr algn="ctr">
              <a:lnSpc>
                <a:spcPts val="2940"/>
              </a:lnSpc>
            </a:pPr>
            <a:r>
              <a:rPr lang="en-US" b="true" sz="2000">
                <a:solidFill>
                  <a:srgbClr val="FFFFFF"/>
                </a:solidFill>
                <a:latin typeface="TT Interphases Bold"/>
                <a:ea typeface="TT Interphases Bold"/>
                <a:cs typeface="TT Interphases Bold"/>
                <a:sym typeface="TT Interphases Bold"/>
              </a:rPr>
              <a:t>Clien</a:t>
            </a:r>
            <a:r>
              <a:rPr lang="en-US" b="true" sz="2000" strike="noStrike" u="none">
                <a:solidFill>
                  <a:srgbClr val="FFFFFF"/>
                </a:solidFill>
                <a:latin typeface="TT Interphases Bold"/>
                <a:ea typeface="TT Interphases Bold"/>
                <a:cs typeface="TT Interphases Bold"/>
                <a:sym typeface="TT Interphases Bold"/>
              </a:rPr>
              <a:t>tes Principales:</a:t>
            </a:r>
            <a:r>
              <a:rPr lang="en-US" sz="2000" strike="noStrike" u="none">
                <a:solidFill>
                  <a:srgbClr val="FFFFFF"/>
                </a:solidFill>
                <a:latin typeface="TT Interphases"/>
                <a:ea typeface="TT Interphases"/>
                <a:cs typeface="TT Interphases"/>
                <a:sym typeface="TT Interphases"/>
              </a:rPr>
              <a:t> Municipalidad de</a:t>
            </a:r>
            <a:r>
              <a:rPr lang="en-US" sz="2000" strike="noStrike" u="none">
                <a:solidFill>
                  <a:srgbClr val="FFFFFF"/>
                </a:solidFill>
                <a:latin typeface="TT Interphases"/>
                <a:ea typeface="TT Interphases"/>
                <a:cs typeface="TT Interphases"/>
                <a:sym typeface="TT Interphases"/>
              </a:rPr>
              <a:t> San Bernardo y sus ciudadanos.</a:t>
            </a:r>
          </a:p>
          <a:p>
            <a:pPr algn="ctr">
              <a:lnSpc>
                <a:spcPts val="588"/>
              </a:lnSpc>
            </a:pPr>
          </a:p>
          <a:p>
            <a:pPr algn="ctr">
              <a:lnSpc>
                <a:spcPts val="588"/>
              </a:lnSpc>
            </a:pPr>
          </a:p>
          <a:p>
            <a:pPr algn="ctr">
              <a:lnSpc>
                <a:spcPts val="588"/>
              </a:lnSpc>
            </a:pPr>
          </a:p>
          <a:p>
            <a:pPr algn="ctr">
              <a:lnSpc>
                <a:spcPts val="2940"/>
              </a:lnSpc>
            </a:pPr>
            <a:r>
              <a:rPr lang="en-US" b="true" sz="2000" strike="noStrike" u="none">
                <a:solidFill>
                  <a:srgbClr val="FFFFFF"/>
                </a:solidFill>
                <a:latin typeface="TT Interphases Bold"/>
                <a:ea typeface="TT Interphases Bold"/>
                <a:cs typeface="TT Interphases Bold"/>
                <a:sym typeface="TT Interphases Bold"/>
              </a:rPr>
              <a:t>Usuarios Finales:</a:t>
            </a:r>
            <a:r>
              <a:rPr lang="en-US" sz="2000" strike="noStrike" u="none">
                <a:solidFill>
                  <a:srgbClr val="FFFFFF"/>
                </a:solidFill>
                <a:latin typeface="TT Interphases"/>
                <a:ea typeface="TT Interphases"/>
                <a:cs typeface="TT Interphases"/>
                <a:sym typeface="TT Interphases"/>
              </a:rPr>
              <a:t> Funcionarios municipales y ciudadanos.</a:t>
            </a:r>
          </a:p>
        </p:txBody>
      </p:sp>
      <p:grpSp>
        <p:nvGrpSpPr>
          <p:cNvPr name="Group 36" id="36"/>
          <p:cNvGrpSpPr/>
          <p:nvPr/>
        </p:nvGrpSpPr>
        <p:grpSpPr>
          <a:xfrm rot="0">
            <a:off x="13933217" y="3600463"/>
            <a:ext cx="3219451" cy="4542842"/>
            <a:chOff x="0" y="0"/>
            <a:chExt cx="536591" cy="757163"/>
          </a:xfrm>
        </p:grpSpPr>
        <p:sp>
          <p:nvSpPr>
            <p:cNvPr name="Freeform 37" id="37"/>
            <p:cNvSpPr/>
            <p:nvPr/>
          </p:nvSpPr>
          <p:spPr>
            <a:xfrm flipH="false" flipV="false" rot="0">
              <a:off x="0" y="0"/>
              <a:ext cx="536591" cy="749718"/>
            </a:xfrm>
            <a:custGeom>
              <a:avLst/>
              <a:gdLst/>
              <a:ahLst/>
              <a:cxnLst/>
              <a:rect r="r" b="b" t="t" l="l"/>
              <a:pathLst>
                <a:path h="749718" w="536591">
                  <a:moveTo>
                    <a:pt x="536591" y="52604"/>
                  </a:moveTo>
                  <a:lnTo>
                    <a:pt x="536591" y="590259"/>
                  </a:lnTo>
                  <a:cubicBezTo>
                    <a:pt x="536591" y="622159"/>
                    <a:pt x="517544" y="650977"/>
                    <a:pt x="488197" y="663480"/>
                  </a:cubicBezTo>
                  <a:lnTo>
                    <a:pt x="316690" y="736546"/>
                  </a:lnTo>
                  <a:cubicBezTo>
                    <a:pt x="285772" y="749718"/>
                    <a:pt x="250820" y="749718"/>
                    <a:pt x="219901" y="736546"/>
                  </a:cubicBezTo>
                  <a:lnTo>
                    <a:pt x="48395" y="663480"/>
                  </a:lnTo>
                  <a:cubicBezTo>
                    <a:pt x="19047" y="650977"/>
                    <a:pt x="0" y="622159"/>
                    <a:pt x="0" y="590259"/>
                  </a:cubicBezTo>
                  <a:lnTo>
                    <a:pt x="0" y="52604"/>
                  </a:lnTo>
                  <a:cubicBezTo>
                    <a:pt x="0" y="23551"/>
                    <a:pt x="23551" y="0"/>
                    <a:pt x="52604" y="0"/>
                  </a:cubicBezTo>
                  <a:lnTo>
                    <a:pt x="483988" y="0"/>
                  </a:lnTo>
                  <a:cubicBezTo>
                    <a:pt x="513040" y="0"/>
                    <a:pt x="536591" y="23551"/>
                    <a:pt x="536591" y="52604"/>
                  </a:cubicBezTo>
                  <a:close/>
                </a:path>
              </a:pathLst>
            </a:custGeom>
            <a:solidFill>
              <a:srgbClr val="00407B"/>
            </a:solidFill>
            <a:ln cap="rnd">
              <a:noFill/>
              <a:prstDash val="solid"/>
              <a:round/>
            </a:ln>
          </p:spPr>
        </p:sp>
        <p:sp>
          <p:nvSpPr>
            <p:cNvPr name="TextBox 38" id="38"/>
            <p:cNvSpPr txBox="true"/>
            <p:nvPr/>
          </p:nvSpPr>
          <p:spPr>
            <a:xfrm>
              <a:off x="0" y="-38100"/>
              <a:ext cx="536591" cy="680963"/>
            </a:xfrm>
            <a:prstGeom prst="rect">
              <a:avLst/>
            </a:prstGeom>
          </p:spPr>
          <p:txBody>
            <a:bodyPr anchor="ctr" rtlCol="false" tIns="50800" lIns="50800" bIns="50800" rIns="50800"/>
            <a:lstStyle/>
            <a:p>
              <a:pPr algn="ctr" marL="0" indent="0" lvl="0">
                <a:lnSpc>
                  <a:spcPts val="1774"/>
                </a:lnSpc>
                <a:spcBef>
                  <a:spcPct val="0"/>
                </a:spcBef>
              </a:pPr>
            </a:p>
          </p:txBody>
        </p:sp>
      </p:grpSp>
      <p:sp>
        <p:nvSpPr>
          <p:cNvPr name="TextBox 39" id="39"/>
          <p:cNvSpPr txBox="true"/>
          <p:nvPr/>
        </p:nvSpPr>
        <p:spPr>
          <a:xfrm rot="0">
            <a:off x="14046193" y="3682255"/>
            <a:ext cx="2965193" cy="3574204"/>
          </a:xfrm>
          <a:prstGeom prst="rect">
            <a:avLst/>
          </a:prstGeom>
        </p:spPr>
        <p:txBody>
          <a:bodyPr anchor="t" rtlCol="false" tIns="0" lIns="0" bIns="0" rIns="0">
            <a:spAutoFit/>
          </a:bodyPr>
          <a:lstStyle/>
          <a:p>
            <a:pPr algn="ctr">
              <a:lnSpc>
                <a:spcPts val="2939"/>
              </a:lnSpc>
            </a:pPr>
            <a:r>
              <a:rPr lang="en-US" sz="1999">
                <a:solidFill>
                  <a:srgbClr val="FFFFFF"/>
                </a:solidFill>
                <a:latin typeface="TT Interphases"/>
                <a:ea typeface="TT Interphases"/>
                <a:cs typeface="TT Interphases"/>
                <a:sym typeface="TT Interphases"/>
              </a:rPr>
              <a:t>A</a:t>
            </a:r>
            <a:r>
              <a:rPr lang="en-US" sz="1999" strike="noStrike" u="none">
                <a:solidFill>
                  <a:srgbClr val="FFFFFF"/>
                </a:solidFill>
                <a:latin typeface="TT Interphases"/>
                <a:ea typeface="TT Interphases"/>
                <a:cs typeface="TT Interphases"/>
                <a:sym typeface="TT Interphases"/>
              </a:rPr>
              <a:t>giliza</a:t>
            </a:r>
            <a:r>
              <a:rPr lang="en-US" sz="1999" strike="noStrike" u="none">
                <a:solidFill>
                  <a:srgbClr val="FFFFFF"/>
                </a:solidFill>
                <a:latin typeface="TT Interphases"/>
                <a:ea typeface="TT Interphases"/>
                <a:cs typeface="TT Interphases"/>
                <a:sym typeface="TT Interphases"/>
              </a:rPr>
              <a:t> los reportes y la r</a:t>
            </a:r>
            <a:r>
              <a:rPr lang="en-US" sz="1999" strike="noStrike" u="none">
                <a:solidFill>
                  <a:srgbClr val="FFFFFF"/>
                </a:solidFill>
                <a:latin typeface="TT Interphases"/>
                <a:ea typeface="TT Interphases"/>
                <a:cs typeface="TT Interphases"/>
                <a:sym typeface="TT Interphases"/>
              </a:rPr>
              <a:t>e</a:t>
            </a:r>
            <a:r>
              <a:rPr lang="en-US" sz="1999" strike="noStrike" u="none">
                <a:solidFill>
                  <a:srgbClr val="FFFFFF"/>
                </a:solidFill>
                <a:latin typeface="TT Interphases"/>
                <a:ea typeface="TT Interphases"/>
                <a:cs typeface="TT Interphases"/>
                <a:sym typeface="TT Interphases"/>
              </a:rPr>
              <a:t>sp</a:t>
            </a:r>
            <a:r>
              <a:rPr lang="en-US" sz="1999" strike="noStrike" u="none">
                <a:solidFill>
                  <a:srgbClr val="FFFFFF"/>
                </a:solidFill>
                <a:latin typeface="TT Interphases"/>
                <a:ea typeface="TT Interphases"/>
                <a:cs typeface="TT Interphases"/>
                <a:sym typeface="TT Interphases"/>
              </a:rPr>
              <a:t>uesta ante incidentes.</a:t>
            </a:r>
          </a:p>
          <a:p>
            <a:pPr algn="ctr">
              <a:lnSpc>
                <a:spcPts val="1029"/>
              </a:lnSpc>
            </a:pPr>
          </a:p>
          <a:p>
            <a:pPr algn="ctr">
              <a:lnSpc>
                <a:spcPts val="2939"/>
              </a:lnSpc>
            </a:pPr>
            <a:r>
              <a:rPr lang="en-US" sz="1999" strike="noStrike" u="none">
                <a:solidFill>
                  <a:srgbClr val="FFFFFF"/>
                </a:solidFill>
                <a:latin typeface="TT Interphases"/>
                <a:ea typeface="TT Interphases"/>
                <a:cs typeface="TT Interphases"/>
                <a:sym typeface="TT Interphases"/>
              </a:rPr>
              <a:t>Centraliza</a:t>
            </a:r>
            <a:r>
              <a:rPr lang="en-US" sz="1999" strike="noStrike" u="none">
                <a:solidFill>
                  <a:srgbClr val="FFFFFF"/>
                </a:solidFill>
                <a:latin typeface="TT Interphases"/>
                <a:ea typeface="TT Interphases"/>
                <a:cs typeface="TT Interphases"/>
                <a:sym typeface="TT Interphases"/>
              </a:rPr>
              <a:t> la información para una mejor toma de decisiones.</a:t>
            </a:r>
          </a:p>
          <a:p>
            <a:pPr algn="ctr">
              <a:lnSpc>
                <a:spcPts val="1029"/>
              </a:lnSpc>
            </a:pPr>
          </a:p>
          <a:p>
            <a:pPr algn="ctr">
              <a:lnSpc>
                <a:spcPts val="2939"/>
              </a:lnSpc>
            </a:pPr>
            <a:r>
              <a:rPr lang="en-US" sz="1999" strike="noStrike" u="none">
                <a:solidFill>
                  <a:srgbClr val="FFFFFF"/>
                </a:solidFill>
                <a:latin typeface="TT Interphases"/>
                <a:ea typeface="TT Interphases"/>
                <a:cs typeface="TT Interphases"/>
                <a:sym typeface="TT Interphases"/>
              </a:rPr>
              <a:t>Fortalece</a:t>
            </a:r>
            <a:r>
              <a:rPr lang="en-US" sz="1999" strike="noStrike" u="none">
                <a:solidFill>
                  <a:srgbClr val="FFFFFF"/>
                </a:solidFill>
                <a:latin typeface="TT Interphases"/>
                <a:ea typeface="TT Interphases"/>
                <a:cs typeface="TT Interphases"/>
                <a:sym typeface="TT Interphases"/>
              </a:rPr>
              <a:t> el vínculo entre el municipio y la comunidad.</a:t>
            </a:r>
          </a:p>
        </p:txBody>
      </p:sp>
      <p:grpSp>
        <p:nvGrpSpPr>
          <p:cNvPr name="Group 40" id="40"/>
          <p:cNvGrpSpPr>
            <a:grpSpLocks noChangeAspect="true"/>
          </p:cNvGrpSpPr>
          <p:nvPr/>
        </p:nvGrpSpPr>
        <p:grpSpPr>
          <a:xfrm rot="0">
            <a:off x="14063826" y="-414141"/>
            <a:ext cx="4224174" cy="2567599"/>
            <a:chOff x="0" y="0"/>
            <a:chExt cx="5632232" cy="3423465"/>
          </a:xfrm>
        </p:grpSpPr>
        <p:sp>
          <p:nvSpPr>
            <p:cNvPr name="Freeform 41" id="41"/>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5323702" y="-2791889"/>
            <a:ext cx="7640596" cy="20739065"/>
            <a:chOff x="0" y="0"/>
            <a:chExt cx="2012338" cy="5462141"/>
          </a:xfrm>
        </p:grpSpPr>
        <p:sp>
          <p:nvSpPr>
            <p:cNvPr name="Freeform 3" id="3"/>
            <p:cNvSpPr/>
            <p:nvPr/>
          </p:nvSpPr>
          <p:spPr>
            <a:xfrm flipH="false" flipV="false" rot="0">
              <a:off x="0" y="0"/>
              <a:ext cx="2012338" cy="5462141"/>
            </a:xfrm>
            <a:custGeom>
              <a:avLst/>
              <a:gdLst/>
              <a:ahLst/>
              <a:cxnLst/>
              <a:rect r="r" b="b" t="t" l="l"/>
              <a:pathLst>
                <a:path h="5462141" w="2012338">
                  <a:moveTo>
                    <a:pt x="28371" y="0"/>
                  </a:moveTo>
                  <a:lnTo>
                    <a:pt x="1983967" y="0"/>
                  </a:lnTo>
                  <a:cubicBezTo>
                    <a:pt x="1999636" y="0"/>
                    <a:pt x="2012338" y="12702"/>
                    <a:pt x="2012338" y="28371"/>
                  </a:cubicBezTo>
                  <a:lnTo>
                    <a:pt x="2012338" y="5433769"/>
                  </a:lnTo>
                  <a:cubicBezTo>
                    <a:pt x="2012338" y="5449438"/>
                    <a:pt x="1999636" y="5462141"/>
                    <a:pt x="1983967" y="5462141"/>
                  </a:cubicBezTo>
                  <a:lnTo>
                    <a:pt x="28371" y="5462141"/>
                  </a:lnTo>
                  <a:cubicBezTo>
                    <a:pt x="12702" y="5462141"/>
                    <a:pt x="0" y="5449438"/>
                    <a:pt x="0" y="5433769"/>
                  </a:cubicBezTo>
                  <a:lnTo>
                    <a:pt x="0" y="28371"/>
                  </a:lnTo>
                  <a:cubicBezTo>
                    <a:pt x="0" y="12702"/>
                    <a:pt x="12702" y="0"/>
                    <a:pt x="28371" y="0"/>
                  </a:cubicBezTo>
                  <a:close/>
                </a:path>
              </a:pathLst>
            </a:custGeom>
            <a:solidFill>
              <a:srgbClr val="00407B"/>
            </a:solidFill>
          </p:spPr>
        </p:sp>
        <p:sp>
          <p:nvSpPr>
            <p:cNvPr name="TextBox 4" id="4"/>
            <p:cNvSpPr txBox="true"/>
            <p:nvPr/>
          </p:nvSpPr>
          <p:spPr>
            <a:xfrm>
              <a:off x="0" y="-38100"/>
              <a:ext cx="2012338" cy="5500241"/>
            </a:xfrm>
            <a:prstGeom prst="rect">
              <a:avLst/>
            </a:prstGeom>
          </p:spPr>
          <p:txBody>
            <a:bodyPr anchor="ctr" rtlCol="false" tIns="50800" lIns="50800" bIns="50800" rIns="50800"/>
            <a:lstStyle/>
            <a:p>
              <a:pPr algn="ctr">
                <a:lnSpc>
                  <a:spcPts val="1774"/>
                </a:lnSpc>
              </a:pPr>
            </a:p>
          </p:txBody>
        </p:sp>
      </p:grpSp>
      <p:sp>
        <p:nvSpPr>
          <p:cNvPr name="TextBox 5" id="5"/>
          <p:cNvSpPr txBox="true"/>
          <p:nvPr/>
        </p:nvSpPr>
        <p:spPr>
          <a:xfrm rot="0">
            <a:off x="1505249" y="4454865"/>
            <a:ext cx="1389162"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CFEFD"/>
                </a:solidFill>
                <a:latin typeface="Muli Ultra-Bold"/>
                <a:ea typeface="Muli Ultra-Bold"/>
                <a:cs typeface="Muli Ultra-Bold"/>
                <a:sym typeface="Muli Ultra-Bold"/>
              </a:rPr>
              <a:t>SCRUM</a:t>
            </a:r>
          </a:p>
        </p:txBody>
      </p:sp>
      <p:sp>
        <p:nvSpPr>
          <p:cNvPr name="TextBox 6" id="6"/>
          <p:cNvSpPr txBox="true"/>
          <p:nvPr/>
        </p:nvSpPr>
        <p:spPr>
          <a:xfrm rot="0">
            <a:off x="1762541" y="5274060"/>
            <a:ext cx="6438858" cy="3178492"/>
          </a:xfrm>
          <a:prstGeom prst="rect">
            <a:avLst/>
          </a:prstGeom>
        </p:spPr>
        <p:txBody>
          <a:bodyPr anchor="t" rtlCol="false" tIns="0" lIns="0" bIns="0" rIns="0">
            <a:spAutoFit/>
          </a:bodyPr>
          <a:lstStyle/>
          <a:p>
            <a:pPr algn="l" marL="0" indent="0" lvl="0">
              <a:lnSpc>
                <a:spcPts val="3622"/>
              </a:lnSpc>
            </a:pPr>
            <a:r>
              <a:rPr lang="en-US" sz="2250" spc="20">
                <a:solidFill>
                  <a:srgbClr val="FFFFFF"/>
                </a:solidFill>
                <a:latin typeface="TT Interphases"/>
                <a:ea typeface="TT Interphases"/>
                <a:cs typeface="TT Interphases"/>
                <a:sym typeface="TT Interphases"/>
              </a:rPr>
              <a:t>Utilizam</a:t>
            </a:r>
            <a:r>
              <a:rPr lang="en-US" sz="2250" spc="20" strike="noStrike" u="none">
                <a:solidFill>
                  <a:srgbClr val="FFFFFF"/>
                </a:solidFill>
                <a:latin typeface="TT Interphases"/>
                <a:ea typeface="TT Interphases"/>
                <a:cs typeface="TT Interphases"/>
                <a:sym typeface="TT Interphases"/>
              </a:rPr>
              <a:t>os Scrum, una metodología ágil que nos permitió trabajar de forma iterativa e incremental, además nos organizamos en Sprint de cada semana, donde planificamos, desarrollamos y revisamos el avance de forma constante, por lo que esto nos dio la flexibilidad para adaptarnos a los cambios y entregar valor de manera continua.</a:t>
            </a:r>
          </a:p>
        </p:txBody>
      </p:sp>
      <p:grpSp>
        <p:nvGrpSpPr>
          <p:cNvPr name="Group 7" id="7"/>
          <p:cNvGrpSpPr/>
          <p:nvPr/>
        </p:nvGrpSpPr>
        <p:grpSpPr>
          <a:xfrm rot="5400000">
            <a:off x="3110340" y="-3925931"/>
            <a:ext cx="4127957" cy="8291237"/>
            <a:chOff x="0" y="0"/>
            <a:chExt cx="1087198" cy="2183700"/>
          </a:xfrm>
        </p:grpSpPr>
        <p:sp>
          <p:nvSpPr>
            <p:cNvPr name="Freeform 8" id="8"/>
            <p:cNvSpPr/>
            <p:nvPr/>
          </p:nvSpPr>
          <p:spPr>
            <a:xfrm flipH="false" flipV="false" rot="0">
              <a:off x="0" y="0"/>
              <a:ext cx="1087198" cy="2183700"/>
            </a:xfrm>
            <a:custGeom>
              <a:avLst/>
              <a:gdLst/>
              <a:ahLst/>
              <a:cxnLst/>
              <a:rect r="r" b="b" t="t" l="l"/>
              <a:pathLst>
                <a:path h="2183700" w="1087198">
                  <a:moveTo>
                    <a:pt x="52514" y="0"/>
                  </a:moveTo>
                  <a:lnTo>
                    <a:pt x="1034685" y="0"/>
                  </a:lnTo>
                  <a:cubicBezTo>
                    <a:pt x="1063687" y="0"/>
                    <a:pt x="1087198" y="23511"/>
                    <a:pt x="1087198" y="52514"/>
                  </a:cubicBezTo>
                  <a:lnTo>
                    <a:pt x="1087198" y="2131187"/>
                  </a:lnTo>
                  <a:cubicBezTo>
                    <a:pt x="1087198" y="2145114"/>
                    <a:pt x="1081666" y="2158471"/>
                    <a:pt x="1071818" y="2168319"/>
                  </a:cubicBezTo>
                  <a:cubicBezTo>
                    <a:pt x="1061969" y="2178168"/>
                    <a:pt x="1048612" y="2183700"/>
                    <a:pt x="1034685" y="2183700"/>
                  </a:cubicBezTo>
                  <a:lnTo>
                    <a:pt x="52514" y="2183700"/>
                  </a:lnTo>
                  <a:cubicBezTo>
                    <a:pt x="38586" y="2183700"/>
                    <a:pt x="25229" y="2178168"/>
                    <a:pt x="15381" y="2168319"/>
                  </a:cubicBezTo>
                  <a:cubicBezTo>
                    <a:pt x="5533" y="2158471"/>
                    <a:pt x="0" y="2145114"/>
                    <a:pt x="0" y="2131187"/>
                  </a:cubicBezTo>
                  <a:lnTo>
                    <a:pt x="0" y="52514"/>
                  </a:lnTo>
                  <a:cubicBezTo>
                    <a:pt x="0" y="23511"/>
                    <a:pt x="23511" y="0"/>
                    <a:pt x="52514" y="0"/>
                  </a:cubicBezTo>
                  <a:close/>
                </a:path>
              </a:pathLst>
            </a:custGeom>
            <a:solidFill>
              <a:srgbClr val="FDB61B"/>
            </a:solidFill>
          </p:spPr>
        </p:sp>
        <p:sp>
          <p:nvSpPr>
            <p:cNvPr name="TextBox 9" id="9"/>
            <p:cNvSpPr txBox="true"/>
            <p:nvPr/>
          </p:nvSpPr>
          <p:spPr>
            <a:xfrm>
              <a:off x="0" y="-38100"/>
              <a:ext cx="1087198" cy="2221800"/>
            </a:xfrm>
            <a:prstGeom prst="rect">
              <a:avLst/>
            </a:prstGeom>
          </p:spPr>
          <p:txBody>
            <a:bodyPr anchor="ctr" rtlCol="false" tIns="50800" lIns="50800" bIns="50800" rIns="50800"/>
            <a:lstStyle/>
            <a:p>
              <a:pPr algn="ctr">
                <a:lnSpc>
                  <a:spcPts val="1774"/>
                </a:lnSpc>
              </a:pPr>
            </a:p>
          </p:txBody>
        </p:sp>
      </p:grpSp>
      <p:sp>
        <p:nvSpPr>
          <p:cNvPr name="TextBox 10" id="10"/>
          <p:cNvSpPr txBox="true"/>
          <p:nvPr/>
        </p:nvSpPr>
        <p:spPr>
          <a:xfrm rot="0">
            <a:off x="1138496" y="622859"/>
            <a:ext cx="8071646" cy="80215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METODOLOGIA</a:t>
            </a:r>
          </a:p>
        </p:txBody>
      </p:sp>
      <p:sp>
        <p:nvSpPr>
          <p:cNvPr name="TextBox 11" id="11"/>
          <p:cNvSpPr txBox="true"/>
          <p:nvPr/>
        </p:nvSpPr>
        <p:spPr>
          <a:xfrm rot="0">
            <a:off x="9884154" y="4454865"/>
            <a:ext cx="4827216"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CFEFD"/>
                </a:solidFill>
                <a:latin typeface="Muli Ultra-Bold"/>
                <a:ea typeface="Muli Ultra-Bold"/>
                <a:cs typeface="Muli Ultra-Bold"/>
                <a:sym typeface="Muli Ultra-Bold"/>
              </a:rPr>
              <a:t>¿Cómo Trabajamos?</a:t>
            </a:r>
          </a:p>
        </p:txBody>
      </p:sp>
      <p:sp>
        <p:nvSpPr>
          <p:cNvPr name="TextBox 12" id="12"/>
          <p:cNvSpPr txBox="true"/>
          <p:nvPr/>
        </p:nvSpPr>
        <p:spPr>
          <a:xfrm rot="0">
            <a:off x="10428975" y="5274060"/>
            <a:ext cx="6438858" cy="3178489"/>
          </a:xfrm>
          <a:prstGeom prst="rect">
            <a:avLst/>
          </a:prstGeom>
        </p:spPr>
        <p:txBody>
          <a:bodyPr anchor="t" rtlCol="false" tIns="0" lIns="0" bIns="0" rIns="0">
            <a:spAutoFit/>
          </a:bodyPr>
          <a:lstStyle/>
          <a:p>
            <a:pPr algn="l" marL="485776" indent="-242888" lvl="1">
              <a:lnSpc>
                <a:spcPts val="3622"/>
              </a:lnSpc>
              <a:buFont typeface="Arial"/>
              <a:buChar char="•"/>
            </a:pPr>
            <a:r>
              <a:rPr lang="en-US" sz="2250" spc="20">
                <a:solidFill>
                  <a:srgbClr val="FFFFFF"/>
                </a:solidFill>
                <a:latin typeface="TT Interphases"/>
                <a:ea typeface="TT Interphases"/>
                <a:cs typeface="TT Interphases"/>
                <a:sym typeface="TT Interphases"/>
              </a:rPr>
              <a:t>R</a:t>
            </a:r>
            <a:r>
              <a:rPr lang="en-US" sz="2250" spc="20" strike="noStrike" u="none">
                <a:solidFill>
                  <a:srgbClr val="FFFFFF"/>
                </a:solidFill>
                <a:latin typeface="TT Interphases"/>
                <a:ea typeface="TT Interphases"/>
                <a:cs typeface="TT Interphases"/>
                <a:sym typeface="TT Interphases"/>
              </a:rPr>
              <a:t>euniones diarias con el Product Owner para coordinar avances.</a:t>
            </a:r>
          </a:p>
          <a:p>
            <a:pPr algn="l" marL="485776" indent="-242888" lvl="1">
              <a:lnSpc>
                <a:spcPts val="3622"/>
              </a:lnSpc>
              <a:buFont typeface="Arial"/>
              <a:buChar char="•"/>
            </a:pPr>
            <a:r>
              <a:rPr lang="en-US" sz="2250" spc="20" strike="noStrike" u="none">
                <a:solidFill>
                  <a:srgbClr val="FFFFFF"/>
                </a:solidFill>
                <a:latin typeface="TT Interphases"/>
                <a:ea typeface="TT Interphases"/>
                <a:cs typeface="TT Interphases"/>
                <a:sym typeface="TT Interphases"/>
              </a:rPr>
              <a:t>planificar</a:t>
            </a:r>
            <a:r>
              <a:rPr lang="en-US" sz="2250" spc="20" strike="noStrike" u="none">
                <a:solidFill>
                  <a:srgbClr val="FFFFFF"/>
                </a:solidFill>
                <a:latin typeface="TT Interphases"/>
                <a:ea typeface="TT Interphases"/>
                <a:cs typeface="TT Interphases"/>
                <a:sym typeface="TT Interphases"/>
              </a:rPr>
              <a:t> al inicio de cada sprint para definir las tareas.</a:t>
            </a:r>
          </a:p>
          <a:p>
            <a:pPr algn="l" marL="485776" indent="-242888" lvl="1">
              <a:lnSpc>
                <a:spcPts val="3622"/>
              </a:lnSpc>
              <a:buFont typeface="Arial"/>
              <a:buChar char="•"/>
            </a:pPr>
            <a:r>
              <a:rPr lang="en-US" sz="2250" spc="20" strike="noStrike" u="none">
                <a:solidFill>
                  <a:srgbClr val="FFFFFF"/>
                </a:solidFill>
                <a:latin typeface="TT Interphases"/>
                <a:ea typeface="TT Interphases"/>
                <a:cs typeface="TT Interphases"/>
                <a:sym typeface="TT Interphases"/>
              </a:rPr>
              <a:t>Revisiones al final para mostrar el incremento funcional</a:t>
            </a:r>
          </a:p>
          <a:p>
            <a:pPr algn="l" marL="485776" indent="-242888" lvl="1">
              <a:lnSpc>
                <a:spcPts val="3622"/>
              </a:lnSpc>
              <a:buFont typeface="Arial"/>
              <a:buChar char="•"/>
            </a:pPr>
            <a:r>
              <a:rPr lang="en-US" sz="2250" spc="20" strike="noStrike" u="none">
                <a:solidFill>
                  <a:srgbClr val="FFFFFF"/>
                </a:solidFill>
                <a:latin typeface="TT Interphases"/>
                <a:ea typeface="TT Interphases"/>
                <a:cs typeface="TT Interphases"/>
                <a:sym typeface="TT Interphases"/>
              </a:rPr>
              <a:t>Realización Daily meeting con el equipo</a:t>
            </a:r>
            <a:r>
              <a:rPr lang="en-US" sz="2250" spc="20" strike="noStrike" u="none">
                <a:solidFill>
                  <a:srgbClr val="FFFFFF"/>
                </a:solidFill>
                <a:latin typeface="TT Interphases"/>
                <a:ea typeface="TT Interphases"/>
                <a:cs typeface="TT Interphases"/>
                <a:sym typeface="TT Interphases"/>
              </a:rPr>
              <a:t>.</a:t>
            </a:r>
          </a:p>
        </p:txBody>
      </p:sp>
      <p:grpSp>
        <p:nvGrpSpPr>
          <p:cNvPr name="Group 13" id="13"/>
          <p:cNvGrpSpPr>
            <a:grpSpLocks noChangeAspect="true"/>
          </p:cNvGrpSpPr>
          <p:nvPr/>
        </p:nvGrpSpPr>
        <p:grpSpPr>
          <a:xfrm rot="0">
            <a:off x="14063826" y="-414141"/>
            <a:ext cx="4224174" cy="2567599"/>
            <a:chOff x="0" y="0"/>
            <a:chExt cx="5632232" cy="3423465"/>
          </a:xfrm>
        </p:grpSpPr>
        <p:sp>
          <p:nvSpPr>
            <p:cNvPr name="Freeform 14" id="14"/>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2"/>
              <a:stretch>
                <a:fillRect l="-5149" t="-37679" r="-5140" b="-32516"/>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5323702" y="-855652"/>
            <a:ext cx="7640596" cy="20739065"/>
            <a:chOff x="0" y="0"/>
            <a:chExt cx="2012338" cy="5462141"/>
          </a:xfrm>
        </p:grpSpPr>
        <p:sp>
          <p:nvSpPr>
            <p:cNvPr name="Freeform 4" id="4"/>
            <p:cNvSpPr/>
            <p:nvPr/>
          </p:nvSpPr>
          <p:spPr>
            <a:xfrm flipH="false" flipV="false" rot="0">
              <a:off x="0" y="0"/>
              <a:ext cx="2012338" cy="5462141"/>
            </a:xfrm>
            <a:custGeom>
              <a:avLst/>
              <a:gdLst/>
              <a:ahLst/>
              <a:cxnLst/>
              <a:rect r="r" b="b" t="t" l="l"/>
              <a:pathLst>
                <a:path h="5462141" w="2012338">
                  <a:moveTo>
                    <a:pt x="28371" y="0"/>
                  </a:moveTo>
                  <a:lnTo>
                    <a:pt x="1983967" y="0"/>
                  </a:lnTo>
                  <a:cubicBezTo>
                    <a:pt x="1999636" y="0"/>
                    <a:pt x="2012338" y="12702"/>
                    <a:pt x="2012338" y="28371"/>
                  </a:cubicBezTo>
                  <a:lnTo>
                    <a:pt x="2012338" y="5433769"/>
                  </a:lnTo>
                  <a:cubicBezTo>
                    <a:pt x="2012338" y="5449438"/>
                    <a:pt x="1999636" y="5462141"/>
                    <a:pt x="1983967" y="5462141"/>
                  </a:cubicBezTo>
                  <a:lnTo>
                    <a:pt x="28371" y="5462141"/>
                  </a:lnTo>
                  <a:cubicBezTo>
                    <a:pt x="12702" y="5462141"/>
                    <a:pt x="0" y="5449438"/>
                    <a:pt x="0" y="5433769"/>
                  </a:cubicBezTo>
                  <a:lnTo>
                    <a:pt x="0" y="28371"/>
                  </a:lnTo>
                  <a:cubicBezTo>
                    <a:pt x="0" y="12702"/>
                    <a:pt x="12702" y="0"/>
                    <a:pt x="28371" y="0"/>
                  </a:cubicBezTo>
                  <a:close/>
                </a:path>
              </a:pathLst>
            </a:custGeom>
            <a:solidFill>
              <a:srgbClr val="00407B"/>
            </a:solidFill>
          </p:spPr>
        </p:sp>
        <p:sp>
          <p:nvSpPr>
            <p:cNvPr name="TextBox 5" id="5"/>
            <p:cNvSpPr txBox="true"/>
            <p:nvPr/>
          </p:nvSpPr>
          <p:spPr>
            <a:xfrm>
              <a:off x="0" y="-38100"/>
              <a:ext cx="2012338" cy="5500241"/>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0">
            <a:off x="1090915" y="6478792"/>
            <a:ext cx="927508" cy="958615"/>
            <a:chOff x="0" y="0"/>
            <a:chExt cx="716657" cy="740693"/>
          </a:xfrm>
        </p:grpSpPr>
        <p:sp>
          <p:nvSpPr>
            <p:cNvPr name="Freeform 7" id="7"/>
            <p:cNvSpPr/>
            <p:nvPr/>
          </p:nvSpPr>
          <p:spPr>
            <a:xfrm flipH="false" flipV="false" rot="0">
              <a:off x="0" y="0"/>
              <a:ext cx="716657" cy="740693"/>
            </a:xfrm>
            <a:custGeom>
              <a:avLst/>
              <a:gdLst/>
              <a:ahLst/>
              <a:cxnLst/>
              <a:rect r="r" b="b" t="t" l="l"/>
              <a:pathLst>
                <a:path h="740693" w="716657">
                  <a:moveTo>
                    <a:pt x="250410" y="0"/>
                  </a:moveTo>
                  <a:lnTo>
                    <a:pt x="466247" y="0"/>
                  </a:lnTo>
                  <a:cubicBezTo>
                    <a:pt x="532660" y="0"/>
                    <a:pt x="596353" y="26382"/>
                    <a:pt x="643314" y="73343"/>
                  </a:cubicBezTo>
                  <a:cubicBezTo>
                    <a:pt x="690275" y="120305"/>
                    <a:pt x="716657" y="183997"/>
                    <a:pt x="716657" y="250410"/>
                  </a:cubicBezTo>
                  <a:lnTo>
                    <a:pt x="716657" y="490283"/>
                  </a:lnTo>
                  <a:cubicBezTo>
                    <a:pt x="716657" y="556696"/>
                    <a:pt x="690275" y="620389"/>
                    <a:pt x="643314" y="667350"/>
                  </a:cubicBezTo>
                  <a:cubicBezTo>
                    <a:pt x="596353" y="714311"/>
                    <a:pt x="532660" y="740693"/>
                    <a:pt x="466247" y="740693"/>
                  </a:cubicBezTo>
                  <a:lnTo>
                    <a:pt x="250410" y="740693"/>
                  </a:lnTo>
                  <a:cubicBezTo>
                    <a:pt x="183997" y="740693"/>
                    <a:pt x="120305" y="714311"/>
                    <a:pt x="73343" y="667350"/>
                  </a:cubicBezTo>
                  <a:cubicBezTo>
                    <a:pt x="26382" y="620389"/>
                    <a:pt x="0" y="556696"/>
                    <a:pt x="0" y="490283"/>
                  </a:cubicBezTo>
                  <a:lnTo>
                    <a:pt x="0" y="250410"/>
                  </a:lnTo>
                  <a:cubicBezTo>
                    <a:pt x="0" y="183997"/>
                    <a:pt x="26382" y="120305"/>
                    <a:pt x="73343" y="73343"/>
                  </a:cubicBezTo>
                  <a:cubicBezTo>
                    <a:pt x="120305" y="26382"/>
                    <a:pt x="183997" y="0"/>
                    <a:pt x="250410" y="0"/>
                  </a:cubicBezTo>
                  <a:close/>
                </a:path>
              </a:pathLst>
            </a:custGeom>
            <a:solidFill>
              <a:srgbClr val="FFFFFF"/>
            </a:solidFill>
            <a:ln cap="rnd">
              <a:noFill/>
              <a:prstDash val="solid"/>
              <a:round/>
            </a:ln>
          </p:spPr>
        </p:sp>
        <p:sp>
          <p:nvSpPr>
            <p:cNvPr name="TextBox 8" id="8"/>
            <p:cNvSpPr txBox="true"/>
            <p:nvPr/>
          </p:nvSpPr>
          <p:spPr>
            <a:xfrm>
              <a:off x="0" y="-19050"/>
              <a:ext cx="716657" cy="759743"/>
            </a:xfrm>
            <a:prstGeom prst="rect">
              <a:avLst/>
            </a:prstGeom>
          </p:spPr>
          <p:txBody>
            <a:bodyPr anchor="ctr" rtlCol="false" tIns="26301" lIns="26301" bIns="26301" rIns="26301"/>
            <a:lstStyle/>
            <a:p>
              <a:pPr algn="ctr">
                <a:lnSpc>
                  <a:spcPts val="1377"/>
                </a:lnSpc>
              </a:pPr>
            </a:p>
          </p:txBody>
        </p:sp>
      </p:grpSp>
      <p:grpSp>
        <p:nvGrpSpPr>
          <p:cNvPr name="Group 9" id="9"/>
          <p:cNvGrpSpPr/>
          <p:nvPr/>
        </p:nvGrpSpPr>
        <p:grpSpPr>
          <a:xfrm rot="0">
            <a:off x="6730392" y="6478792"/>
            <a:ext cx="927508" cy="958615"/>
            <a:chOff x="0" y="0"/>
            <a:chExt cx="716657" cy="740693"/>
          </a:xfrm>
        </p:grpSpPr>
        <p:sp>
          <p:nvSpPr>
            <p:cNvPr name="Freeform 10" id="10"/>
            <p:cNvSpPr/>
            <p:nvPr/>
          </p:nvSpPr>
          <p:spPr>
            <a:xfrm flipH="false" flipV="false" rot="0">
              <a:off x="0" y="0"/>
              <a:ext cx="716657" cy="740693"/>
            </a:xfrm>
            <a:custGeom>
              <a:avLst/>
              <a:gdLst/>
              <a:ahLst/>
              <a:cxnLst/>
              <a:rect r="r" b="b" t="t" l="l"/>
              <a:pathLst>
                <a:path h="740693" w="716657">
                  <a:moveTo>
                    <a:pt x="250410" y="0"/>
                  </a:moveTo>
                  <a:lnTo>
                    <a:pt x="466247" y="0"/>
                  </a:lnTo>
                  <a:cubicBezTo>
                    <a:pt x="532660" y="0"/>
                    <a:pt x="596353" y="26382"/>
                    <a:pt x="643314" y="73343"/>
                  </a:cubicBezTo>
                  <a:cubicBezTo>
                    <a:pt x="690275" y="120305"/>
                    <a:pt x="716657" y="183997"/>
                    <a:pt x="716657" y="250410"/>
                  </a:cubicBezTo>
                  <a:lnTo>
                    <a:pt x="716657" y="490283"/>
                  </a:lnTo>
                  <a:cubicBezTo>
                    <a:pt x="716657" y="556696"/>
                    <a:pt x="690275" y="620389"/>
                    <a:pt x="643314" y="667350"/>
                  </a:cubicBezTo>
                  <a:cubicBezTo>
                    <a:pt x="596353" y="714311"/>
                    <a:pt x="532660" y="740693"/>
                    <a:pt x="466247" y="740693"/>
                  </a:cubicBezTo>
                  <a:lnTo>
                    <a:pt x="250410" y="740693"/>
                  </a:lnTo>
                  <a:cubicBezTo>
                    <a:pt x="183997" y="740693"/>
                    <a:pt x="120305" y="714311"/>
                    <a:pt x="73343" y="667350"/>
                  </a:cubicBezTo>
                  <a:cubicBezTo>
                    <a:pt x="26382" y="620389"/>
                    <a:pt x="0" y="556696"/>
                    <a:pt x="0" y="490283"/>
                  </a:cubicBezTo>
                  <a:lnTo>
                    <a:pt x="0" y="250410"/>
                  </a:lnTo>
                  <a:cubicBezTo>
                    <a:pt x="0" y="183997"/>
                    <a:pt x="26382" y="120305"/>
                    <a:pt x="73343" y="73343"/>
                  </a:cubicBezTo>
                  <a:cubicBezTo>
                    <a:pt x="120305" y="26382"/>
                    <a:pt x="183997" y="0"/>
                    <a:pt x="250410" y="0"/>
                  </a:cubicBezTo>
                  <a:close/>
                </a:path>
              </a:pathLst>
            </a:custGeom>
            <a:solidFill>
              <a:srgbClr val="FFFFFF"/>
            </a:solidFill>
            <a:ln cap="rnd">
              <a:noFill/>
              <a:prstDash val="solid"/>
              <a:round/>
            </a:ln>
          </p:spPr>
        </p:sp>
        <p:sp>
          <p:nvSpPr>
            <p:cNvPr name="TextBox 11" id="11"/>
            <p:cNvSpPr txBox="true"/>
            <p:nvPr/>
          </p:nvSpPr>
          <p:spPr>
            <a:xfrm>
              <a:off x="0" y="-19050"/>
              <a:ext cx="716657" cy="759743"/>
            </a:xfrm>
            <a:prstGeom prst="rect">
              <a:avLst/>
            </a:prstGeom>
          </p:spPr>
          <p:txBody>
            <a:bodyPr anchor="ctr" rtlCol="false" tIns="26301" lIns="26301" bIns="26301" rIns="26301"/>
            <a:lstStyle/>
            <a:p>
              <a:pPr algn="ctr">
                <a:lnSpc>
                  <a:spcPts val="1377"/>
                </a:lnSpc>
              </a:pPr>
            </a:p>
          </p:txBody>
        </p:sp>
      </p:grpSp>
      <p:grpSp>
        <p:nvGrpSpPr>
          <p:cNvPr name="Group 12" id="12"/>
          <p:cNvGrpSpPr/>
          <p:nvPr/>
        </p:nvGrpSpPr>
        <p:grpSpPr>
          <a:xfrm rot="0">
            <a:off x="12369869" y="6478792"/>
            <a:ext cx="927508" cy="958615"/>
            <a:chOff x="0" y="0"/>
            <a:chExt cx="716657" cy="740693"/>
          </a:xfrm>
        </p:grpSpPr>
        <p:sp>
          <p:nvSpPr>
            <p:cNvPr name="Freeform 13" id="13"/>
            <p:cNvSpPr/>
            <p:nvPr/>
          </p:nvSpPr>
          <p:spPr>
            <a:xfrm flipH="false" flipV="false" rot="0">
              <a:off x="0" y="0"/>
              <a:ext cx="716657" cy="740693"/>
            </a:xfrm>
            <a:custGeom>
              <a:avLst/>
              <a:gdLst/>
              <a:ahLst/>
              <a:cxnLst/>
              <a:rect r="r" b="b" t="t" l="l"/>
              <a:pathLst>
                <a:path h="740693" w="716657">
                  <a:moveTo>
                    <a:pt x="250410" y="0"/>
                  </a:moveTo>
                  <a:lnTo>
                    <a:pt x="466247" y="0"/>
                  </a:lnTo>
                  <a:cubicBezTo>
                    <a:pt x="532660" y="0"/>
                    <a:pt x="596353" y="26382"/>
                    <a:pt x="643314" y="73343"/>
                  </a:cubicBezTo>
                  <a:cubicBezTo>
                    <a:pt x="690275" y="120305"/>
                    <a:pt x="716657" y="183997"/>
                    <a:pt x="716657" y="250410"/>
                  </a:cubicBezTo>
                  <a:lnTo>
                    <a:pt x="716657" y="490283"/>
                  </a:lnTo>
                  <a:cubicBezTo>
                    <a:pt x="716657" y="556696"/>
                    <a:pt x="690275" y="620389"/>
                    <a:pt x="643314" y="667350"/>
                  </a:cubicBezTo>
                  <a:cubicBezTo>
                    <a:pt x="596353" y="714311"/>
                    <a:pt x="532660" y="740693"/>
                    <a:pt x="466247" y="740693"/>
                  </a:cubicBezTo>
                  <a:lnTo>
                    <a:pt x="250410" y="740693"/>
                  </a:lnTo>
                  <a:cubicBezTo>
                    <a:pt x="183997" y="740693"/>
                    <a:pt x="120305" y="714311"/>
                    <a:pt x="73343" y="667350"/>
                  </a:cubicBezTo>
                  <a:cubicBezTo>
                    <a:pt x="26382" y="620389"/>
                    <a:pt x="0" y="556696"/>
                    <a:pt x="0" y="490283"/>
                  </a:cubicBezTo>
                  <a:lnTo>
                    <a:pt x="0" y="250410"/>
                  </a:lnTo>
                  <a:cubicBezTo>
                    <a:pt x="0" y="183997"/>
                    <a:pt x="26382" y="120305"/>
                    <a:pt x="73343" y="73343"/>
                  </a:cubicBezTo>
                  <a:cubicBezTo>
                    <a:pt x="120305" y="26382"/>
                    <a:pt x="183997" y="0"/>
                    <a:pt x="250410" y="0"/>
                  </a:cubicBezTo>
                  <a:close/>
                </a:path>
              </a:pathLst>
            </a:custGeom>
            <a:solidFill>
              <a:srgbClr val="FFFFFF"/>
            </a:solidFill>
            <a:ln cap="rnd">
              <a:noFill/>
              <a:prstDash val="solid"/>
              <a:round/>
            </a:ln>
          </p:spPr>
        </p:sp>
        <p:sp>
          <p:nvSpPr>
            <p:cNvPr name="TextBox 14" id="14"/>
            <p:cNvSpPr txBox="true"/>
            <p:nvPr/>
          </p:nvSpPr>
          <p:spPr>
            <a:xfrm>
              <a:off x="0" y="-19050"/>
              <a:ext cx="716657" cy="759743"/>
            </a:xfrm>
            <a:prstGeom prst="rect">
              <a:avLst/>
            </a:prstGeom>
          </p:spPr>
          <p:txBody>
            <a:bodyPr anchor="ctr" rtlCol="false" tIns="26301" lIns="26301" bIns="26301" rIns="26301"/>
            <a:lstStyle/>
            <a:p>
              <a:pPr algn="ctr">
                <a:lnSpc>
                  <a:spcPts val="1377"/>
                </a:lnSpc>
              </a:pPr>
            </a:p>
          </p:txBody>
        </p:sp>
      </p:grpSp>
      <p:grpSp>
        <p:nvGrpSpPr>
          <p:cNvPr name="Group 15" id="15"/>
          <p:cNvGrpSpPr/>
          <p:nvPr/>
        </p:nvGrpSpPr>
        <p:grpSpPr>
          <a:xfrm rot="5400000">
            <a:off x="3110340" y="-3925931"/>
            <a:ext cx="4127957" cy="8291237"/>
            <a:chOff x="0" y="0"/>
            <a:chExt cx="1087198" cy="2183700"/>
          </a:xfrm>
        </p:grpSpPr>
        <p:sp>
          <p:nvSpPr>
            <p:cNvPr name="Freeform 16" id="16"/>
            <p:cNvSpPr/>
            <p:nvPr/>
          </p:nvSpPr>
          <p:spPr>
            <a:xfrm flipH="false" flipV="false" rot="0">
              <a:off x="0" y="0"/>
              <a:ext cx="1087198" cy="2183700"/>
            </a:xfrm>
            <a:custGeom>
              <a:avLst/>
              <a:gdLst/>
              <a:ahLst/>
              <a:cxnLst/>
              <a:rect r="r" b="b" t="t" l="l"/>
              <a:pathLst>
                <a:path h="2183700" w="1087198">
                  <a:moveTo>
                    <a:pt x="52514" y="0"/>
                  </a:moveTo>
                  <a:lnTo>
                    <a:pt x="1034685" y="0"/>
                  </a:lnTo>
                  <a:cubicBezTo>
                    <a:pt x="1063687" y="0"/>
                    <a:pt x="1087198" y="23511"/>
                    <a:pt x="1087198" y="52514"/>
                  </a:cubicBezTo>
                  <a:lnTo>
                    <a:pt x="1087198" y="2131187"/>
                  </a:lnTo>
                  <a:cubicBezTo>
                    <a:pt x="1087198" y="2145114"/>
                    <a:pt x="1081666" y="2158471"/>
                    <a:pt x="1071818" y="2168319"/>
                  </a:cubicBezTo>
                  <a:cubicBezTo>
                    <a:pt x="1061969" y="2178168"/>
                    <a:pt x="1048612" y="2183700"/>
                    <a:pt x="1034685" y="2183700"/>
                  </a:cubicBezTo>
                  <a:lnTo>
                    <a:pt x="52514" y="2183700"/>
                  </a:lnTo>
                  <a:cubicBezTo>
                    <a:pt x="38586" y="2183700"/>
                    <a:pt x="25229" y="2178168"/>
                    <a:pt x="15381" y="2168319"/>
                  </a:cubicBezTo>
                  <a:cubicBezTo>
                    <a:pt x="5533" y="2158471"/>
                    <a:pt x="0" y="2145114"/>
                    <a:pt x="0" y="2131187"/>
                  </a:cubicBezTo>
                  <a:lnTo>
                    <a:pt x="0" y="52514"/>
                  </a:lnTo>
                  <a:cubicBezTo>
                    <a:pt x="0" y="23511"/>
                    <a:pt x="23511" y="0"/>
                    <a:pt x="52514" y="0"/>
                  </a:cubicBezTo>
                  <a:close/>
                </a:path>
              </a:pathLst>
            </a:custGeom>
            <a:solidFill>
              <a:srgbClr val="FDB61B"/>
            </a:solidFill>
          </p:spPr>
        </p:sp>
        <p:sp>
          <p:nvSpPr>
            <p:cNvPr name="TextBox 17" id="17"/>
            <p:cNvSpPr txBox="true"/>
            <p:nvPr/>
          </p:nvSpPr>
          <p:spPr>
            <a:xfrm>
              <a:off x="0" y="-38100"/>
              <a:ext cx="1087198" cy="2221800"/>
            </a:xfrm>
            <a:prstGeom prst="rect">
              <a:avLst/>
            </a:prstGeom>
          </p:spPr>
          <p:txBody>
            <a:bodyPr anchor="ctr" rtlCol="false" tIns="50800" lIns="50800" bIns="50800" rIns="50800"/>
            <a:lstStyle/>
            <a:p>
              <a:pPr algn="ctr">
                <a:lnSpc>
                  <a:spcPts val="1774"/>
                </a:lnSpc>
              </a:pPr>
            </a:p>
          </p:txBody>
        </p:sp>
      </p:grpSp>
      <p:grpSp>
        <p:nvGrpSpPr>
          <p:cNvPr name="Group 18" id="18"/>
          <p:cNvGrpSpPr>
            <a:grpSpLocks noChangeAspect="true"/>
          </p:cNvGrpSpPr>
          <p:nvPr/>
        </p:nvGrpSpPr>
        <p:grpSpPr>
          <a:xfrm rot="0">
            <a:off x="14063826" y="-414141"/>
            <a:ext cx="4224174" cy="2567599"/>
            <a:chOff x="0" y="0"/>
            <a:chExt cx="5632232" cy="3423465"/>
          </a:xfrm>
        </p:grpSpPr>
        <p:sp>
          <p:nvSpPr>
            <p:cNvPr name="Freeform 19" id="19"/>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sp>
        <p:nvSpPr>
          <p:cNvPr name="Freeform 20" id="20"/>
          <p:cNvSpPr/>
          <p:nvPr/>
        </p:nvSpPr>
        <p:spPr>
          <a:xfrm flipH="false" flipV="false" rot="0">
            <a:off x="13545566" y="2685609"/>
            <a:ext cx="2475823" cy="2475823"/>
          </a:xfrm>
          <a:custGeom>
            <a:avLst/>
            <a:gdLst/>
            <a:ahLst/>
            <a:cxnLst/>
            <a:rect r="r" b="b" t="t" l="l"/>
            <a:pathLst>
              <a:path h="2475823" w="2475823">
                <a:moveTo>
                  <a:pt x="0" y="0"/>
                </a:moveTo>
                <a:lnTo>
                  <a:pt x="2475823" y="0"/>
                </a:lnTo>
                <a:lnTo>
                  <a:pt x="2475823" y="2475823"/>
                </a:lnTo>
                <a:lnTo>
                  <a:pt x="0" y="2475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0">
            <a:off x="1684754" y="2993349"/>
            <a:ext cx="2424009" cy="2424009"/>
          </a:xfrm>
          <a:custGeom>
            <a:avLst/>
            <a:gdLst/>
            <a:ahLst/>
            <a:cxnLst/>
            <a:rect r="r" b="b" t="t" l="l"/>
            <a:pathLst>
              <a:path h="2424009" w="2424009">
                <a:moveTo>
                  <a:pt x="0" y="0"/>
                </a:moveTo>
                <a:lnTo>
                  <a:pt x="2424009" y="0"/>
                </a:lnTo>
                <a:lnTo>
                  <a:pt x="2424009" y="2424009"/>
                </a:lnTo>
                <a:lnTo>
                  <a:pt x="0" y="24240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7363438" y="2767145"/>
            <a:ext cx="2442958" cy="2442958"/>
          </a:xfrm>
          <a:custGeom>
            <a:avLst/>
            <a:gdLst/>
            <a:ahLst/>
            <a:cxnLst/>
            <a:rect r="r" b="b" t="t" l="l"/>
            <a:pathLst>
              <a:path h="2442958" w="2442958">
                <a:moveTo>
                  <a:pt x="0" y="0"/>
                </a:moveTo>
                <a:lnTo>
                  <a:pt x="2442958" y="0"/>
                </a:lnTo>
                <a:lnTo>
                  <a:pt x="2442958" y="2442958"/>
                </a:lnTo>
                <a:lnTo>
                  <a:pt x="0" y="24429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3" id="23"/>
          <p:cNvSpPr txBox="true"/>
          <p:nvPr/>
        </p:nvSpPr>
        <p:spPr>
          <a:xfrm rot="0">
            <a:off x="1026876" y="7868649"/>
            <a:ext cx="4827216"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FFFFF"/>
                </a:solidFill>
                <a:latin typeface="Muli Ultra-Bold"/>
                <a:ea typeface="Muli Ultra-Bold"/>
                <a:cs typeface="Muli Ultra-Bold"/>
                <a:sym typeface="Muli Ultra-Bold"/>
              </a:rPr>
              <a:t>Product Owner</a:t>
            </a:r>
          </a:p>
        </p:txBody>
      </p:sp>
      <p:sp>
        <p:nvSpPr>
          <p:cNvPr name="TextBox 24" id="24"/>
          <p:cNvSpPr txBox="true"/>
          <p:nvPr/>
        </p:nvSpPr>
        <p:spPr>
          <a:xfrm rot="0">
            <a:off x="6730392" y="7868649"/>
            <a:ext cx="4827216"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FFFFF"/>
                </a:solidFill>
                <a:latin typeface="Muli Ultra-Bold"/>
                <a:ea typeface="Muli Ultra-Bold"/>
                <a:cs typeface="Muli Ultra-Bold"/>
                <a:sym typeface="Muli Ultra-Bold"/>
              </a:rPr>
              <a:t>Scrum master</a:t>
            </a:r>
          </a:p>
        </p:txBody>
      </p:sp>
      <p:sp>
        <p:nvSpPr>
          <p:cNvPr name="TextBox 25" id="25"/>
          <p:cNvSpPr txBox="true"/>
          <p:nvPr/>
        </p:nvSpPr>
        <p:spPr>
          <a:xfrm rot="0">
            <a:off x="1026876" y="8539615"/>
            <a:ext cx="3739766" cy="465584"/>
          </a:xfrm>
          <a:prstGeom prst="rect">
            <a:avLst/>
          </a:prstGeom>
        </p:spPr>
        <p:txBody>
          <a:bodyPr anchor="t" rtlCol="false" tIns="0" lIns="0" bIns="0" rIns="0">
            <a:spAutoFit/>
          </a:bodyPr>
          <a:lstStyle/>
          <a:p>
            <a:pPr algn="l" marL="0" indent="0" lvl="0">
              <a:lnSpc>
                <a:spcPts val="3863"/>
              </a:lnSpc>
            </a:pPr>
            <a:r>
              <a:rPr lang="en-US" b="true" sz="2399" spc="21">
                <a:solidFill>
                  <a:srgbClr val="FFFFFF"/>
                </a:solidFill>
                <a:latin typeface="TT Interphases Bold"/>
                <a:ea typeface="TT Interphases Bold"/>
                <a:cs typeface="TT Interphases Bold"/>
                <a:sym typeface="TT Interphases Bold"/>
              </a:rPr>
              <a:t>Fernanda Seguel Cerda</a:t>
            </a:r>
          </a:p>
        </p:txBody>
      </p:sp>
      <p:sp>
        <p:nvSpPr>
          <p:cNvPr name="TextBox 26" id="26"/>
          <p:cNvSpPr txBox="true"/>
          <p:nvPr/>
        </p:nvSpPr>
        <p:spPr>
          <a:xfrm rot="0">
            <a:off x="6730392" y="8539615"/>
            <a:ext cx="3709051" cy="465584"/>
          </a:xfrm>
          <a:prstGeom prst="rect">
            <a:avLst/>
          </a:prstGeom>
        </p:spPr>
        <p:txBody>
          <a:bodyPr anchor="t" rtlCol="false" tIns="0" lIns="0" bIns="0" rIns="0">
            <a:spAutoFit/>
          </a:bodyPr>
          <a:lstStyle/>
          <a:p>
            <a:pPr algn="l" marL="0" indent="0" lvl="0">
              <a:lnSpc>
                <a:spcPts val="3863"/>
              </a:lnSpc>
            </a:pPr>
            <a:r>
              <a:rPr lang="en-US" b="true" sz="2399" spc="21">
                <a:solidFill>
                  <a:srgbClr val="FFFFFF"/>
                </a:solidFill>
                <a:latin typeface="TT Interphases Bold"/>
                <a:ea typeface="TT Interphases Bold"/>
                <a:cs typeface="TT Interphases Bold"/>
                <a:sym typeface="TT Interphases Bold"/>
              </a:rPr>
              <a:t>José Acevedo Zamorano</a:t>
            </a:r>
          </a:p>
        </p:txBody>
      </p:sp>
      <p:sp>
        <p:nvSpPr>
          <p:cNvPr name="TextBox 27" id="27"/>
          <p:cNvSpPr txBox="true"/>
          <p:nvPr/>
        </p:nvSpPr>
        <p:spPr>
          <a:xfrm rot="0">
            <a:off x="1227127" y="6683608"/>
            <a:ext cx="652573" cy="663940"/>
          </a:xfrm>
          <a:prstGeom prst="rect">
            <a:avLst/>
          </a:prstGeom>
        </p:spPr>
        <p:txBody>
          <a:bodyPr anchor="t" rtlCol="false" tIns="0" lIns="0" bIns="0" rIns="0">
            <a:spAutoFit/>
          </a:bodyPr>
          <a:lstStyle/>
          <a:p>
            <a:pPr algn="ctr" marL="0" indent="0" lvl="0">
              <a:lnSpc>
                <a:spcPts val="4967"/>
              </a:lnSpc>
              <a:spcBef>
                <a:spcPct val="0"/>
              </a:spcBef>
            </a:pPr>
            <a:r>
              <a:rPr lang="en-US" b="true" sz="5120" u="none">
                <a:solidFill>
                  <a:srgbClr val="000A1F"/>
                </a:solidFill>
                <a:latin typeface="Muli Heavy"/>
                <a:ea typeface="Muli Heavy"/>
                <a:cs typeface="Muli Heavy"/>
                <a:sym typeface="Muli Heavy"/>
              </a:rPr>
              <a:t>1</a:t>
            </a:r>
          </a:p>
        </p:txBody>
      </p:sp>
      <p:sp>
        <p:nvSpPr>
          <p:cNvPr name="TextBox 28" id="28"/>
          <p:cNvSpPr txBox="true"/>
          <p:nvPr/>
        </p:nvSpPr>
        <p:spPr>
          <a:xfrm rot="0">
            <a:off x="6866604" y="6683608"/>
            <a:ext cx="652573" cy="663940"/>
          </a:xfrm>
          <a:prstGeom prst="rect">
            <a:avLst/>
          </a:prstGeom>
        </p:spPr>
        <p:txBody>
          <a:bodyPr anchor="t" rtlCol="false" tIns="0" lIns="0" bIns="0" rIns="0">
            <a:spAutoFit/>
          </a:bodyPr>
          <a:lstStyle/>
          <a:p>
            <a:pPr algn="ctr" marL="0" indent="0" lvl="0">
              <a:lnSpc>
                <a:spcPts val="4967"/>
              </a:lnSpc>
              <a:spcBef>
                <a:spcPct val="0"/>
              </a:spcBef>
            </a:pPr>
            <a:r>
              <a:rPr lang="en-US" b="true" sz="5120">
                <a:solidFill>
                  <a:srgbClr val="000A1F"/>
                </a:solidFill>
                <a:latin typeface="Muli Heavy"/>
                <a:ea typeface="Muli Heavy"/>
                <a:cs typeface="Muli Heavy"/>
                <a:sym typeface="Muli Heavy"/>
              </a:rPr>
              <a:t>2</a:t>
            </a:r>
          </a:p>
        </p:txBody>
      </p:sp>
      <p:sp>
        <p:nvSpPr>
          <p:cNvPr name="TextBox 29" id="29"/>
          <p:cNvSpPr txBox="true"/>
          <p:nvPr/>
        </p:nvSpPr>
        <p:spPr>
          <a:xfrm rot="0">
            <a:off x="12369869" y="8539615"/>
            <a:ext cx="4827216" cy="465584"/>
          </a:xfrm>
          <a:prstGeom prst="rect">
            <a:avLst/>
          </a:prstGeom>
        </p:spPr>
        <p:txBody>
          <a:bodyPr anchor="t" rtlCol="false" tIns="0" lIns="0" bIns="0" rIns="0">
            <a:spAutoFit/>
          </a:bodyPr>
          <a:lstStyle/>
          <a:p>
            <a:pPr algn="l" marL="0" indent="0" lvl="0">
              <a:lnSpc>
                <a:spcPts val="3863"/>
              </a:lnSpc>
            </a:pPr>
            <a:r>
              <a:rPr lang="en-US" b="true" sz="2399" spc="21">
                <a:solidFill>
                  <a:srgbClr val="FFFFFF"/>
                </a:solidFill>
                <a:latin typeface="TT Interphases Bold"/>
                <a:ea typeface="TT Interphases Bold"/>
                <a:cs typeface="TT Interphases Bold"/>
                <a:sym typeface="TT Interphases Bold"/>
              </a:rPr>
              <a:t>Sebastián Reveco Fuentes</a:t>
            </a:r>
          </a:p>
        </p:txBody>
      </p:sp>
      <p:sp>
        <p:nvSpPr>
          <p:cNvPr name="TextBox 30" id="30"/>
          <p:cNvSpPr txBox="true"/>
          <p:nvPr/>
        </p:nvSpPr>
        <p:spPr>
          <a:xfrm rot="0">
            <a:off x="12432084" y="7868649"/>
            <a:ext cx="4827216"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FFFFF"/>
                </a:solidFill>
                <a:latin typeface="Muli Ultra-Bold"/>
                <a:ea typeface="Muli Ultra-Bold"/>
                <a:cs typeface="Muli Ultra-Bold"/>
                <a:sym typeface="Muli Ultra-Bold"/>
              </a:rPr>
              <a:t>Equipo de desarrollo</a:t>
            </a:r>
          </a:p>
        </p:txBody>
      </p:sp>
      <p:sp>
        <p:nvSpPr>
          <p:cNvPr name="TextBox 31" id="31"/>
          <p:cNvSpPr txBox="true"/>
          <p:nvPr/>
        </p:nvSpPr>
        <p:spPr>
          <a:xfrm rot="0">
            <a:off x="12506081" y="6683608"/>
            <a:ext cx="652573" cy="663940"/>
          </a:xfrm>
          <a:prstGeom prst="rect">
            <a:avLst/>
          </a:prstGeom>
        </p:spPr>
        <p:txBody>
          <a:bodyPr anchor="t" rtlCol="false" tIns="0" lIns="0" bIns="0" rIns="0">
            <a:spAutoFit/>
          </a:bodyPr>
          <a:lstStyle/>
          <a:p>
            <a:pPr algn="ctr" marL="0" indent="0" lvl="0">
              <a:lnSpc>
                <a:spcPts val="4967"/>
              </a:lnSpc>
              <a:spcBef>
                <a:spcPct val="0"/>
              </a:spcBef>
            </a:pPr>
            <a:r>
              <a:rPr lang="en-US" b="true" sz="5120">
                <a:solidFill>
                  <a:srgbClr val="000A1F"/>
                </a:solidFill>
                <a:latin typeface="Muli Heavy"/>
                <a:ea typeface="Muli Heavy"/>
                <a:cs typeface="Muli Heavy"/>
                <a:sym typeface="Muli Heavy"/>
              </a:rPr>
              <a:t>3</a:t>
            </a:r>
          </a:p>
        </p:txBody>
      </p:sp>
      <p:sp>
        <p:nvSpPr>
          <p:cNvPr name="TextBox 32" id="32"/>
          <p:cNvSpPr txBox="true"/>
          <p:nvPr/>
        </p:nvSpPr>
        <p:spPr>
          <a:xfrm rot="0">
            <a:off x="1138496" y="622859"/>
            <a:ext cx="8071646" cy="80215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EQUIPO DE TRABAJO</a:t>
            </a:r>
          </a:p>
        </p:txBody>
      </p:sp>
      <p:sp>
        <p:nvSpPr>
          <p:cNvPr name="TextBox 33" id="33"/>
          <p:cNvSpPr txBox="true"/>
          <p:nvPr/>
        </p:nvSpPr>
        <p:spPr>
          <a:xfrm rot="0">
            <a:off x="12369869" y="9048297"/>
            <a:ext cx="4827216" cy="465584"/>
          </a:xfrm>
          <a:prstGeom prst="rect">
            <a:avLst/>
          </a:prstGeom>
        </p:spPr>
        <p:txBody>
          <a:bodyPr anchor="t" rtlCol="false" tIns="0" lIns="0" bIns="0" rIns="0">
            <a:spAutoFit/>
          </a:bodyPr>
          <a:lstStyle/>
          <a:p>
            <a:pPr algn="l" marL="0" indent="0" lvl="0">
              <a:lnSpc>
                <a:spcPts val="3863"/>
              </a:lnSpc>
            </a:pPr>
            <a:r>
              <a:rPr lang="en-US" b="true" sz="2399" spc="21">
                <a:solidFill>
                  <a:srgbClr val="FFFFFF"/>
                </a:solidFill>
                <a:latin typeface="TT Interphases Bold"/>
                <a:ea typeface="TT Interphases Bold"/>
                <a:cs typeface="TT Interphases Bold"/>
                <a:sym typeface="TT Interphases Bold"/>
              </a:rPr>
              <a:t>Benjamín Cerón De la Fuente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5892571" y="-1971803"/>
            <a:ext cx="7324557" cy="20739065"/>
            <a:chOff x="0" y="0"/>
            <a:chExt cx="1929102" cy="5462141"/>
          </a:xfrm>
        </p:grpSpPr>
        <p:sp>
          <p:nvSpPr>
            <p:cNvPr name="Freeform 4" id="4"/>
            <p:cNvSpPr/>
            <p:nvPr/>
          </p:nvSpPr>
          <p:spPr>
            <a:xfrm flipH="false" flipV="false" rot="0">
              <a:off x="0" y="0"/>
              <a:ext cx="1929102" cy="5462141"/>
            </a:xfrm>
            <a:custGeom>
              <a:avLst/>
              <a:gdLst/>
              <a:ahLst/>
              <a:cxnLst/>
              <a:rect r="r" b="b" t="t" l="l"/>
              <a:pathLst>
                <a:path h="5462141" w="1929102">
                  <a:moveTo>
                    <a:pt x="29595" y="0"/>
                  </a:moveTo>
                  <a:lnTo>
                    <a:pt x="1899506" y="0"/>
                  </a:lnTo>
                  <a:cubicBezTo>
                    <a:pt x="1915851" y="0"/>
                    <a:pt x="1929102" y="13250"/>
                    <a:pt x="1929102" y="29595"/>
                  </a:cubicBezTo>
                  <a:lnTo>
                    <a:pt x="1929102" y="5432545"/>
                  </a:lnTo>
                  <a:cubicBezTo>
                    <a:pt x="1929102" y="5440394"/>
                    <a:pt x="1925984" y="5447922"/>
                    <a:pt x="1920433" y="5453472"/>
                  </a:cubicBezTo>
                  <a:cubicBezTo>
                    <a:pt x="1914883" y="5459023"/>
                    <a:pt x="1907355" y="5462141"/>
                    <a:pt x="1899506" y="5462141"/>
                  </a:cubicBezTo>
                  <a:lnTo>
                    <a:pt x="29595" y="5462141"/>
                  </a:lnTo>
                  <a:cubicBezTo>
                    <a:pt x="21746" y="5462141"/>
                    <a:pt x="14219" y="5459023"/>
                    <a:pt x="8668" y="5453472"/>
                  </a:cubicBezTo>
                  <a:cubicBezTo>
                    <a:pt x="3118" y="5447922"/>
                    <a:pt x="0" y="5440394"/>
                    <a:pt x="0" y="5432545"/>
                  </a:cubicBezTo>
                  <a:lnTo>
                    <a:pt x="0" y="29595"/>
                  </a:lnTo>
                  <a:cubicBezTo>
                    <a:pt x="0" y="21746"/>
                    <a:pt x="3118" y="14219"/>
                    <a:pt x="8668" y="8668"/>
                  </a:cubicBezTo>
                  <a:cubicBezTo>
                    <a:pt x="14219" y="3118"/>
                    <a:pt x="21746" y="0"/>
                    <a:pt x="29595" y="0"/>
                  </a:cubicBezTo>
                  <a:close/>
                </a:path>
              </a:pathLst>
            </a:custGeom>
            <a:solidFill>
              <a:srgbClr val="00407B"/>
            </a:solidFill>
          </p:spPr>
        </p:sp>
        <p:sp>
          <p:nvSpPr>
            <p:cNvPr name="TextBox 5" id="5"/>
            <p:cNvSpPr txBox="true"/>
            <p:nvPr/>
          </p:nvSpPr>
          <p:spPr>
            <a:xfrm>
              <a:off x="0" y="-38100"/>
              <a:ext cx="1929102" cy="5500241"/>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0">
            <a:off x="769731" y="4799481"/>
            <a:ext cx="927508" cy="958615"/>
            <a:chOff x="0" y="0"/>
            <a:chExt cx="716657" cy="740693"/>
          </a:xfrm>
        </p:grpSpPr>
        <p:sp>
          <p:nvSpPr>
            <p:cNvPr name="Freeform 7" id="7"/>
            <p:cNvSpPr/>
            <p:nvPr/>
          </p:nvSpPr>
          <p:spPr>
            <a:xfrm flipH="false" flipV="false" rot="0">
              <a:off x="0" y="0"/>
              <a:ext cx="716657" cy="740693"/>
            </a:xfrm>
            <a:custGeom>
              <a:avLst/>
              <a:gdLst/>
              <a:ahLst/>
              <a:cxnLst/>
              <a:rect r="r" b="b" t="t" l="l"/>
              <a:pathLst>
                <a:path h="740693" w="716657">
                  <a:moveTo>
                    <a:pt x="250410" y="0"/>
                  </a:moveTo>
                  <a:lnTo>
                    <a:pt x="466247" y="0"/>
                  </a:lnTo>
                  <a:cubicBezTo>
                    <a:pt x="532660" y="0"/>
                    <a:pt x="596353" y="26382"/>
                    <a:pt x="643314" y="73343"/>
                  </a:cubicBezTo>
                  <a:cubicBezTo>
                    <a:pt x="690275" y="120305"/>
                    <a:pt x="716657" y="183997"/>
                    <a:pt x="716657" y="250410"/>
                  </a:cubicBezTo>
                  <a:lnTo>
                    <a:pt x="716657" y="490283"/>
                  </a:lnTo>
                  <a:cubicBezTo>
                    <a:pt x="716657" y="556696"/>
                    <a:pt x="690275" y="620389"/>
                    <a:pt x="643314" y="667350"/>
                  </a:cubicBezTo>
                  <a:cubicBezTo>
                    <a:pt x="596353" y="714311"/>
                    <a:pt x="532660" y="740693"/>
                    <a:pt x="466247" y="740693"/>
                  </a:cubicBezTo>
                  <a:lnTo>
                    <a:pt x="250410" y="740693"/>
                  </a:lnTo>
                  <a:cubicBezTo>
                    <a:pt x="183997" y="740693"/>
                    <a:pt x="120305" y="714311"/>
                    <a:pt x="73343" y="667350"/>
                  </a:cubicBezTo>
                  <a:cubicBezTo>
                    <a:pt x="26382" y="620389"/>
                    <a:pt x="0" y="556696"/>
                    <a:pt x="0" y="490283"/>
                  </a:cubicBezTo>
                  <a:lnTo>
                    <a:pt x="0" y="250410"/>
                  </a:lnTo>
                  <a:cubicBezTo>
                    <a:pt x="0" y="183997"/>
                    <a:pt x="26382" y="120305"/>
                    <a:pt x="73343" y="73343"/>
                  </a:cubicBezTo>
                  <a:cubicBezTo>
                    <a:pt x="120305" y="26382"/>
                    <a:pt x="183997" y="0"/>
                    <a:pt x="250410" y="0"/>
                  </a:cubicBezTo>
                  <a:close/>
                </a:path>
              </a:pathLst>
            </a:custGeom>
            <a:solidFill>
              <a:srgbClr val="FFFFFF"/>
            </a:solidFill>
            <a:ln cap="rnd">
              <a:noFill/>
              <a:prstDash val="solid"/>
              <a:round/>
            </a:ln>
          </p:spPr>
        </p:sp>
        <p:sp>
          <p:nvSpPr>
            <p:cNvPr name="TextBox 8" id="8"/>
            <p:cNvSpPr txBox="true"/>
            <p:nvPr/>
          </p:nvSpPr>
          <p:spPr>
            <a:xfrm>
              <a:off x="0" y="-19050"/>
              <a:ext cx="716657" cy="759743"/>
            </a:xfrm>
            <a:prstGeom prst="rect">
              <a:avLst/>
            </a:prstGeom>
          </p:spPr>
          <p:txBody>
            <a:bodyPr anchor="ctr" rtlCol="false" tIns="26301" lIns="26301" bIns="26301" rIns="26301"/>
            <a:lstStyle/>
            <a:p>
              <a:pPr algn="ctr">
                <a:lnSpc>
                  <a:spcPts val="1377"/>
                </a:lnSpc>
              </a:pPr>
            </a:p>
          </p:txBody>
        </p:sp>
      </p:grpSp>
      <p:grpSp>
        <p:nvGrpSpPr>
          <p:cNvPr name="Group 9" id="9"/>
          <p:cNvGrpSpPr/>
          <p:nvPr/>
        </p:nvGrpSpPr>
        <p:grpSpPr>
          <a:xfrm rot="0">
            <a:off x="6409208" y="4799481"/>
            <a:ext cx="927508" cy="958615"/>
            <a:chOff x="0" y="0"/>
            <a:chExt cx="716657" cy="740693"/>
          </a:xfrm>
        </p:grpSpPr>
        <p:sp>
          <p:nvSpPr>
            <p:cNvPr name="Freeform 10" id="10"/>
            <p:cNvSpPr/>
            <p:nvPr/>
          </p:nvSpPr>
          <p:spPr>
            <a:xfrm flipH="false" flipV="false" rot="0">
              <a:off x="0" y="0"/>
              <a:ext cx="716657" cy="740693"/>
            </a:xfrm>
            <a:custGeom>
              <a:avLst/>
              <a:gdLst/>
              <a:ahLst/>
              <a:cxnLst/>
              <a:rect r="r" b="b" t="t" l="l"/>
              <a:pathLst>
                <a:path h="740693" w="716657">
                  <a:moveTo>
                    <a:pt x="250410" y="0"/>
                  </a:moveTo>
                  <a:lnTo>
                    <a:pt x="466247" y="0"/>
                  </a:lnTo>
                  <a:cubicBezTo>
                    <a:pt x="532660" y="0"/>
                    <a:pt x="596353" y="26382"/>
                    <a:pt x="643314" y="73343"/>
                  </a:cubicBezTo>
                  <a:cubicBezTo>
                    <a:pt x="690275" y="120305"/>
                    <a:pt x="716657" y="183997"/>
                    <a:pt x="716657" y="250410"/>
                  </a:cubicBezTo>
                  <a:lnTo>
                    <a:pt x="716657" y="490283"/>
                  </a:lnTo>
                  <a:cubicBezTo>
                    <a:pt x="716657" y="556696"/>
                    <a:pt x="690275" y="620389"/>
                    <a:pt x="643314" y="667350"/>
                  </a:cubicBezTo>
                  <a:cubicBezTo>
                    <a:pt x="596353" y="714311"/>
                    <a:pt x="532660" y="740693"/>
                    <a:pt x="466247" y="740693"/>
                  </a:cubicBezTo>
                  <a:lnTo>
                    <a:pt x="250410" y="740693"/>
                  </a:lnTo>
                  <a:cubicBezTo>
                    <a:pt x="183997" y="740693"/>
                    <a:pt x="120305" y="714311"/>
                    <a:pt x="73343" y="667350"/>
                  </a:cubicBezTo>
                  <a:cubicBezTo>
                    <a:pt x="26382" y="620389"/>
                    <a:pt x="0" y="556696"/>
                    <a:pt x="0" y="490283"/>
                  </a:cubicBezTo>
                  <a:lnTo>
                    <a:pt x="0" y="250410"/>
                  </a:lnTo>
                  <a:cubicBezTo>
                    <a:pt x="0" y="183997"/>
                    <a:pt x="26382" y="120305"/>
                    <a:pt x="73343" y="73343"/>
                  </a:cubicBezTo>
                  <a:cubicBezTo>
                    <a:pt x="120305" y="26382"/>
                    <a:pt x="183997" y="0"/>
                    <a:pt x="250410" y="0"/>
                  </a:cubicBezTo>
                  <a:close/>
                </a:path>
              </a:pathLst>
            </a:custGeom>
            <a:solidFill>
              <a:srgbClr val="FFFFFF"/>
            </a:solidFill>
            <a:ln cap="rnd">
              <a:noFill/>
              <a:prstDash val="solid"/>
              <a:round/>
            </a:ln>
          </p:spPr>
        </p:sp>
        <p:sp>
          <p:nvSpPr>
            <p:cNvPr name="TextBox 11" id="11"/>
            <p:cNvSpPr txBox="true"/>
            <p:nvPr/>
          </p:nvSpPr>
          <p:spPr>
            <a:xfrm>
              <a:off x="0" y="-19050"/>
              <a:ext cx="716657" cy="759743"/>
            </a:xfrm>
            <a:prstGeom prst="rect">
              <a:avLst/>
            </a:prstGeom>
          </p:spPr>
          <p:txBody>
            <a:bodyPr anchor="ctr" rtlCol="false" tIns="26301" lIns="26301" bIns="26301" rIns="26301"/>
            <a:lstStyle/>
            <a:p>
              <a:pPr algn="ctr">
                <a:lnSpc>
                  <a:spcPts val="1377"/>
                </a:lnSpc>
              </a:pPr>
            </a:p>
          </p:txBody>
        </p:sp>
      </p:grpSp>
      <p:grpSp>
        <p:nvGrpSpPr>
          <p:cNvPr name="Group 12" id="12"/>
          <p:cNvGrpSpPr/>
          <p:nvPr/>
        </p:nvGrpSpPr>
        <p:grpSpPr>
          <a:xfrm rot="0">
            <a:off x="12048685" y="4799481"/>
            <a:ext cx="927508" cy="958615"/>
            <a:chOff x="0" y="0"/>
            <a:chExt cx="716657" cy="740693"/>
          </a:xfrm>
        </p:grpSpPr>
        <p:sp>
          <p:nvSpPr>
            <p:cNvPr name="Freeform 13" id="13"/>
            <p:cNvSpPr/>
            <p:nvPr/>
          </p:nvSpPr>
          <p:spPr>
            <a:xfrm flipH="false" flipV="false" rot="0">
              <a:off x="0" y="0"/>
              <a:ext cx="716657" cy="740693"/>
            </a:xfrm>
            <a:custGeom>
              <a:avLst/>
              <a:gdLst/>
              <a:ahLst/>
              <a:cxnLst/>
              <a:rect r="r" b="b" t="t" l="l"/>
              <a:pathLst>
                <a:path h="740693" w="716657">
                  <a:moveTo>
                    <a:pt x="250410" y="0"/>
                  </a:moveTo>
                  <a:lnTo>
                    <a:pt x="466247" y="0"/>
                  </a:lnTo>
                  <a:cubicBezTo>
                    <a:pt x="532660" y="0"/>
                    <a:pt x="596353" y="26382"/>
                    <a:pt x="643314" y="73343"/>
                  </a:cubicBezTo>
                  <a:cubicBezTo>
                    <a:pt x="690275" y="120305"/>
                    <a:pt x="716657" y="183997"/>
                    <a:pt x="716657" y="250410"/>
                  </a:cubicBezTo>
                  <a:lnTo>
                    <a:pt x="716657" y="490283"/>
                  </a:lnTo>
                  <a:cubicBezTo>
                    <a:pt x="716657" y="556696"/>
                    <a:pt x="690275" y="620389"/>
                    <a:pt x="643314" y="667350"/>
                  </a:cubicBezTo>
                  <a:cubicBezTo>
                    <a:pt x="596353" y="714311"/>
                    <a:pt x="532660" y="740693"/>
                    <a:pt x="466247" y="740693"/>
                  </a:cubicBezTo>
                  <a:lnTo>
                    <a:pt x="250410" y="740693"/>
                  </a:lnTo>
                  <a:cubicBezTo>
                    <a:pt x="183997" y="740693"/>
                    <a:pt x="120305" y="714311"/>
                    <a:pt x="73343" y="667350"/>
                  </a:cubicBezTo>
                  <a:cubicBezTo>
                    <a:pt x="26382" y="620389"/>
                    <a:pt x="0" y="556696"/>
                    <a:pt x="0" y="490283"/>
                  </a:cubicBezTo>
                  <a:lnTo>
                    <a:pt x="0" y="250410"/>
                  </a:lnTo>
                  <a:cubicBezTo>
                    <a:pt x="0" y="183997"/>
                    <a:pt x="26382" y="120305"/>
                    <a:pt x="73343" y="73343"/>
                  </a:cubicBezTo>
                  <a:cubicBezTo>
                    <a:pt x="120305" y="26382"/>
                    <a:pt x="183997" y="0"/>
                    <a:pt x="250410" y="0"/>
                  </a:cubicBezTo>
                  <a:close/>
                </a:path>
              </a:pathLst>
            </a:custGeom>
            <a:solidFill>
              <a:srgbClr val="FFFFFF"/>
            </a:solidFill>
            <a:ln cap="rnd">
              <a:noFill/>
              <a:prstDash val="solid"/>
              <a:round/>
            </a:ln>
          </p:spPr>
        </p:sp>
        <p:sp>
          <p:nvSpPr>
            <p:cNvPr name="TextBox 14" id="14"/>
            <p:cNvSpPr txBox="true"/>
            <p:nvPr/>
          </p:nvSpPr>
          <p:spPr>
            <a:xfrm>
              <a:off x="0" y="-19050"/>
              <a:ext cx="716657" cy="759743"/>
            </a:xfrm>
            <a:prstGeom prst="rect">
              <a:avLst/>
            </a:prstGeom>
          </p:spPr>
          <p:txBody>
            <a:bodyPr anchor="ctr" rtlCol="false" tIns="26301" lIns="26301" bIns="26301" rIns="26301"/>
            <a:lstStyle/>
            <a:p>
              <a:pPr algn="ctr">
                <a:lnSpc>
                  <a:spcPts val="1377"/>
                </a:lnSpc>
              </a:pPr>
            </a:p>
          </p:txBody>
        </p:sp>
      </p:grpSp>
      <p:grpSp>
        <p:nvGrpSpPr>
          <p:cNvPr name="Group 15" id="15"/>
          <p:cNvGrpSpPr/>
          <p:nvPr/>
        </p:nvGrpSpPr>
        <p:grpSpPr>
          <a:xfrm rot="5400000">
            <a:off x="3110340" y="-3925931"/>
            <a:ext cx="4127957" cy="8291237"/>
            <a:chOff x="0" y="0"/>
            <a:chExt cx="1087198" cy="2183700"/>
          </a:xfrm>
        </p:grpSpPr>
        <p:sp>
          <p:nvSpPr>
            <p:cNvPr name="Freeform 16" id="16"/>
            <p:cNvSpPr/>
            <p:nvPr/>
          </p:nvSpPr>
          <p:spPr>
            <a:xfrm flipH="false" flipV="false" rot="0">
              <a:off x="0" y="0"/>
              <a:ext cx="1087198" cy="2183700"/>
            </a:xfrm>
            <a:custGeom>
              <a:avLst/>
              <a:gdLst/>
              <a:ahLst/>
              <a:cxnLst/>
              <a:rect r="r" b="b" t="t" l="l"/>
              <a:pathLst>
                <a:path h="2183700" w="1087198">
                  <a:moveTo>
                    <a:pt x="52514" y="0"/>
                  </a:moveTo>
                  <a:lnTo>
                    <a:pt x="1034685" y="0"/>
                  </a:lnTo>
                  <a:cubicBezTo>
                    <a:pt x="1063687" y="0"/>
                    <a:pt x="1087198" y="23511"/>
                    <a:pt x="1087198" y="52514"/>
                  </a:cubicBezTo>
                  <a:lnTo>
                    <a:pt x="1087198" y="2131187"/>
                  </a:lnTo>
                  <a:cubicBezTo>
                    <a:pt x="1087198" y="2145114"/>
                    <a:pt x="1081666" y="2158471"/>
                    <a:pt x="1071818" y="2168319"/>
                  </a:cubicBezTo>
                  <a:cubicBezTo>
                    <a:pt x="1061969" y="2178168"/>
                    <a:pt x="1048612" y="2183700"/>
                    <a:pt x="1034685" y="2183700"/>
                  </a:cubicBezTo>
                  <a:lnTo>
                    <a:pt x="52514" y="2183700"/>
                  </a:lnTo>
                  <a:cubicBezTo>
                    <a:pt x="38586" y="2183700"/>
                    <a:pt x="25229" y="2178168"/>
                    <a:pt x="15381" y="2168319"/>
                  </a:cubicBezTo>
                  <a:cubicBezTo>
                    <a:pt x="5533" y="2158471"/>
                    <a:pt x="0" y="2145114"/>
                    <a:pt x="0" y="2131187"/>
                  </a:cubicBezTo>
                  <a:lnTo>
                    <a:pt x="0" y="52514"/>
                  </a:lnTo>
                  <a:cubicBezTo>
                    <a:pt x="0" y="23511"/>
                    <a:pt x="23511" y="0"/>
                    <a:pt x="52514" y="0"/>
                  </a:cubicBezTo>
                  <a:close/>
                </a:path>
              </a:pathLst>
            </a:custGeom>
            <a:solidFill>
              <a:srgbClr val="FDB61B"/>
            </a:solidFill>
          </p:spPr>
        </p:sp>
        <p:sp>
          <p:nvSpPr>
            <p:cNvPr name="TextBox 17" id="17"/>
            <p:cNvSpPr txBox="true"/>
            <p:nvPr/>
          </p:nvSpPr>
          <p:spPr>
            <a:xfrm>
              <a:off x="0" y="-38100"/>
              <a:ext cx="1087198" cy="2221800"/>
            </a:xfrm>
            <a:prstGeom prst="rect">
              <a:avLst/>
            </a:prstGeom>
          </p:spPr>
          <p:txBody>
            <a:bodyPr anchor="ctr" rtlCol="false" tIns="50800" lIns="50800" bIns="50800" rIns="50800"/>
            <a:lstStyle/>
            <a:p>
              <a:pPr algn="ctr">
                <a:lnSpc>
                  <a:spcPts val="1774"/>
                </a:lnSpc>
              </a:pPr>
            </a:p>
          </p:txBody>
        </p:sp>
      </p:grpSp>
      <p:sp>
        <p:nvSpPr>
          <p:cNvPr name="Freeform 18" id="18"/>
          <p:cNvSpPr/>
          <p:nvPr/>
        </p:nvSpPr>
        <p:spPr>
          <a:xfrm flipH="false" flipV="false" rot="0">
            <a:off x="7548850" y="2409413"/>
            <a:ext cx="2200290" cy="2200290"/>
          </a:xfrm>
          <a:custGeom>
            <a:avLst/>
            <a:gdLst/>
            <a:ahLst/>
            <a:cxnLst/>
            <a:rect r="r" b="b" t="t" l="l"/>
            <a:pathLst>
              <a:path h="2200290" w="2200290">
                <a:moveTo>
                  <a:pt x="0" y="0"/>
                </a:moveTo>
                <a:lnTo>
                  <a:pt x="2200290" y="0"/>
                </a:lnTo>
                <a:lnTo>
                  <a:pt x="2200290" y="2200290"/>
                </a:lnTo>
                <a:lnTo>
                  <a:pt x="0" y="22002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false" flipV="false" rot="0">
            <a:off x="14250130" y="2432264"/>
            <a:ext cx="2154588" cy="2154588"/>
          </a:xfrm>
          <a:custGeom>
            <a:avLst/>
            <a:gdLst/>
            <a:ahLst/>
            <a:cxnLst/>
            <a:rect r="r" b="b" t="t" l="l"/>
            <a:pathLst>
              <a:path h="2154588" w="2154588">
                <a:moveTo>
                  <a:pt x="0" y="0"/>
                </a:moveTo>
                <a:lnTo>
                  <a:pt x="2154589" y="0"/>
                </a:lnTo>
                <a:lnTo>
                  <a:pt x="2154589" y="2154588"/>
                </a:lnTo>
                <a:lnTo>
                  <a:pt x="0" y="215458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1848777" y="2740804"/>
            <a:ext cx="2996231" cy="1868899"/>
          </a:xfrm>
          <a:custGeom>
            <a:avLst/>
            <a:gdLst/>
            <a:ahLst/>
            <a:cxnLst/>
            <a:rect r="r" b="b" t="t" l="l"/>
            <a:pathLst>
              <a:path h="1868899" w="2996231">
                <a:moveTo>
                  <a:pt x="0" y="0"/>
                </a:moveTo>
                <a:lnTo>
                  <a:pt x="2996231" y="0"/>
                </a:lnTo>
                <a:lnTo>
                  <a:pt x="2996231" y="1868899"/>
                </a:lnTo>
                <a:lnTo>
                  <a:pt x="0" y="186889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1" id="21"/>
          <p:cNvSpPr txBox="true"/>
          <p:nvPr/>
        </p:nvSpPr>
        <p:spPr>
          <a:xfrm rot="0">
            <a:off x="705692" y="6189338"/>
            <a:ext cx="4827216"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FFFFF"/>
                </a:solidFill>
                <a:latin typeface="Muli Ultra-Bold"/>
                <a:ea typeface="Muli Ultra-Bold"/>
                <a:cs typeface="Muli Ultra-Bold"/>
                <a:sym typeface="Muli Ultra-Bold"/>
              </a:rPr>
              <a:t>Product Owner</a:t>
            </a:r>
          </a:p>
        </p:txBody>
      </p:sp>
      <p:sp>
        <p:nvSpPr>
          <p:cNvPr name="TextBox 22" id="22"/>
          <p:cNvSpPr txBox="true"/>
          <p:nvPr/>
        </p:nvSpPr>
        <p:spPr>
          <a:xfrm rot="0">
            <a:off x="6409208" y="6189338"/>
            <a:ext cx="4827216"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FFFFF"/>
                </a:solidFill>
                <a:latin typeface="Muli Ultra-Bold"/>
                <a:ea typeface="Muli Ultra-Bold"/>
                <a:cs typeface="Muli Ultra-Bold"/>
                <a:sym typeface="Muli Ultra-Bold"/>
              </a:rPr>
              <a:t>Scrum master</a:t>
            </a:r>
          </a:p>
        </p:txBody>
      </p:sp>
      <p:sp>
        <p:nvSpPr>
          <p:cNvPr name="TextBox 23" id="23"/>
          <p:cNvSpPr txBox="true"/>
          <p:nvPr/>
        </p:nvSpPr>
        <p:spPr>
          <a:xfrm rot="0">
            <a:off x="905943" y="5004296"/>
            <a:ext cx="652573" cy="663940"/>
          </a:xfrm>
          <a:prstGeom prst="rect">
            <a:avLst/>
          </a:prstGeom>
        </p:spPr>
        <p:txBody>
          <a:bodyPr anchor="t" rtlCol="false" tIns="0" lIns="0" bIns="0" rIns="0">
            <a:spAutoFit/>
          </a:bodyPr>
          <a:lstStyle/>
          <a:p>
            <a:pPr algn="ctr" marL="0" indent="0" lvl="0">
              <a:lnSpc>
                <a:spcPts val="4967"/>
              </a:lnSpc>
              <a:spcBef>
                <a:spcPct val="0"/>
              </a:spcBef>
            </a:pPr>
            <a:r>
              <a:rPr lang="en-US" b="true" sz="5120" u="none">
                <a:solidFill>
                  <a:srgbClr val="000A1F"/>
                </a:solidFill>
                <a:latin typeface="Muli Heavy"/>
                <a:ea typeface="Muli Heavy"/>
                <a:cs typeface="Muli Heavy"/>
                <a:sym typeface="Muli Heavy"/>
              </a:rPr>
              <a:t>1</a:t>
            </a:r>
          </a:p>
        </p:txBody>
      </p:sp>
      <p:sp>
        <p:nvSpPr>
          <p:cNvPr name="TextBox 24" id="24"/>
          <p:cNvSpPr txBox="true"/>
          <p:nvPr/>
        </p:nvSpPr>
        <p:spPr>
          <a:xfrm rot="0">
            <a:off x="6545420" y="5004296"/>
            <a:ext cx="652573" cy="663940"/>
          </a:xfrm>
          <a:prstGeom prst="rect">
            <a:avLst/>
          </a:prstGeom>
        </p:spPr>
        <p:txBody>
          <a:bodyPr anchor="t" rtlCol="false" tIns="0" lIns="0" bIns="0" rIns="0">
            <a:spAutoFit/>
          </a:bodyPr>
          <a:lstStyle/>
          <a:p>
            <a:pPr algn="ctr" marL="0" indent="0" lvl="0">
              <a:lnSpc>
                <a:spcPts val="4967"/>
              </a:lnSpc>
              <a:spcBef>
                <a:spcPct val="0"/>
              </a:spcBef>
            </a:pPr>
            <a:r>
              <a:rPr lang="en-US" b="true" sz="5120">
                <a:solidFill>
                  <a:srgbClr val="000A1F"/>
                </a:solidFill>
                <a:latin typeface="Muli Heavy"/>
                <a:ea typeface="Muli Heavy"/>
                <a:cs typeface="Muli Heavy"/>
                <a:sym typeface="Muli Heavy"/>
              </a:rPr>
              <a:t>2</a:t>
            </a:r>
          </a:p>
        </p:txBody>
      </p:sp>
      <p:sp>
        <p:nvSpPr>
          <p:cNvPr name="TextBox 25" id="25"/>
          <p:cNvSpPr txBox="true"/>
          <p:nvPr/>
        </p:nvSpPr>
        <p:spPr>
          <a:xfrm rot="0">
            <a:off x="12110900" y="6189338"/>
            <a:ext cx="4827216" cy="495300"/>
          </a:xfrm>
          <a:prstGeom prst="rect">
            <a:avLst/>
          </a:prstGeom>
        </p:spPr>
        <p:txBody>
          <a:bodyPr anchor="t" rtlCol="false" tIns="0" lIns="0" bIns="0" rIns="0">
            <a:spAutoFit/>
          </a:bodyPr>
          <a:lstStyle/>
          <a:p>
            <a:pPr algn="l" marL="0" indent="0" lvl="0">
              <a:lnSpc>
                <a:spcPts val="4199"/>
              </a:lnSpc>
              <a:spcBef>
                <a:spcPct val="0"/>
              </a:spcBef>
            </a:pPr>
            <a:r>
              <a:rPr lang="en-US" b="true" sz="2999">
                <a:solidFill>
                  <a:srgbClr val="FFFFFF"/>
                </a:solidFill>
                <a:latin typeface="Muli Ultra-Bold"/>
                <a:ea typeface="Muli Ultra-Bold"/>
                <a:cs typeface="Muli Ultra-Bold"/>
                <a:sym typeface="Muli Ultra-Bold"/>
              </a:rPr>
              <a:t>Equipo de desarrollo</a:t>
            </a:r>
          </a:p>
        </p:txBody>
      </p:sp>
      <p:sp>
        <p:nvSpPr>
          <p:cNvPr name="TextBox 26" id="26"/>
          <p:cNvSpPr txBox="true"/>
          <p:nvPr/>
        </p:nvSpPr>
        <p:spPr>
          <a:xfrm rot="0">
            <a:off x="12184898" y="5004296"/>
            <a:ext cx="652573" cy="663940"/>
          </a:xfrm>
          <a:prstGeom prst="rect">
            <a:avLst/>
          </a:prstGeom>
        </p:spPr>
        <p:txBody>
          <a:bodyPr anchor="t" rtlCol="false" tIns="0" lIns="0" bIns="0" rIns="0">
            <a:spAutoFit/>
          </a:bodyPr>
          <a:lstStyle/>
          <a:p>
            <a:pPr algn="ctr" marL="0" indent="0" lvl="0">
              <a:lnSpc>
                <a:spcPts val="4967"/>
              </a:lnSpc>
              <a:spcBef>
                <a:spcPct val="0"/>
              </a:spcBef>
            </a:pPr>
            <a:r>
              <a:rPr lang="en-US" b="true" sz="5120">
                <a:solidFill>
                  <a:srgbClr val="000A1F"/>
                </a:solidFill>
                <a:latin typeface="Muli Heavy"/>
                <a:ea typeface="Muli Heavy"/>
                <a:cs typeface="Muli Heavy"/>
                <a:sym typeface="Muli Heavy"/>
              </a:rPr>
              <a:t>3</a:t>
            </a:r>
          </a:p>
        </p:txBody>
      </p:sp>
      <p:sp>
        <p:nvSpPr>
          <p:cNvPr name="TextBox 27" id="27"/>
          <p:cNvSpPr txBox="true"/>
          <p:nvPr/>
        </p:nvSpPr>
        <p:spPr>
          <a:xfrm rot="0">
            <a:off x="1138496" y="622859"/>
            <a:ext cx="8071646" cy="80215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EQUIPO DE TRABAJO</a:t>
            </a:r>
          </a:p>
        </p:txBody>
      </p:sp>
      <p:sp>
        <p:nvSpPr>
          <p:cNvPr name="TextBox 28" id="28"/>
          <p:cNvSpPr txBox="true"/>
          <p:nvPr/>
        </p:nvSpPr>
        <p:spPr>
          <a:xfrm rot="0">
            <a:off x="905943" y="6878182"/>
            <a:ext cx="4881899" cy="1806892"/>
          </a:xfrm>
          <a:prstGeom prst="rect">
            <a:avLst/>
          </a:prstGeom>
        </p:spPr>
        <p:txBody>
          <a:bodyPr anchor="t" rtlCol="false" tIns="0" lIns="0" bIns="0" rIns="0">
            <a:spAutoFit/>
          </a:bodyPr>
          <a:lstStyle/>
          <a:p>
            <a:pPr algn="l" marL="485775" indent="-242888" lvl="1">
              <a:lnSpc>
                <a:spcPts val="3622"/>
              </a:lnSpc>
              <a:buFont typeface="Arial"/>
              <a:buChar char="•"/>
            </a:pPr>
            <a:r>
              <a:rPr lang="en-US" sz="2250" spc="20">
                <a:solidFill>
                  <a:srgbClr val="FFFFFF"/>
                </a:solidFill>
                <a:latin typeface="TT Interphases"/>
                <a:ea typeface="TT Interphases"/>
                <a:cs typeface="TT Interphases"/>
                <a:sym typeface="TT Interphases"/>
              </a:rPr>
              <a:t>Gestionó los requisitos y priorizó las funcionalidades para que el proyecto cumpliera con los objetivos de la Municipalidad.</a:t>
            </a:r>
          </a:p>
        </p:txBody>
      </p:sp>
      <p:sp>
        <p:nvSpPr>
          <p:cNvPr name="TextBox 29" id="29"/>
          <p:cNvSpPr txBox="true"/>
          <p:nvPr/>
        </p:nvSpPr>
        <p:spPr>
          <a:xfrm rot="0">
            <a:off x="6545420" y="6878182"/>
            <a:ext cx="4881899" cy="1806892"/>
          </a:xfrm>
          <a:prstGeom prst="rect">
            <a:avLst/>
          </a:prstGeom>
        </p:spPr>
        <p:txBody>
          <a:bodyPr anchor="t" rtlCol="false" tIns="0" lIns="0" bIns="0" rIns="0">
            <a:spAutoFit/>
          </a:bodyPr>
          <a:lstStyle/>
          <a:p>
            <a:pPr algn="l" marL="485775" indent="-242888" lvl="1">
              <a:lnSpc>
                <a:spcPts val="3622"/>
              </a:lnSpc>
              <a:buFont typeface="Arial"/>
              <a:buChar char="•"/>
            </a:pPr>
            <a:r>
              <a:rPr lang="en-US" sz="2250" spc="20">
                <a:solidFill>
                  <a:srgbClr val="FFFFFF"/>
                </a:solidFill>
                <a:latin typeface="TT Interphases"/>
                <a:ea typeface="TT Interphases"/>
                <a:cs typeface="TT Interphases"/>
                <a:sym typeface="TT Interphases"/>
              </a:rPr>
              <a:t>Se aseguro que el equipo siguiera correctamente la metodología Scrum, como también ayudo en el desarrollo.</a:t>
            </a:r>
          </a:p>
        </p:txBody>
      </p:sp>
      <p:sp>
        <p:nvSpPr>
          <p:cNvPr name="TextBox 30" id="30"/>
          <p:cNvSpPr txBox="true"/>
          <p:nvPr/>
        </p:nvSpPr>
        <p:spPr>
          <a:xfrm rot="0">
            <a:off x="12189319" y="6878182"/>
            <a:ext cx="5520705" cy="1349692"/>
          </a:xfrm>
          <a:prstGeom prst="rect">
            <a:avLst/>
          </a:prstGeom>
        </p:spPr>
        <p:txBody>
          <a:bodyPr anchor="t" rtlCol="false" tIns="0" lIns="0" bIns="0" rIns="0">
            <a:spAutoFit/>
          </a:bodyPr>
          <a:lstStyle/>
          <a:p>
            <a:pPr algn="l" marL="485775" indent="-242888" lvl="1">
              <a:lnSpc>
                <a:spcPts val="3622"/>
              </a:lnSpc>
              <a:buFont typeface="Arial"/>
              <a:buChar char="•"/>
            </a:pPr>
            <a:r>
              <a:rPr lang="en-US" sz="2250" spc="20">
                <a:solidFill>
                  <a:srgbClr val="FFFFFF"/>
                </a:solidFill>
                <a:latin typeface="TT Interphases"/>
                <a:ea typeface="TT Interphases"/>
                <a:cs typeface="TT Interphases"/>
                <a:sym typeface="TT Interphases"/>
              </a:rPr>
              <a:t>Diseñó la base de datos en PostgreSQL y desarrolló las APIs con Django.</a:t>
            </a:r>
          </a:p>
        </p:txBody>
      </p:sp>
      <p:sp>
        <p:nvSpPr>
          <p:cNvPr name="TextBox 31" id="31"/>
          <p:cNvSpPr txBox="true"/>
          <p:nvPr/>
        </p:nvSpPr>
        <p:spPr>
          <a:xfrm rot="0">
            <a:off x="12189319" y="8302480"/>
            <a:ext cx="5520705" cy="892493"/>
          </a:xfrm>
          <a:prstGeom prst="rect">
            <a:avLst/>
          </a:prstGeom>
        </p:spPr>
        <p:txBody>
          <a:bodyPr anchor="t" rtlCol="false" tIns="0" lIns="0" bIns="0" rIns="0">
            <a:spAutoFit/>
          </a:bodyPr>
          <a:lstStyle/>
          <a:p>
            <a:pPr algn="l" marL="485775" indent="-242888" lvl="1">
              <a:lnSpc>
                <a:spcPts val="3622"/>
              </a:lnSpc>
              <a:buFont typeface="Arial"/>
              <a:buChar char="•"/>
            </a:pPr>
            <a:r>
              <a:rPr lang="en-US" sz="2250" spc="20">
                <a:solidFill>
                  <a:srgbClr val="FFFFFF"/>
                </a:solidFill>
                <a:latin typeface="TT Interphases"/>
                <a:ea typeface="TT Interphases"/>
                <a:cs typeface="TT Interphases"/>
                <a:sym typeface="TT Interphases"/>
              </a:rPr>
              <a:t>Construyó la interfaz de la plataforma web usando Django.</a:t>
            </a:r>
          </a:p>
        </p:txBody>
      </p:sp>
      <p:sp>
        <p:nvSpPr>
          <p:cNvPr name="TextBox 32" id="32"/>
          <p:cNvSpPr txBox="true"/>
          <p:nvPr/>
        </p:nvSpPr>
        <p:spPr>
          <a:xfrm rot="0">
            <a:off x="12189319" y="9269578"/>
            <a:ext cx="5525272" cy="892493"/>
          </a:xfrm>
          <a:prstGeom prst="rect">
            <a:avLst/>
          </a:prstGeom>
        </p:spPr>
        <p:txBody>
          <a:bodyPr anchor="t" rtlCol="false" tIns="0" lIns="0" bIns="0" rIns="0">
            <a:spAutoFit/>
          </a:bodyPr>
          <a:lstStyle/>
          <a:p>
            <a:pPr algn="l" marL="485775" indent="-242888" lvl="1">
              <a:lnSpc>
                <a:spcPts val="3622"/>
              </a:lnSpc>
              <a:buFont typeface="Arial"/>
              <a:buChar char="•"/>
            </a:pPr>
            <a:r>
              <a:rPr lang="en-US" sz="2250" spc="20">
                <a:solidFill>
                  <a:srgbClr val="FFFFFF"/>
                </a:solidFill>
                <a:latin typeface="TT Interphases"/>
                <a:ea typeface="TT Interphases"/>
                <a:cs typeface="TT Interphases"/>
                <a:sym typeface="TT Interphases"/>
              </a:rPr>
              <a:t>Creó la aplicación con Ionic/Angular, conectándola a las APIs. </a:t>
            </a:r>
          </a:p>
        </p:txBody>
      </p:sp>
      <p:grpSp>
        <p:nvGrpSpPr>
          <p:cNvPr name="Group 33" id="33"/>
          <p:cNvGrpSpPr>
            <a:grpSpLocks noChangeAspect="true"/>
          </p:cNvGrpSpPr>
          <p:nvPr/>
        </p:nvGrpSpPr>
        <p:grpSpPr>
          <a:xfrm rot="0">
            <a:off x="14063826" y="-414141"/>
            <a:ext cx="4224174" cy="2567599"/>
            <a:chOff x="0" y="0"/>
            <a:chExt cx="5632232" cy="3423465"/>
          </a:xfrm>
        </p:grpSpPr>
        <p:sp>
          <p:nvSpPr>
            <p:cNvPr name="Freeform 34" id="34"/>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9"/>
              <a:stretch>
                <a:fillRect l="-5149" t="-37679" r="-5140" b="-32516"/>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3220135" y="-4784581"/>
            <a:ext cx="4127957" cy="8291237"/>
            <a:chOff x="0" y="0"/>
            <a:chExt cx="1087198" cy="2183700"/>
          </a:xfrm>
        </p:grpSpPr>
        <p:sp>
          <p:nvSpPr>
            <p:cNvPr name="Freeform 4" id="4"/>
            <p:cNvSpPr/>
            <p:nvPr/>
          </p:nvSpPr>
          <p:spPr>
            <a:xfrm flipH="false" flipV="false" rot="0">
              <a:off x="0" y="0"/>
              <a:ext cx="1087198" cy="2183700"/>
            </a:xfrm>
            <a:custGeom>
              <a:avLst/>
              <a:gdLst/>
              <a:ahLst/>
              <a:cxnLst/>
              <a:rect r="r" b="b" t="t" l="l"/>
              <a:pathLst>
                <a:path h="2183700" w="1087198">
                  <a:moveTo>
                    <a:pt x="52514" y="0"/>
                  </a:moveTo>
                  <a:lnTo>
                    <a:pt x="1034685" y="0"/>
                  </a:lnTo>
                  <a:cubicBezTo>
                    <a:pt x="1063687" y="0"/>
                    <a:pt x="1087198" y="23511"/>
                    <a:pt x="1087198" y="52514"/>
                  </a:cubicBezTo>
                  <a:lnTo>
                    <a:pt x="1087198" y="2131187"/>
                  </a:lnTo>
                  <a:cubicBezTo>
                    <a:pt x="1087198" y="2145114"/>
                    <a:pt x="1081666" y="2158471"/>
                    <a:pt x="1071818" y="2168319"/>
                  </a:cubicBezTo>
                  <a:cubicBezTo>
                    <a:pt x="1061969" y="2178168"/>
                    <a:pt x="1048612" y="2183700"/>
                    <a:pt x="1034685" y="2183700"/>
                  </a:cubicBezTo>
                  <a:lnTo>
                    <a:pt x="52514" y="2183700"/>
                  </a:lnTo>
                  <a:cubicBezTo>
                    <a:pt x="38586" y="2183700"/>
                    <a:pt x="25229" y="2178168"/>
                    <a:pt x="15381" y="2168319"/>
                  </a:cubicBezTo>
                  <a:cubicBezTo>
                    <a:pt x="5533" y="2158471"/>
                    <a:pt x="0" y="2145114"/>
                    <a:pt x="0" y="2131187"/>
                  </a:cubicBezTo>
                  <a:lnTo>
                    <a:pt x="0" y="52514"/>
                  </a:lnTo>
                  <a:cubicBezTo>
                    <a:pt x="0" y="23511"/>
                    <a:pt x="23511" y="0"/>
                    <a:pt x="52514" y="0"/>
                  </a:cubicBezTo>
                  <a:close/>
                </a:path>
              </a:pathLst>
            </a:custGeom>
            <a:solidFill>
              <a:srgbClr val="FDB61B"/>
            </a:solidFill>
          </p:spPr>
        </p:sp>
        <p:sp>
          <p:nvSpPr>
            <p:cNvPr name="TextBox 5" id="5"/>
            <p:cNvSpPr txBox="true"/>
            <p:nvPr/>
          </p:nvSpPr>
          <p:spPr>
            <a:xfrm>
              <a:off x="0" y="-38100"/>
              <a:ext cx="1087198" cy="2221800"/>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5659147" y="-4324043"/>
            <a:ext cx="7541170" cy="20032059"/>
            <a:chOff x="0" y="0"/>
            <a:chExt cx="1986152" cy="5275933"/>
          </a:xfrm>
        </p:grpSpPr>
        <p:sp>
          <p:nvSpPr>
            <p:cNvPr name="Freeform 7" id="7"/>
            <p:cNvSpPr/>
            <p:nvPr/>
          </p:nvSpPr>
          <p:spPr>
            <a:xfrm flipH="false" flipV="false" rot="0">
              <a:off x="0" y="0"/>
              <a:ext cx="1986152" cy="5275933"/>
            </a:xfrm>
            <a:custGeom>
              <a:avLst/>
              <a:gdLst/>
              <a:ahLst/>
              <a:cxnLst/>
              <a:rect r="r" b="b" t="t" l="l"/>
              <a:pathLst>
                <a:path h="5275933" w="1986152">
                  <a:moveTo>
                    <a:pt x="28745" y="0"/>
                  </a:moveTo>
                  <a:lnTo>
                    <a:pt x="1957406" y="0"/>
                  </a:lnTo>
                  <a:cubicBezTo>
                    <a:pt x="1965030" y="0"/>
                    <a:pt x="1972342" y="3029"/>
                    <a:pt x="1977733" y="8419"/>
                  </a:cubicBezTo>
                  <a:cubicBezTo>
                    <a:pt x="1983123" y="13810"/>
                    <a:pt x="1986152" y="21122"/>
                    <a:pt x="1986152" y="28745"/>
                  </a:cubicBezTo>
                  <a:lnTo>
                    <a:pt x="1986152" y="5247188"/>
                  </a:lnTo>
                  <a:cubicBezTo>
                    <a:pt x="1986152" y="5254812"/>
                    <a:pt x="1983123" y="5262123"/>
                    <a:pt x="1977733" y="5267514"/>
                  </a:cubicBezTo>
                  <a:cubicBezTo>
                    <a:pt x="1972342" y="5272905"/>
                    <a:pt x="1965030" y="5275933"/>
                    <a:pt x="1957406" y="5275933"/>
                  </a:cubicBezTo>
                  <a:lnTo>
                    <a:pt x="28745" y="5275933"/>
                  </a:lnTo>
                  <a:cubicBezTo>
                    <a:pt x="21122" y="5275933"/>
                    <a:pt x="13810" y="5272905"/>
                    <a:pt x="8419" y="5267514"/>
                  </a:cubicBezTo>
                  <a:cubicBezTo>
                    <a:pt x="3029" y="5262123"/>
                    <a:pt x="0" y="5254812"/>
                    <a:pt x="0" y="5247188"/>
                  </a:cubicBezTo>
                  <a:lnTo>
                    <a:pt x="0" y="28745"/>
                  </a:lnTo>
                  <a:cubicBezTo>
                    <a:pt x="0" y="21122"/>
                    <a:pt x="3029" y="13810"/>
                    <a:pt x="8419" y="8419"/>
                  </a:cubicBezTo>
                  <a:cubicBezTo>
                    <a:pt x="13810" y="3029"/>
                    <a:pt x="21122" y="0"/>
                    <a:pt x="28745" y="0"/>
                  </a:cubicBezTo>
                  <a:close/>
                </a:path>
              </a:pathLst>
            </a:custGeom>
            <a:solidFill>
              <a:srgbClr val="00407B"/>
            </a:solidFill>
          </p:spPr>
        </p:sp>
        <p:sp>
          <p:nvSpPr>
            <p:cNvPr name="TextBox 8" id="8"/>
            <p:cNvSpPr txBox="true"/>
            <p:nvPr/>
          </p:nvSpPr>
          <p:spPr>
            <a:xfrm>
              <a:off x="0" y="-38100"/>
              <a:ext cx="1986152" cy="5314033"/>
            </a:xfrm>
            <a:prstGeom prst="rect">
              <a:avLst/>
            </a:prstGeom>
          </p:spPr>
          <p:txBody>
            <a:bodyPr anchor="ctr" rtlCol="false" tIns="50800" lIns="50800" bIns="50800" rIns="50800"/>
            <a:lstStyle/>
            <a:p>
              <a:pPr algn="ctr">
                <a:lnSpc>
                  <a:spcPts val="1774"/>
                </a:lnSpc>
              </a:pPr>
            </a:p>
          </p:txBody>
        </p:sp>
      </p:grpSp>
      <p:sp>
        <p:nvSpPr>
          <p:cNvPr name="TextBox 9" id="9"/>
          <p:cNvSpPr txBox="true"/>
          <p:nvPr/>
        </p:nvSpPr>
        <p:spPr>
          <a:xfrm rot="0">
            <a:off x="949782" y="-130632"/>
            <a:ext cx="8668664" cy="1555648"/>
          </a:xfrm>
          <a:prstGeom prst="rect">
            <a:avLst/>
          </a:prstGeom>
        </p:spPr>
        <p:txBody>
          <a:bodyPr anchor="t" rtlCol="false" tIns="0" lIns="0" bIns="0" rIns="0">
            <a:spAutoFit/>
          </a:bodyPr>
          <a:lstStyle/>
          <a:p>
            <a:pPr algn="ctr" marL="0" indent="0" lvl="0">
              <a:lnSpc>
                <a:spcPts val="6224"/>
              </a:lnSpc>
              <a:spcBef>
                <a:spcPct val="0"/>
              </a:spcBef>
            </a:pPr>
            <a:r>
              <a:rPr lang="en-US" b="true" sz="5020" spc="95">
                <a:solidFill>
                  <a:srgbClr val="FFFFFF"/>
                </a:solidFill>
                <a:latin typeface="Muli Heavy"/>
                <a:ea typeface="Muli Heavy"/>
                <a:cs typeface="Muli Heavy"/>
                <a:sym typeface="Muli Heavy"/>
              </a:rPr>
              <a:t>SPRINT/SPRINT PLANNING</a:t>
            </a:r>
          </a:p>
        </p:txBody>
      </p:sp>
      <p:grpSp>
        <p:nvGrpSpPr>
          <p:cNvPr name="Group 10" id="10"/>
          <p:cNvGrpSpPr>
            <a:grpSpLocks noChangeAspect="true"/>
          </p:cNvGrpSpPr>
          <p:nvPr/>
        </p:nvGrpSpPr>
        <p:grpSpPr>
          <a:xfrm rot="0">
            <a:off x="14063826" y="-414141"/>
            <a:ext cx="4224174" cy="2567599"/>
            <a:chOff x="0" y="0"/>
            <a:chExt cx="5632232" cy="3423465"/>
          </a:xfrm>
        </p:grpSpPr>
        <p:sp>
          <p:nvSpPr>
            <p:cNvPr name="Freeform 11" id="11"/>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2" id="12"/>
          <p:cNvGrpSpPr/>
          <p:nvPr/>
        </p:nvGrpSpPr>
        <p:grpSpPr>
          <a:xfrm rot="5400000">
            <a:off x="-3517099" y="1546368"/>
            <a:ext cx="7541170" cy="8291237"/>
            <a:chOff x="0" y="0"/>
            <a:chExt cx="1986152" cy="2183700"/>
          </a:xfrm>
        </p:grpSpPr>
        <p:sp>
          <p:nvSpPr>
            <p:cNvPr name="Freeform 13" id="13"/>
            <p:cNvSpPr/>
            <p:nvPr/>
          </p:nvSpPr>
          <p:spPr>
            <a:xfrm flipH="false" flipV="false" rot="0">
              <a:off x="0" y="0"/>
              <a:ext cx="1986152" cy="2183700"/>
            </a:xfrm>
            <a:custGeom>
              <a:avLst/>
              <a:gdLst/>
              <a:ahLst/>
              <a:cxnLst/>
              <a:rect r="r" b="b" t="t" l="l"/>
              <a:pathLst>
                <a:path h="2183700" w="1986152">
                  <a:moveTo>
                    <a:pt x="0" y="0"/>
                  </a:moveTo>
                  <a:lnTo>
                    <a:pt x="1986152" y="0"/>
                  </a:lnTo>
                  <a:lnTo>
                    <a:pt x="1986152" y="2183700"/>
                  </a:lnTo>
                  <a:lnTo>
                    <a:pt x="0" y="2183700"/>
                  </a:lnTo>
                  <a:close/>
                </a:path>
              </a:pathLst>
            </a:custGeom>
            <a:solidFill>
              <a:srgbClr val="FDB61B"/>
            </a:solidFill>
          </p:spPr>
        </p:sp>
        <p:sp>
          <p:nvSpPr>
            <p:cNvPr name="TextBox 14" id="14"/>
            <p:cNvSpPr txBox="true"/>
            <p:nvPr/>
          </p:nvSpPr>
          <p:spPr>
            <a:xfrm>
              <a:off x="0" y="-38100"/>
              <a:ext cx="1986152" cy="2221800"/>
            </a:xfrm>
            <a:prstGeom prst="rect">
              <a:avLst/>
            </a:prstGeom>
          </p:spPr>
          <p:txBody>
            <a:bodyPr anchor="ctr" rtlCol="false" tIns="50800" lIns="50800" bIns="50800" rIns="50800"/>
            <a:lstStyle/>
            <a:p>
              <a:pPr algn="ctr">
                <a:lnSpc>
                  <a:spcPts val="1774"/>
                </a:lnSpc>
              </a:pPr>
            </a:p>
          </p:txBody>
        </p:sp>
      </p:grpSp>
      <p:sp>
        <p:nvSpPr>
          <p:cNvPr name="Freeform 15" id="15"/>
          <p:cNvSpPr/>
          <p:nvPr/>
        </p:nvSpPr>
        <p:spPr>
          <a:xfrm flipH="false" flipV="false" rot="0">
            <a:off x="4662545" y="2510841"/>
            <a:ext cx="13220342" cy="6362290"/>
          </a:xfrm>
          <a:custGeom>
            <a:avLst/>
            <a:gdLst/>
            <a:ahLst/>
            <a:cxnLst/>
            <a:rect r="r" b="b" t="t" l="l"/>
            <a:pathLst>
              <a:path h="6362290" w="13220342">
                <a:moveTo>
                  <a:pt x="0" y="0"/>
                </a:moveTo>
                <a:lnTo>
                  <a:pt x="13220342" y="0"/>
                </a:lnTo>
                <a:lnTo>
                  <a:pt x="13220342" y="6362290"/>
                </a:lnTo>
                <a:lnTo>
                  <a:pt x="0" y="6362290"/>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3615183" y="-7435708"/>
            <a:ext cx="3843522" cy="13821907"/>
            <a:chOff x="0" y="0"/>
            <a:chExt cx="1012286" cy="3640338"/>
          </a:xfrm>
        </p:grpSpPr>
        <p:sp>
          <p:nvSpPr>
            <p:cNvPr name="Freeform 4" id="4"/>
            <p:cNvSpPr/>
            <p:nvPr/>
          </p:nvSpPr>
          <p:spPr>
            <a:xfrm flipH="false" flipV="false" rot="0">
              <a:off x="0" y="0"/>
              <a:ext cx="1012286" cy="3640337"/>
            </a:xfrm>
            <a:custGeom>
              <a:avLst/>
              <a:gdLst/>
              <a:ahLst/>
              <a:cxnLst/>
              <a:rect r="r" b="b" t="t" l="l"/>
              <a:pathLst>
                <a:path h="3640337" w="1012286">
                  <a:moveTo>
                    <a:pt x="56400" y="0"/>
                  </a:moveTo>
                  <a:lnTo>
                    <a:pt x="955886" y="0"/>
                  </a:lnTo>
                  <a:cubicBezTo>
                    <a:pt x="987035" y="0"/>
                    <a:pt x="1012286" y="25251"/>
                    <a:pt x="1012286" y="56400"/>
                  </a:cubicBezTo>
                  <a:lnTo>
                    <a:pt x="1012286" y="3583938"/>
                  </a:lnTo>
                  <a:cubicBezTo>
                    <a:pt x="1012286" y="3615086"/>
                    <a:pt x="987035" y="3640337"/>
                    <a:pt x="955886" y="3640337"/>
                  </a:cubicBezTo>
                  <a:lnTo>
                    <a:pt x="56400" y="3640337"/>
                  </a:lnTo>
                  <a:cubicBezTo>
                    <a:pt x="41442" y="3640337"/>
                    <a:pt x="27096" y="3634395"/>
                    <a:pt x="16519" y="3623818"/>
                  </a:cubicBezTo>
                  <a:cubicBezTo>
                    <a:pt x="5942" y="3613241"/>
                    <a:pt x="0" y="3598896"/>
                    <a:pt x="0" y="3583938"/>
                  </a:cubicBezTo>
                  <a:lnTo>
                    <a:pt x="0" y="56400"/>
                  </a:lnTo>
                  <a:cubicBezTo>
                    <a:pt x="0" y="25251"/>
                    <a:pt x="25251" y="0"/>
                    <a:pt x="56400" y="0"/>
                  </a:cubicBezTo>
                  <a:close/>
                </a:path>
              </a:pathLst>
            </a:custGeom>
            <a:solidFill>
              <a:srgbClr val="FDB61B"/>
            </a:solidFill>
          </p:spPr>
        </p:sp>
        <p:sp>
          <p:nvSpPr>
            <p:cNvPr name="TextBox 5" id="5"/>
            <p:cNvSpPr txBox="true"/>
            <p:nvPr/>
          </p:nvSpPr>
          <p:spPr>
            <a:xfrm>
              <a:off x="0" y="-38100"/>
              <a:ext cx="1012286" cy="3678438"/>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5659147" y="-4324043"/>
            <a:ext cx="7541170" cy="20032059"/>
            <a:chOff x="0" y="0"/>
            <a:chExt cx="1986152" cy="5275933"/>
          </a:xfrm>
        </p:grpSpPr>
        <p:sp>
          <p:nvSpPr>
            <p:cNvPr name="Freeform 7" id="7"/>
            <p:cNvSpPr/>
            <p:nvPr/>
          </p:nvSpPr>
          <p:spPr>
            <a:xfrm flipH="false" flipV="false" rot="0">
              <a:off x="0" y="0"/>
              <a:ext cx="1986152" cy="5275933"/>
            </a:xfrm>
            <a:custGeom>
              <a:avLst/>
              <a:gdLst/>
              <a:ahLst/>
              <a:cxnLst/>
              <a:rect r="r" b="b" t="t" l="l"/>
              <a:pathLst>
                <a:path h="5275933" w="1986152">
                  <a:moveTo>
                    <a:pt x="28745" y="0"/>
                  </a:moveTo>
                  <a:lnTo>
                    <a:pt x="1957406" y="0"/>
                  </a:lnTo>
                  <a:cubicBezTo>
                    <a:pt x="1965030" y="0"/>
                    <a:pt x="1972342" y="3029"/>
                    <a:pt x="1977733" y="8419"/>
                  </a:cubicBezTo>
                  <a:cubicBezTo>
                    <a:pt x="1983123" y="13810"/>
                    <a:pt x="1986152" y="21122"/>
                    <a:pt x="1986152" y="28745"/>
                  </a:cubicBezTo>
                  <a:lnTo>
                    <a:pt x="1986152" y="5247188"/>
                  </a:lnTo>
                  <a:cubicBezTo>
                    <a:pt x="1986152" y="5254812"/>
                    <a:pt x="1983123" y="5262123"/>
                    <a:pt x="1977733" y="5267514"/>
                  </a:cubicBezTo>
                  <a:cubicBezTo>
                    <a:pt x="1972342" y="5272905"/>
                    <a:pt x="1965030" y="5275933"/>
                    <a:pt x="1957406" y="5275933"/>
                  </a:cubicBezTo>
                  <a:lnTo>
                    <a:pt x="28745" y="5275933"/>
                  </a:lnTo>
                  <a:cubicBezTo>
                    <a:pt x="21122" y="5275933"/>
                    <a:pt x="13810" y="5272905"/>
                    <a:pt x="8419" y="5267514"/>
                  </a:cubicBezTo>
                  <a:cubicBezTo>
                    <a:pt x="3029" y="5262123"/>
                    <a:pt x="0" y="5254812"/>
                    <a:pt x="0" y="5247188"/>
                  </a:cubicBezTo>
                  <a:lnTo>
                    <a:pt x="0" y="28745"/>
                  </a:lnTo>
                  <a:cubicBezTo>
                    <a:pt x="0" y="21122"/>
                    <a:pt x="3029" y="13810"/>
                    <a:pt x="8419" y="8419"/>
                  </a:cubicBezTo>
                  <a:cubicBezTo>
                    <a:pt x="13810" y="3029"/>
                    <a:pt x="21122" y="0"/>
                    <a:pt x="28745" y="0"/>
                  </a:cubicBezTo>
                  <a:close/>
                </a:path>
              </a:pathLst>
            </a:custGeom>
            <a:solidFill>
              <a:srgbClr val="00407B"/>
            </a:solidFill>
          </p:spPr>
        </p:sp>
        <p:sp>
          <p:nvSpPr>
            <p:cNvPr name="TextBox 8" id="8"/>
            <p:cNvSpPr txBox="true"/>
            <p:nvPr/>
          </p:nvSpPr>
          <p:spPr>
            <a:xfrm>
              <a:off x="0" y="-38100"/>
              <a:ext cx="1986152" cy="5314033"/>
            </a:xfrm>
            <a:prstGeom prst="rect">
              <a:avLst/>
            </a:prstGeom>
          </p:spPr>
          <p:txBody>
            <a:bodyPr anchor="ctr" rtlCol="false" tIns="50800" lIns="50800" bIns="50800" rIns="50800"/>
            <a:lstStyle/>
            <a:p>
              <a:pPr algn="ctr">
                <a:lnSpc>
                  <a:spcPts val="1774"/>
                </a:lnSpc>
              </a:pPr>
            </a:p>
          </p:txBody>
        </p:sp>
      </p:grpSp>
      <p:grpSp>
        <p:nvGrpSpPr>
          <p:cNvPr name="Group 9" id="9"/>
          <p:cNvGrpSpPr>
            <a:grpSpLocks noChangeAspect="true"/>
          </p:cNvGrpSpPr>
          <p:nvPr/>
        </p:nvGrpSpPr>
        <p:grpSpPr>
          <a:xfrm rot="0">
            <a:off x="14063826" y="-414141"/>
            <a:ext cx="4224174" cy="2567599"/>
            <a:chOff x="0" y="0"/>
            <a:chExt cx="5632232" cy="3423465"/>
          </a:xfrm>
        </p:grpSpPr>
        <p:sp>
          <p:nvSpPr>
            <p:cNvPr name="Freeform 10" id="10"/>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1" id="11"/>
          <p:cNvGrpSpPr/>
          <p:nvPr/>
        </p:nvGrpSpPr>
        <p:grpSpPr>
          <a:xfrm rot="5400000">
            <a:off x="-3517099" y="1546368"/>
            <a:ext cx="7541170" cy="8291237"/>
            <a:chOff x="0" y="0"/>
            <a:chExt cx="1986152" cy="2183700"/>
          </a:xfrm>
        </p:grpSpPr>
        <p:sp>
          <p:nvSpPr>
            <p:cNvPr name="Freeform 12" id="12"/>
            <p:cNvSpPr/>
            <p:nvPr/>
          </p:nvSpPr>
          <p:spPr>
            <a:xfrm flipH="false" flipV="false" rot="0">
              <a:off x="0" y="0"/>
              <a:ext cx="1986152" cy="2183700"/>
            </a:xfrm>
            <a:custGeom>
              <a:avLst/>
              <a:gdLst/>
              <a:ahLst/>
              <a:cxnLst/>
              <a:rect r="r" b="b" t="t" l="l"/>
              <a:pathLst>
                <a:path h="2183700" w="1986152">
                  <a:moveTo>
                    <a:pt x="0" y="0"/>
                  </a:moveTo>
                  <a:lnTo>
                    <a:pt x="1986152" y="0"/>
                  </a:lnTo>
                  <a:lnTo>
                    <a:pt x="1986152" y="2183700"/>
                  </a:lnTo>
                  <a:lnTo>
                    <a:pt x="0" y="2183700"/>
                  </a:lnTo>
                  <a:close/>
                </a:path>
              </a:pathLst>
            </a:custGeom>
            <a:solidFill>
              <a:srgbClr val="FDB61B"/>
            </a:solidFill>
          </p:spPr>
        </p:sp>
        <p:sp>
          <p:nvSpPr>
            <p:cNvPr name="TextBox 13" id="13"/>
            <p:cNvSpPr txBox="true"/>
            <p:nvPr/>
          </p:nvSpPr>
          <p:spPr>
            <a:xfrm>
              <a:off x="0" y="-38100"/>
              <a:ext cx="1986152" cy="2221800"/>
            </a:xfrm>
            <a:prstGeom prst="rect">
              <a:avLst/>
            </a:prstGeom>
          </p:spPr>
          <p:txBody>
            <a:bodyPr anchor="ctr" rtlCol="false" tIns="50800" lIns="50800" bIns="50800" rIns="50800"/>
            <a:lstStyle/>
            <a:p>
              <a:pPr algn="ctr">
                <a:lnSpc>
                  <a:spcPts val="1774"/>
                </a:lnSpc>
              </a:pPr>
            </a:p>
          </p:txBody>
        </p:sp>
      </p:grpSp>
      <p:sp>
        <p:nvSpPr>
          <p:cNvPr name="Freeform 14" id="14"/>
          <p:cNvSpPr/>
          <p:nvPr/>
        </p:nvSpPr>
        <p:spPr>
          <a:xfrm flipH="false" flipV="false" rot="0">
            <a:off x="5205216" y="2643669"/>
            <a:ext cx="11618687" cy="5909601"/>
          </a:xfrm>
          <a:custGeom>
            <a:avLst/>
            <a:gdLst/>
            <a:ahLst/>
            <a:cxnLst/>
            <a:rect r="r" b="b" t="t" l="l"/>
            <a:pathLst>
              <a:path h="5909601" w="11618687">
                <a:moveTo>
                  <a:pt x="0" y="0"/>
                </a:moveTo>
                <a:lnTo>
                  <a:pt x="11618687" y="0"/>
                </a:lnTo>
                <a:lnTo>
                  <a:pt x="11618687" y="5909601"/>
                </a:lnTo>
                <a:lnTo>
                  <a:pt x="0" y="5909601"/>
                </a:lnTo>
                <a:lnTo>
                  <a:pt x="0" y="0"/>
                </a:lnTo>
                <a:close/>
              </a:path>
            </a:pathLst>
          </a:custGeom>
          <a:blipFill>
            <a:blip r:embed="rId4"/>
            <a:stretch>
              <a:fillRect l="0" t="-4401" r="0" b="0"/>
            </a:stretch>
          </a:blipFill>
        </p:spPr>
      </p:sp>
      <p:sp>
        <p:nvSpPr>
          <p:cNvPr name="TextBox 15" id="15"/>
          <p:cNvSpPr txBox="true"/>
          <p:nvPr/>
        </p:nvSpPr>
        <p:spPr>
          <a:xfrm rot="0">
            <a:off x="0" y="330815"/>
            <a:ext cx="12793964" cy="697885"/>
          </a:xfrm>
          <a:prstGeom prst="rect">
            <a:avLst/>
          </a:prstGeom>
        </p:spPr>
        <p:txBody>
          <a:bodyPr anchor="t" rtlCol="false" tIns="0" lIns="0" bIns="0" rIns="0">
            <a:spAutoFit/>
          </a:bodyPr>
          <a:lstStyle/>
          <a:p>
            <a:pPr algn="ctr" marL="0" indent="0" lvl="0">
              <a:lnSpc>
                <a:spcPts val="5543"/>
              </a:lnSpc>
              <a:spcBef>
                <a:spcPct val="0"/>
              </a:spcBef>
            </a:pPr>
            <a:r>
              <a:rPr lang="en-US" b="true" sz="4470" spc="84">
                <a:solidFill>
                  <a:srgbClr val="FFFFFF"/>
                </a:solidFill>
                <a:latin typeface="Muli Heavy"/>
                <a:ea typeface="Muli Heavy"/>
                <a:cs typeface="Muli Heavy"/>
                <a:sym typeface="Muli Heavy"/>
              </a:rPr>
              <a:t>DAILY MEETINGS/SPRINT PLANNING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3220135" y="-4784581"/>
            <a:ext cx="4127957" cy="8291237"/>
            <a:chOff x="0" y="0"/>
            <a:chExt cx="1087198" cy="2183700"/>
          </a:xfrm>
        </p:grpSpPr>
        <p:sp>
          <p:nvSpPr>
            <p:cNvPr name="Freeform 4" id="4"/>
            <p:cNvSpPr/>
            <p:nvPr/>
          </p:nvSpPr>
          <p:spPr>
            <a:xfrm flipH="false" flipV="false" rot="0">
              <a:off x="0" y="0"/>
              <a:ext cx="1087198" cy="2183700"/>
            </a:xfrm>
            <a:custGeom>
              <a:avLst/>
              <a:gdLst/>
              <a:ahLst/>
              <a:cxnLst/>
              <a:rect r="r" b="b" t="t" l="l"/>
              <a:pathLst>
                <a:path h="2183700" w="1087198">
                  <a:moveTo>
                    <a:pt x="52514" y="0"/>
                  </a:moveTo>
                  <a:lnTo>
                    <a:pt x="1034685" y="0"/>
                  </a:lnTo>
                  <a:cubicBezTo>
                    <a:pt x="1063687" y="0"/>
                    <a:pt x="1087198" y="23511"/>
                    <a:pt x="1087198" y="52514"/>
                  </a:cubicBezTo>
                  <a:lnTo>
                    <a:pt x="1087198" y="2131187"/>
                  </a:lnTo>
                  <a:cubicBezTo>
                    <a:pt x="1087198" y="2145114"/>
                    <a:pt x="1081666" y="2158471"/>
                    <a:pt x="1071818" y="2168319"/>
                  </a:cubicBezTo>
                  <a:cubicBezTo>
                    <a:pt x="1061969" y="2178168"/>
                    <a:pt x="1048612" y="2183700"/>
                    <a:pt x="1034685" y="2183700"/>
                  </a:cubicBezTo>
                  <a:lnTo>
                    <a:pt x="52514" y="2183700"/>
                  </a:lnTo>
                  <a:cubicBezTo>
                    <a:pt x="38586" y="2183700"/>
                    <a:pt x="25229" y="2178168"/>
                    <a:pt x="15381" y="2168319"/>
                  </a:cubicBezTo>
                  <a:cubicBezTo>
                    <a:pt x="5533" y="2158471"/>
                    <a:pt x="0" y="2145114"/>
                    <a:pt x="0" y="2131187"/>
                  </a:cubicBezTo>
                  <a:lnTo>
                    <a:pt x="0" y="52514"/>
                  </a:lnTo>
                  <a:cubicBezTo>
                    <a:pt x="0" y="23511"/>
                    <a:pt x="23511" y="0"/>
                    <a:pt x="52514" y="0"/>
                  </a:cubicBezTo>
                  <a:close/>
                </a:path>
              </a:pathLst>
            </a:custGeom>
            <a:solidFill>
              <a:srgbClr val="FDB61B"/>
            </a:solidFill>
          </p:spPr>
        </p:sp>
        <p:sp>
          <p:nvSpPr>
            <p:cNvPr name="TextBox 5" id="5"/>
            <p:cNvSpPr txBox="true"/>
            <p:nvPr/>
          </p:nvSpPr>
          <p:spPr>
            <a:xfrm>
              <a:off x="0" y="-38100"/>
              <a:ext cx="1087198" cy="2221800"/>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5659147" y="-4324043"/>
            <a:ext cx="7541170" cy="20032059"/>
            <a:chOff x="0" y="0"/>
            <a:chExt cx="1986152" cy="5275933"/>
          </a:xfrm>
        </p:grpSpPr>
        <p:sp>
          <p:nvSpPr>
            <p:cNvPr name="Freeform 7" id="7"/>
            <p:cNvSpPr/>
            <p:nvPr/>
          </p:nvSpPr>
          <p:spPr>
            <a:xfrm flipH="false" flipV="false" rot="0">
              <a:off x="0" y="0"/>
              <a:ext cx="1986152" cy="5275933"/>
            </a:xfrm>
            <a:custGeom>
              <a:avLst/>
              <a:gdLst/>
              <a:ahLst/>
              <a:cxnLst/>
              <a:rect r="r" b="b" t="t" l="l"/>
              <a:pathLst>
                <a:path h="5275933" w="1986152">
                  <a:moveTo>
                    <a:pt x="28745" y="0"/>
                  </a:moveTo>
                  <a:lnTo>
                    <a:pt x="1957406" y="0"/>
                  </a:lnTo>
                  <a:cubicBezTo>
                    <a:pt x="1965030" y="0"/>
                    <a:pt x="1972342" y="3029"/>
                    <a:pt x="1977733" y="8419"/>
                  </a:cubicBezTo>
                  <a:cubicBezTo>
                    <a:pt x="1983123" y="13810"/>
                    <a:pt x="1986152" y="21122"/>
                    <a:pt x="1986152" y="28745"/>
                  </a:cubicBezTo>
                  <a:lnTo>
                    <a:pt x="1986152" y="5247188"/>
                  </a:lnTo>
                  <a:cubicBezTo>
                    <a:pt x="1986152" y="5254812"/>
                    <a:pt x="1983123" y="5262123"/>
                    <a:pt x="1977733" y="5267514"/>
                  </a:cubicBezTo>
                  <a:cubicBezTo>
                    <a:pt x="1972342" y="5272905"/>
                    <a:pt x="1965030" y="5275933"/>
                    <a:pt x="1957406" y="5275933"/>
                  </a:cubicBezTo>
                  <a:lnTo>
                    <a:pt x="28745" y="5275933"/>
                  </a:lnTo>
                  <a:cubicBezTo>
                    <a:pt x="21122" y="5275933"/>
                    <a:pt x="13810" y="5272905"/>
                    <a:pt x="8419" y="5267514"/>
                  </a:cubicBezTo>
                  <a:cubicBezTo>
                    <a:pt x="3029" y="5262123"/>
                    <a:pt x="0" y="5254812"/>
                    <a:pt x="0" y="5247188"/>
                  </a:cubicBezTo>
                  <a:lnTo>
                    <a:pt x="0" y="28745"/>
                  </a:lnTo>
                  <a:cubicBezTo>
                    <a:pt x="0" y="21122"/>
                    <a:pt x="3029" y="13810"/>
                    <a:pt x="8419" y="8419"/>
                  </a:cubicBezTo>
                  <a:cubicBezTo>
                    <a:pt x="13810" y="3029"/>
                    <a:pt x="21122" y="0"/>
                    <a:pt x="28745" y="0"/>
                  </a:cubicBezTo>
                  <a:close/>
                </a:path>
              </a:pathLst>
            </a:custGeom>
            <a:solidFill>
              <a:srgbClr val="00407B"/>
            </a:solidFill>
          </p:spPr>
        </p:sp>
        <p:sp>
          <p:nvSpPr>
            <p:cNvPr name="TextBox 8" id="8"/>
            <p:cNvSpPr txBox="true"/>
            <p:nvPr/>
          </p:nvSpPr>
          <p:spPr>
            <a:xfrm>
              <a:off x="0" y="-38100"/>
              <a:ext cx="1986152" cy="5314033"/>
            </a:xfrm>
            <a:prstGeom prst="rect">
              <a:avLst/>
            </a:prstGeom>
          </p:spPr>
          <p:txBody>
            <a:bodyPr anchor="ctr" rtlCol="false" tIns="50800" lIns="50800" bIns="50800" rIns="50800"/>
            <a:lstStyle/>
            <a:p>
              <a:pPr algn="ctr">
                <a:lnSpc>
                  <a:spcPts val="1774"/>
                </a:lnSpc>
              </a:pPr>
            </a:p>
          </p:txBody>
        </p:sp>
      </p:grpSp>
      <p:grpSp>
        <p:nvGrpSpPr>
          <p:cNvPr name="Group 9" id="9"/>
          <p:cNvGrpSpPr>
            <a:grpSpLocks noChangeAspect="true"/>
          </p:cNvGrpSpPr>
          <p:nvPr/>
        </p:nvGrpSpPr>
        <p:grpSpPr>
          <a:xfrm rot="0">
            <a:off x="14063826" y="-414141"/>
            <a:ext cx="4224174" cy="2567599"/>
            <a:chOff x="0" y="0"/>
            <a:chExt cx="5632232" cy="3423465"/>
          </a:xfrm>
        </p:grpSpPr>
        <p:sp>
          <p:nvSpPr>
            <p:cNvPr name="Freeform 10" id="10"/>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1" id="11"/>
          <p:cNvGrpSpPr/>
          <p:nvPr/>
        </p:nvGrpSpPr>
        <p:grpSpPr>
          <a:xfrm rot="5400000">
            <a:off x="-3517099" y="1546368"/>
            <a:ext cx="7541170" cy="8291237"/>
            <a:chOff x="0" y="0"/>
            <a:chExt cx="1986152" cy="2183700"/>
          </a:xfrm>
        </p:grpSpPr>
        <p:sp>
          <p:nvSpPr>
            <p:cNvPr name="Freeform 12" id="12"/>
            <p:cNvSpPr/>
            <p:nvPr/>
          </p:nvSpPr>
          <p:spPr>
            <a:xfrm flipH="false" flipV="false" rot="0">
              <a:off x="0" y="0"/>
              <a:ext cx="1986152" cy="2183700"/>
            </a:xfrm>
            <a:custGeom>
              <a:avLst/>
              <a:gdLst/>
              <a:ahLst/>
              <a:cxnLst/>
              <a:rect r="r" b="b" t="t" l="l"/>
              <a:pathLst>
                <a:path h="2183700" w="1986152">
                  <a:moveTo>
                    <a:pt x="0" y="0"/>
                  </a:moveTo>
                  <a:lnTo>
                    <a:pt x="1986152" y="0"/>
                  </a:lnTo>
                  <a:lnTo>
                    <a:pt x="1986152" y="2183700"/>
                  </a:lnTo>
                  <a:lnTo>
                    <a:pt x="0" y="2183700"/>
                  </a:lnTo>
                  <a:close/>
                </a:path>
              </a:pathLst>
            </a:custGeom>
            <a:solidFill>
              <a:srgbClr val="FDB61B"/>
            </a:solidFill>
          </p:spPr>
        </p:sp>
        <p:sp>
          <p:nvSpPr>
            <p:cNvPr name="TextBox 13" id="13"/>
            <p:cNvSpPr txBox="true"/>
            <p:nvPr/>
          </p:nvSpPr>
          <p:spPr>
            <a:xfrm>
              <a:off x="0" y="-38100"/>
              <a:ext cx="1986152" cy="2221800"/>
            </a:xfrm>
            <a:prstGeom prst="rect">
              <a:avLst/>
            </a:prstGeom>
          </p:spPr>
          <p:txBody>
            <a:bodyPr anchor="ctr" rtlCol="false" tIns="50800" lIns="50800" bIns="50800" rIns="50800"/>
            <a:lstStyle/>
            <a:p>
              <a:pPr algn="ctr">
                <a:lnSpc>
                  <a:spcPts val="1774"/>
                </a:lnSpc>
              </a:pPr>
            </a:p>
          </p:txBody>
        </p:sp>
      </p:grpSp>
      <p:sp>
        <p:nvSpPr>
          <p:cNvPr name="Freeform 14" id="14"/>
          <p:cNvSpPr/>
          <p:nvPr/>
        </p:nvSpPr>
        <p:spPr>
          <a:xfrm flipH="false" flipV="false" rot="0">
            <a:off x="5284114" y="2529313"/>
            <a:ext cx="8108903" cy="6081677"/>
          </a:xfrm>
          <a:custGeom>
            <a:avLst/>
            <a:gdLst/>
            <a:ahLst/>
            <a:cxnLst/>
            <a:rect r="r" b="b" t="t" l="l"/>
            <a:pathLst>
              <a:path h="6081677" w="8108903">
                <a:moveTo>
                  <a:pt x="0" y="0"/>
                </a:moveTo>
                <a:lnTo>
                  <a:pt x="8108903" y="0"/>
                </a:lnTo>
                <a:lnTo>
                  <a:pt x="8108903" y="6081677"/>
                </a:lnTo>
                <a:lnTo>
                  <a:pt x="0" y="6081677"/>
                </a:lnTo>
                <a:lnTo>
                  <a:pt x="0" y="0"/>
                </a:lnTo>
                <a:close/>
              </a:path>
            </a:pathLst>
          </a:custGeom>
          <a:blipFill>
            <a:blip r:embed="rId4"/>
            <a:stretch>
              <a:fillRect l="0" t="0" r="0" b="0"/>
            </a:stretch>
          </a:blipFill>
        </p:spPr>
      </p:sp>
      <p:sp>
        <p:nvSpPr>
          <p:cNvPr name="TextBox 15" id="15"/>
          <p:cNvSpPr txBox="true"/>
          <p:nvPr/>
        </p:nvSpPr>
        <p:spPr>
          <a:xfrm rot="0">
            <a:off x="1028700" y="226543"/>
            <a:ext cx="8071646" cy="80215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SPRINT REVIEW</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3615183" y="-7435708"/>
            <a:ext cx="3843522" cy="13821907"/>
            <a:chOff x="0" y="0"/>
            <a:chExt cx="1012286" cy="3640338"/>
          </a:xfrm>
        </p:grpSpPr>
        <p:sp>
          <p:nvSpPr>
            <p:cNvPr name="Freeform 4" id="4"/>
            <p:cNvSpPr/>
            <p:nvPr/>
          </p:nvSpPr>
          <p:spPr>
            <a:xfrm flipH="false" flipV="false" rot="0">
              <a:off x="0" y="0"/>
              <a:ext cx="1012286" cy="3640337"/>
            </a:xfrm>
            <a:custGeom>
              <a:avLst/>
              <a:gdLst/>
              <a:ahLst/>
              <a:cxnLst/>
              <a:rect r="r" b="b" t="t" l="l"/>
              <a:pathLst>
                <a:path h="3640337" w="1012286">
                  <a:moveTo>
                    <a:pt x="56400" y="0"/>
                  </a:moveTo>
                  <a:lnTo>
                    <a:pt x="955886" y="0"/>
                  </a:lnTo>
                  <a:cubicBezTo>
                    <a:pt x="987035" y="0"/>
                    <a:pt x="1012286" y="25251"/>
                    <a:pt x="1012286" y="56400"/>
                  </a:cubicBezTo>
                  <a:lnTo>
                    <a:pt x="1012286" y="3583938"/>
                  </a:lnTo>
                  <a:cubicBezTo>
                    <a:pt x="1012286" y="3615086"/>
                    <a:pt x="987035" y="3640337"/>
                    <a:pt x="955886" y="3640337"/>
                  </a:cubicBezTo>
                  <a:lnTo>
                    <a:pt x="56400" y="3640337"/>
                  </a:lnTo>
                  <a:cubicBezTo>
                    <a:pt x="41442" y="3640337"/>
                    <a:pt x="27096" y="3634395"/>
                    <a:pt x="16519" y="3623818"/>
                  </a:cubicBezTo>
                  <a:cubicBezTo>
                    <a:pt x="5942" y="3613241"/>
                    <a:pt x="0" y="3598896"/>
                    <a:pt x="0" y="3583938"/>
                  </a:cubicBezTo>
                  <a:lnTo>
                    <a:pt x="0" y="56400"/>
                  </a:lnTo>
                  <a:cubicBezTo>
                    <a:pt x="0" y="25251"/>
                    <a:pt x="25251" y="0"/>
                    <a:pt x="56400" y="0"/>
                  </a:cubicBezTo>
                  <a:close/>
                </a:path>
              </a:pathLst>
            </a:custGeom>
            <a:solidFill>
              <a:srgbClr val="FDB61B"/>
            </a:solidFill>
          </p:spPr>
        </p:sp>
        <p:sp>
          <p:nvSpPr>
            <p:cNvPr name="TextBox 5" id="5"/>
            <p:cNvSpPr txBox="true"/>
            <p:nvPr/>
          </p:nvSpPr>
          <p:spPr>
            <a:xfrm>
              <a:off x="0" y="-38100"/>
              <a:ext cx="1012286" cy="3678438"/>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5659147" y="-4324043"/>
            <a:ext cx="7541170" cy="20032059"/>
            <a:chOff x="0" y="0"/>
            <a:chExt cx="1986152" cy="5275933"/>
          </a:xfrm>
        </p:grpSpPr>
        <p:sp>
          <p:nvSpPr>
            <p:cNvPr name="Freeform 7" id="7"/>
            <p:cNvSpPr/>
            <p:nvPr/>
          </p:nvSpPr>
          <p:spPr>
            <a:xfrm flipH="false" flipV="false" rot="0">
              <a:off x="0" y="0"/>
              <a:ext cx="1986152" cy="5275933"/>
            </a:xfrm>
            <a:custGeom>
              <a:avLst/>
              <a:gdLst/>
              <a:ahLst/>
              <a:cxnLst/>
              <a:rect r="r" b="b" t="t" l="l"/>
              <a:pathLst>
                <a:path h="5275933" w="1986152">
                  <a:moveTo>
                    <a:pt x="28745" y="0"/>
                  </a:moveTo>
                  <a:lnTo>
                    <a:pt x="1957406" y="0"/>
                  </a:lnTo>
                  <a:cubicBezTo>
                    <a:pt x="1965030" y="0"/>
                    <a:pt x="1972342" y="3029"/>
                    <a:pt x="1977733" y="8419"/>
                  </a:cubicBezTo>
                  <a:cubicBezTo>
                    <a:pt x="1983123" y="13810"/>
                    <a:pt x="1986152" y="21122"/>
                    <a:pt x="1986152" y="28745"/>
                  </a:cubicBezTo>
                  <a:lnTo>
                    <a:pt x="1986152" y="5247188"/>
                  </a:lnTo>
                  <a:cubicBezTo>
                    <a:pt x="1986152" y="5254812"/>
                    <a:pt x="1983123" y="5262123"/>
                    <a:pt x="1977733" y="5267514"/>
                  </a:cubicBezTo>
                  <a:cubicBezTo>
                    <a:pt x="1972342" y="5272905"/>
                    <a:pt x="1965030" y="5275933"/>
                    <a:pt x="1957406" y="5275933"/>
                  </a:cubicBezTo>
                  <a:lnTo>
                    <a:pt x="28745" y="5275933"/>
                  </a:lnTo>
                  <a:cubicBezTo>
                    <a:pt x="21122" y="5275933"/>
                    <a:pt x="13810" y="5272905"/>
                    <a:pt x="8419" y="5267514"/>
                  </a:cubicBezTo>
                  <a:cubicBezTo>
                    <a:pt x="3029" y="5262123"/>
                    <a:pt x="0" y="5254812"/>
                    <a:pt x="0" y="5247188"/>
                  </a:cubicBezTo>
                  <a:lnTo>
                    <a:pt x="0" y="28745"/>
                  </a:lnTo>
                  <a:cubicBezTo>
                    <a:pt x="0" y="21122"/>
                    <a:pt x="3029" y="13810"/>
                    <a:pt x="8419" y="8419"/>
                  </a:cubicBezTo>
                  <a:cubicBezTo>
                    <a:pt x="13810" y="3029"/>
                    <a:pt x="21122" y="0"/>
                    <a:pt x="28745" y="0"/>
                  </a:cubicBezTo>
                  <a:close/>
                </a:path>
              </a:pathLst>
            </a:custGeom>
            <a:solidFill>
              <a:srgbClr val="00407B"/>
            </a:solidFill>
          </p:spPr>
        </p:sp>
        <p:sp>
          <p:nvSpPr>
            <p:cNvPr name="TextBox 8" id="8"/>
            <p:cNvSpPr txBox="true"/>
            <p:nvPr/>
          </p:nvSpPr>
          <p:spPr>
            <a:xfrm>
              <a:off x="0" y="-38100"/>
              <a:ext cx="1986152" cy="5314033"/>
            </a:xfrm>
            <a:prstGeom prst="rect">
              <a:avLst/>
            </a:prstGeom>
          </p:spPr>
          <p:txBody>
            <a:bodyPr anchor="ctr" rtlCol="false" tIns="50800" lIns="50800" bIns="50800" rIns="50800"/>
            <a:lstStyle/>
            <a:p>
              <a:pPr algn="ctr">
                <a:lnSpc>
                  <a:spcPts val="1774"/>
                </a:lnSpc>
              </a:pPr>
            </a:p>
          </p:txBody>
        </p:sp>
      </p:grpSp>
      <p:grpSp>
        <p:nvGrpSpPr>
          <p:cNvPr name="Group 9" id="9"/>
          <p:cNvGrpSpPr>
            <a:grpSpLocks noChangeAspect="true"/>
          </p:cNvGrpSpPr>
          <p:nvPr/>
        </p:nvGrpSpPr>
        <p:grpSpPr>
          <a:xfrm rot="0">
            <a:off x="14063826" y="-414141"/>
            <a:ext cx="4224174" cy="2567599"/>
            <a:chOff x="0" y="0"/>
            <a:chExt cx="5632232" cy="3423465"/>
          </a:xfrm>
        </p:grpSpPr>
        <p:sp>
          <p:nvSpPr>
            <p:cNvPr name="Freeform 10" id="10"/>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1" id="11"/>
          <p:cNvGrpSpPr/>
          <p:nvPr/>
        </p:nvGrpSpPr>
        <p:grpSpPr>
          <a:xfrm rot="5400000">
            <a:off x="-3517099" y="1546368"/>
            <a:ext cx="7541170" cy="8291237"/>
            <a:chOff x="0" y="0"/>
            <a:chExt cx="1986152" cy="2183700"/>
          </a:xfrm>
        </p:grpSpPr>
        <p:sp>
          <p:nvSpPr>
            <p:cNvPr name="Freeform 12" id="12"/>
            <p:cNvSpPr/>
            <p:nvPr/>
          </p:nvSpPr>
          <p:spPr>
            <a:xfrm flipH="false" flipV="false" rot="0">
              <a:off x="0" y="0"/>
              <a:ext cx="1986152" cy="2183700"/>
            </a:xfrm>
            <a:custGeom>
              <a:avLst/>
              <a:gdLst/>
              <a:ahLst/>
              <a:cxnLst/>
              <a:rect r="r" b="b" t="t" l="l"/>
              <a:pathLst>
                <a:path h="2183700" w="1986152">
                  <a:moveTo>
                    <a:pt x="0" y="0"/>
                  </a:moveTo>
                  <a:lnTo>
                    <a:pt x="1986152" y="0"/>
                  </a:lnTo>
                  <a:lnTo>
                    <a:pt x="1986152" y="2183700"/>
                  </a:lnTo>
                  <a:lnTo>
                    <a:pt x="0" y="2183700"/>
                  </a:lnTo>
                  <a:close/>
                </a:path>
              </a:pathLst>
            </a:custGeom>
            <a:solidFill>
              <a:srgbClr val="FDB61B"/>
            </a:solidFill>
          </p:spPr>
        </p:sp>
        <p:sp>
          <p:nvSpPr>
            <p:cNvPr name="TextBox 13" id="13"/>
            <p:cNvSpPr txBox="true"/>
            <p:nvPr/>
          </p:nvSpPr>
          <p:spPr>
            <a:xfrm>
              <a:off x="0" y="-38100"/>
              <a:ext cx="1986152" cy="2221800"/>
            </a:xfrm>
            <a:prstGeom prst="rect">
              <a:avLst/>
            </a:prstGeom>
          </p:spPr>
          <p:txBody>
            <a:bodyPr anchor="ctr" rtlCol="false" tIns="50800" lIns="50800" bIns="50800" rIns="50800"/>
            <a:lstStyle/>
            <a:p>
              <a:pPr algn="ctr">
                <a:lnSpc>
                  <a:spcPts val="1774"/>
                </a:lnSpc>
              </a:pPr>
            </a:p>
          </p:txBody>
        </p:sp>
      </p:grpSp>
      <p:sp>
        <p:nvSpPr>
          <p:cNvPr name="Freeform 14" id="14"/>
          <p:cNvSpPr/>
          <p:nvPr/>
        </p:nvSpPr>
        <p:spPr>
          <a:xfrm flipH="false" flipV="false" rot="0">
            <a:off x="6942317" y="2575608"/>
            <a:ext cx="8296515" cy="6232757"/>
          </a:xfrm>
          <a:custGeom>
            <a:avLst/>
            <a:gdLst/>
            <a:ahLst/>
            <a:cxnLst/>
            <a:rect r="r" b="b" t="t" l="l"/>
            <a:pathLst>
              <a:path h="6232757" w="8296515">
                <a:moveTo>
                  <a:pt x="0" y="0"/>
                </a:moveTo>
                <a:lnTo>
                  <a:pt x="8296515" y="0"/>
                </a:lnTo>
                <a:lnTo>
                  <a:pt x="8296515" y="6232757"/>
                </a:lnTo>
                <a:lnTo>
                  <a:pt x="0" y="6232757"/>
                </a:lnTo>
                <a:lnTo>
                  <a:pt x="0" y="0"/>
                </a:lnTo>
                <a:close/>
              </a:path>
            </a:pathLst>
          </a:custGeom>
          <a:blipFill>
            <a:blip r:embed="rId4"/>
            <a:stretch>
              <a:fillRect l="0" t="0" r="0" b="0"/>
            </a:stretch>
          </a:blipFill>
        </p:spPr>
      </p:sp>
      <p:sp>
        <p:nvSpPr>
          <p:cNvPr name="TextBox 15" id="15"/>
          <p:cNvSpPr txBox="true"/>
          <p:nvPr/>
        </p:nvSpPr>
        <p:spPr>
          <a:xfrm rot="0">
            <a:off x="0" y="330815"/>
            <a:ext cx="12793964" cy="697885"/>
          </a:xfrm>
          <a:prstGeom prst="rect">
            <a:avLst/>
          </a:prstGeom>
        </p:spPr>
        <p:txBody>
          <a:bodyPr anchor="t" rtlCol="false" tIns="0" lIns="0" bIns="0" rIns="0">
            <a:spAutoFit/>
          </a:bodyPr>
          <a:lstStyle/>
          <a:p>
            <a:pPr algn="ctr" marL="0" indent="0" lvl="0">
              <a:lnSpc>
                <a:spcPts val="5543"/>
              </a:lnSpc>
              <a:spcBef>
                <a:spcPct val="0"/>
              </a:spcBef>
            </a:pPr>
            <a:r>
              <a:rPr lang="en-US" b="true" sz="4470" spc="84">
                <a:solidFill>
                  <a:srgbClr val="FFFFFF"/>
                </a:solidFill>
                <a:latin typeface="Muli Heavy"/>
                <a:ea typeface="Muli Heavy"/>
                <a:cs typeface="Muli Heavy"/>
                <a:sym typeface="Muli Heavy"/>
              </a:rPr>
              <a:t>SPRINT RETROSPECTIVE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848038" y="1799477"/>
            <a:ext cx="7659612" cy="8082059"/>
            <a:chOff x="0" y="0"/>
            <a:chExt cx="2017346" cy="2128608"/>
          </a:xfrm>
        </p:grpSpPr>
        <p:sp>
          <p:nvSpPr>
            <p:cNvPr name="Freeform 3" id="3"/>
            <p:cNvSpPr/>
            <p:nvPr/>
          </p:nvSpPr>
          <p:spPr>
            <a:xfrm flipH="false" flipV="false" rot="0">
              <a:off x="0" y="0"/>
              <a:ext cx="2017346" cy="2128608"/>
            </a:xfrm>
            <a:custGeom>
              <a:avLst/>
              <a:gdLst/>
              <a:ahLst/>
              <a:cxnLst/>
              <a:rect r="r" b="b" t="t" l="l"/>
              <a:pathLst>
                <a:path h="2128608" w="2017346">
                  <a:moveTo>
                    <a:pt x="28301" y="0"/>
                  </a:moveTo>
                  <a:lnTo>
                    <a:pt x="1989045" y="0"/>
                  </a:lnTo>
                  <a:cubicBezTo>
                    <a:pt x="2004676" y="0"/>
                    <a:pt x="2017346" y="12671"/>
                    <a:pt x="2017346" y="28301"/>
                  </a:cubicBezTo>
                  <a:lnTo>
                    <a:pt x="2017346" y="2100307"/>
                  </a:lnTo>
                  <a:cubicBezTo>
                    <a:pt x="2017346" y="2115938"/>
                    <a:pt x="2004676" y="2128608"/>
                    <a:pt x="1989045" y="2128608"/>
                  </a:cubicBezTo>
                  <a:lnTo>
                    <a:pt x="28301" y="2128608"/>
                  </a:lnTo>
                  <a:cubicBezTo>
                    <a:pt x="12671" y="2128608"/>
                    <a:pt x="0" y="2115938"/>
                    <a:pt x="0" y="2100307"/>
                  </a:cubicBezTo>
                  <a:lnTo>
                    <a:pt x="0" y="28301"/>
                  </a:lnTo>
                  <a:cubicBezTo>
                    <a:pt x="0" y="12671"/>
                    <a:pt x="12671" y="0"/>
                    <a:pt x="28301" y="0"/>
                  </a:cubicBezTo>
                  <a:close/>
                </a:path>
              </a:pathLst>
            </a:custGeom>
            <a:solidFill>
              <a:srgbClr val="00407B"/>
            </a:solidFill>
          </p:spPr>
        </p:sp>
        <p:sp>
          <p:nvSpPr>
            <p:cNvPr name="TextBox 4" id="4"/>
            <p:cNvSpPr txBox="true"/>
            <p:nvPr/>
          </p:nvSpPr>
          <p:spPr>
            <a:xfrm>
              <a:off x="0" y="-38100"/>
              <a:ext cx="2017346" cy="2166708"/>
            </a:xfrm>
            <a:prstGeom prst="rect">
              <a:avLst/>
            </a:prstGeom>
          </p:spPr>
          <p:txBody>
            <a:bodyPr anchor="ctr" rtlCol="false" tIns="50800" lIns="50800" bIns="50800" rIns="50800"/>
            <a:lstStyle/>
            <a:p>
              <a:pPr algn="ctr">
                <a:lnSpc>
                  <a:spcPts val="1774"/>
                </a:lnSpc>
              </a:pPr>
            </a:p>
          </p:txBody>
        </p:sp>
      </p:grpSp>
      <p:grpSp>
        <p:nvGrpSpPr>
          <p:cNvPr name="Group 5" id="5"/>
          <p:cNvGrpSpPr/>
          <p:nvPr/>
        </p:nvGrpSpPr>
        <p:grpSpPr>
          <a:xfrm rot="5400000">
            <a:off x="7319507" y="-5701485"/>
            <a:ext cx="3648985" cy="10836912"/>
            <a:chOff x="0" y="0"/>
            <a:chExt cx="961050" cy="2854166"/>
          </a:xfrm>
        </p:grpSpPr>
        <p:sp>
          <p:nvSpPr>
            <p:cNvPr name="Freeform 6" id="6"/>
            <p:cNvSpPr/>
            <p:nvPr/>
          </p:nvSpPr>
          <p:spPr>
            <a:xfrm flipH="false" flipV="false" rot="0">
              <a:off x="0" y="0"/>
              <a:ext cx="961050" cy="2854166"/>
            </a:xfrm>
            <a:custGeom>
              <a:avLst/>
              <a:gdLst/>
              <a:ahLst/>
              <a:cxnLst/>
              <a:rect r="r" b="b" t="t" l="l"/>
              <a:pathLst>
                <a:path h="2854166" w="961050">
                  <a:moveTo>
                    <a:pt x="59407" y="0"/>
                  </a:moveTo>
                  <a:lnTo>
                    <a:pt x="901643" y="0"/>
                  </a:lnTo>
                  <a:cubicBezTo>
                    <a:pt x="934452" y="0"/>
                    <a:pt x="961050" y="26597"/>
                    <a:pt x="961050" y="59407"/>
                  </a:cubicBezTo>
                  <a:lnTo>
                    <a:pt x="961050" y="2794760"/>
                  </a:lnTo>
                  <a:cubicBezTo>
                    <a:pt x="961050" y="2810515"/>
                    <a:pt x="954791" y="2825626"/>
                    <a:pt x="943650" y="2836767"/>
                  </a:cubicBezTo>
                  <a:cubicBezTo>
                    <a:pt x="932509" y="2847907"/>
                    <a:pt x="917399" y="2854166"/>
                    <a:pt x="901643" y="2854166"/>
                  </a:cubicBezTo>
                  <a:lnTo>
                    <a:pt x="59407" y="2854166"/>
                  </a:lnTo>
                  <a:cubicBezTo>
                    <a:pt x="43651" y="2854166"/>
                    <a:pt x="28541" y="2847907"/>
                    <a:pt x="17400" y="2836767"/>
                  </a:cubicBezTo>
                  <a:cubicBezTo>
                    <a:pt x="6259" y="2825626"/>
                    <a:pt x="0" y="2810515"/>
                    <a:pt x="0" y="2794760"/>
                  </a:cubicBezTo>
                  <a:lnTo>
                    <a:pt x="0" y="59407"/>
                  </a:lnTo>
                  <a:cubicBezTo>
                    <a:pt x="0" y="43651"/>
                    <a:pt x="6259" y="28541"/>
                    <a:pt x="17400" y="17400"/>
                  </a:cubicBezTo>
                  <a:cubicBezTo>
                    <a:pt x="28541" y="6259"/>
                    <a:pt x="43651" y="0"/>
                    <a:pt x="59407" y="0"/>
                  </a:cubicBezTo>
                  <a:close/>
                </a:path>
              </a:pathLst>
            </a:custGeom>
            <a:solidFill>
              <a:srgbClr val="FDB61B"/>
            </a:solidFill>
          </p:spPr>
        </p:sp>
        <p:sp>
          <p:nvSpPr>
            <p:cNvPr name="TextBox 7" id="7"/>
            <p:cNvSpPr txBox="true"/>
            <p:nvPr/>
          </p:nvSpPr>
          <p:spPr>
            <a:xfrm>
              <a:off x="0" y="-38100"/>
              <a:ext cx="961050" cy="2892266"/>
            </a:xfrm>
            <a:prstGeom prst="rect">
              <a:avLst/>
            </a:prstGeom>
          </p:spPr>
          <p:txBody>
            <a:bodyPr anchor="ctr" rtlCol="false" tIns="50800" lIns="50800" bIns="50800" rIns="50800"/>
            <a:lstStyle/>
            <a:p>
              <a:pPr algn="ctr">
                <a:lnSpc>
                  <a:spcPts val="1774"/>
                </a:lnSpc>
              </a:pPr>
            </a:p>
          </p:txBody>
        </p:sp>
      </p:grpSp>
      <p:grpSp>
        <p:nvGrpSpPr>
          <p:cNvPr name="Group 8" id="8"/>
          <p:cNvGrpSpPr/>
          <p:nvPr/>
        </p:nvGrpSpPr>
        <p:grpSpPr>
          <a:xfrm rot="5400000">
            <a:off x="9618206" y="1799477"/>
            <a:ext cx="7659612" cy="8082059"/>
            <a:chOff x="0" y="0"/>
            <a:chExt cx="2017346" cy="2128608"/>
          </a:xfrm>
        </p:grpSpPr>
        <p:sp>
          <p:nvSpPr>
            <p:cNvPr name="Freeform 9" id="9"/>
            <p:cNvSpPr/>
            <p:nvPr/>
          </p:nvSpPr>
          <p:spPr>
            <a:xfrm flipH="false" flipV="false" rot="0">
              <a:off x="0" y="0"/>
              <a:ext cx="2017346" cy="2128608"/>
            </a:xfrm>
            <a:custGeom>
              <a:avLst/>
              <a:gdLst/>
              <a:ahLst/>
              <a:cxnLst/>
              <a:rect r="r" b="b" t="t" l="l"/>
              <a:pathLst>
                <a:path h="2128608" w="2017346">
                  <a:moveTo>
                    <a:pt x="28301" y="0"/>
                  </a:moveTo>
                  <a:lnTo>
                    <a:pt x="1989045" y="0"/>
                  </a:lnTo>
                  <a:cubicBezTo>
                    <a:pt x="2004676" y="0"/>
                    <a:pt x="2017346" y="12671"/>
                    <a:pt x="2017346" y="28301"/>
                  </a:cubicBezTo>
                  <a:lnTo>
                    <a:pt x="2017346" y="2100307"/>
                  </a:lnTo>
                  <a:cubicBezTo>
                    <a:pt x="2017346" y="2115938"/>
                    <a:pt x="2004676" y="2128608"/>
                    <a:pt x="1989045" y="2128608"/>
                  </a:cubicBezTo>
                  <a:lnTo>
                    <a:pt x="28301" y="2128608"/>
                  </a:lnTo>
                  <a:cubicBezTo>
                    <a:pt x="12671" y="2128608"/>
                    <a:pt x="0" y="2115938"/>
                    <a:pt x="0" y="2100307"/>
                  </a:cubicBezTo>
                  <a:lnTo>
                    <a:pt x="0" y="28301"/>
                  </a:lnTo>
                  <a:cubicBezTo>
                    <a:pt x="0" y="12671"/>
                    <a:pt x="12671" y="0"/>
                    <a:pt x="28301" y="0"/>
                  </a:cubicBezTo>
                  <a:close/>
                </a:path>
              </a:pathLst>
            </a:custGeom>
            <a:solidFill>
              <a:srgbClr val="00407B"/>
            </a:solidFill>
          </p:spPr>
        </p:sp>
        <p:sp>
          <p:nvSpPr>
            <p:cNvPr name="TextBox 10" id="10"/>
            <p:cNvSpPr txBox="true"/>
            <p:nvPr/>
          </p:nvSpPr>
          <p:spPr>
            <a:xfrm>
              <a:off x="0" y="-38100"/>
              <a:ext cx="2017346" cy="2166708"/>
            </a:xfrm>
            <a:prstGeom prst="rect">
              <a:avLst/>
            </a:prstGeom>
          </p:spPr>
          <p:txBody>
            <a:bodyPr anchor="ctr" rtlCol="false" tIns="50800" lIns="50800" bIns="50800" rIns="50800"/>
            <a:lstStyle/>
            <a:p>
              <a:pPr algn="ctr">
                <a:lnSpc>
                  <a:spcPts val="1774"/>
                </a:lnSpc>
              </a:pPr>
            </a:p>
          </p:txBody>
        </p:sp>
      </p:grpSp>
      <p:sp>
        <p:nvSpPr>
          <p:cNvPr name="Freeform 11" id="11"/>
          <p:cNvSpPr/>
          <p:nvPr/>
        </p:nvSpPr>
        <p:spPr>
          <a:xfrm flipH="false" flipV="false" rot="0">
            <a:off x="11202416" y="4925844"/>
            <a:ext cx="1504816" cy="1898822"/>
          </a:xfrm>
          <a:custGeom>
            <a:avLst/>
            <a:gdLst/>
            <a:ahLst/>
            <a:cxnLst/>
            <a:rect r="r" b="b" t="t" l="l"/>
            <a:pathLst>
              <a:path h="1898822" w="1504816">
                <a:moveTo>
                  <a:pt x="0" y="0"/>
                </a:moveTo>
                <a:lnTo>
                  <a:pt x="1504816" y="0"/>
                </a:lnTo>
                <a:lnTo>
                  <a:pt x="1504816" y="1898822"/>
                </a:lnTo>
                <a:lnTo>
                  <a:pt x="0" y="18988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13983231" y="4808241"/>
            <a:ext cx="1788851" cy="1782143"/>
          </a:xfrm>
          <a:custGeom>
            <a:avLst/>
            <a:gdLst/>
            <a:ahLst/>
            <a:cxnLst/>
            <a:rect r="r" b="b" t="t" l="l"/>
            <a:pathLst>
              <a:path h="1782143" w="1788851">
                <a:moveTo>
                  <a:pt x="0" y="0"/>
                </a:moveTo>
                <a:lnTo>
                  <a:pt x="1788851" y="0"/>
                </a:lnTo>
                <a:lnTo>
                  <a:pt x="1788851" y="1782143"/>
                </a:lnTo>
                <a:lnTo>
                  <a:pt x="0" y="17821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14098138" y="7135259"/>
            <a:ext cx="1559038" cy="1661765"/>
          </a:xfrm>
          <a:custGeom>
            <a:avLst/>
            <a:gdLst/>
            <a:ahLst/>
            <a:cxnLst/>
            <a:rect r="r" b="b" t="t" l="l"/>
            <a:pathLst>
              <a:path h="1661765" w="1559038">
                <a:moveTo>
                  <a:pt x="0" y="0"/>
                </a:moveTo>
                <a:lnTo>
                  <a:pt x="1559038" y="0"/>
                </a:lnTo>
                <a:lnTo>
                  <a:pt x="1559038" y="1661765"/>
                </a:lnTo>
                <a:lnTo>
                  <a:pt x="0" y="16617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1123942" y="7135259"/>
            <a:ext cx="1661765" cy="1661765"/>
          </a:xfrm>
          <a:custGeom>
            <a:avLst/>
            <a:gdLst/>
            <a:ahLst/>
            <a:cxnLst/>
            <a:rect r="r" b="b" t="t" l="l"/>
            <a:pathLst>
              <a:path h="1661765" w="1661765">
                <a:moveTo>
                  <a:pt x="0" y="0"/>
                </a:moveTo>
                <a:lnTo>
                  <a:pt x="1661765" y="0"/>
                </a:lnTo>
                <a:lnTo>
                  <a:pt x="1661765" y="1661765"/>
                </a:lnTo>
                <a:lnTo>
                  <a:pt x="0" y="16617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4163317" y="424101"/>
            <a:ext cx="9961365" cy="802147"/>
          </a:xfrm>
          <a:prstGeom prst="rect">
            <a:avLst/>
          </a:prstGeom>
        </p:spPr>
        <p:txBody>
          <a:bodyPr anchor="t" rtlCol="false" tIns="0" lIns="0" bIns="0" rIns="0">
            <a:spAutoFit/>
          </a:bodyPr>
          <a:lstStyle/>
          <a:p>
            <a:pPr algn="ctr" marL="0" indent="0" lvl="0">
              <a:lnSpc>
                <a:spcPts val="6475"/>
              </a:lnSpc>
              <a:spcBef>
                <a:spcPct val="0"/>
              </a:spcBef>
            </a:pPr>
            <a:r>
              <a:rPr lang="en-US" b="true" sz="5221" spc="99">
                <a:solidFill>
                  <a:srgbClr val="FFFFFF"/>
                </a:solidFill>
                <a:latin typeface="Muli Heavy"/>
                <a:ea typeface="Muli Heavy"/>
                <a:cs typeface="Muli Heavy"/>
                <a:sym typeface="Muli Heavy"/>
              </a:rPr>
              <a:t>DESARROLLO TÉCNICO</a:t>
            </a:r>
          </a:p>
        </p:txBody>
      </p:sp>
      <p:sp>
        <p:nvSpPr>
          <p:cNvPr name="TextBox 16" id="16"/>
          <p:cNvSpPr txBox="true"/>
          <p:nvPr/>
        </p:nvSpPr>
        <p:spPr>
          <a:xfrm rot="0">
            <a:off x="2077257" y="2317645"/>
            <a:ext cx="5201174" cy="396367"/>
          </a:xfrm>
          <a:prstGeom prst="rect">
            <a:avLst/>
          </a:prstGeom>
        </p:spPr>
        <p:txBody>
          <a:bodyPr anchor="t" rtlCol="false" tIns="0" lIns="0" bIns="0" rIns="0">
            <a:spAutoFit/>
          </a:bodyPr>
          <a:lstStyle/>
          <a:p>
            <a:pPr algn="ctr" marL="0" indent="0" lvl="0">
              <a:lnSpc>
                <a:spcPts val="3223"/>
              </a:lnSpc>
              <a:spcBef>
                <a:spcPct val="0"/>
              </a:spcBef>
            </a:pPr>
            <a:r>
              <a:rPr lang="en-US" b="true" sz="2599" spc="49">
                <a:solidFill>
                  <a:srgbClr val="FFFFFF"/>
                </a:solidFill>
                <a:latin typeface="Muli Heavy"/>
                <a:ea typeface="Muli Heavy"/>
                <a:cs typeface="Muli Heavy"/>
                <a:sym typeface="Muli Heavy"/>
              </a:rPr>
              <a:t>TECNOLOGIAS UTILIZADAS</a:t>
            </a:r>
          </a:p>
        </p:txBody>
      </p:sp>
      <p:sp>
        <p:nvSpPr>
          <p:cNvPr name="TextBox 17" id="17"/>
          <p:cNvSpPr txBox="true"/>
          <p:nvPr/>
        </p:nvSpPr>
        <p:spPr>
          <a:xfrm rot="0">
            <a:off x="799353" y="3298855"/>
            <a:ext cx="7756981" cy="1254252"/>
          </a:xfrm>
          <a:prstGeom prst="rect">
            <a:avLst/>
          </a:prstGeom>
        </p:spPr>
        <p:txBody>
          <a:bodyPr anchor="t" rtlCol="false" tIns="0" lIns="0" bIns="0" rIns="0">
            <a:spAutoFit/>
          </a:bodyPr>
          <a:lstStyle/>
          <a:p>
            <a:pPr algn="ctr" marL="511683" indent="-255842" lvl="1">
              <a:lnSpc>
                <a:spcPts val="3318"/>
              </a:lnSpc>
              <a:buFont typeface="Arial"/>
              <a:buChar char="•"/>
            </a:pPr>
            <a:r>
              <a:rPr lang="en-US" b="true" sz="2370">
                <a:solidFill>
                  <a:srgbClr val="FFFFFF"/>
                </a:solidFill>
                <a:latin typeface="TT Interphases Bold"/>
                <a:ea typeface="TT Interphases Bold"/>
                <a:cs typeface="TT Interphases Bold"/>
                <a:sym typeface="TT Interphases Bold"/>
              </a:rPr>
              <a:t>Base de Dato</a:t>
            </a:r>
            <a:r>
              <a:rPr lang="en-US" b="true" sz="2370">
                <a:solidFill>
                  <a:srgbClr val="FFFFFF"/>
                </a:solidFill>
                <a:latin typeface="TT Interphases Bold"/>
                <a:ea typeface="TT Interphases Bold"/>
                <a:cs typeface="TT Interphases Bold"/>
                <a:sym typeface="TT Interphases Bold"/>
              </a:rPr>
              <a:t>s:</a:t>
            </a:r>
            <a:r>
              <a:rPr lang="en-US" sz="2370">
                <a:solidFill>
                  <a:srgbClr val="FFFFFF"/>
                </a:solidFill>
                <a:latin typeface="TT Interphases"/>
                <a:ea typeface="TT Interphases"/>
                <a:cs typeface="TT Interphases"/>
                <a:sym typeface="TT Interphases"/>
              </a:rPr>
              <a:t> Utilizamos PostgreSQL alojada en SupaBase, proporcionando una base robusta en la nube con una API REST automática y segura.</a:t>
            </a:r>
          </a:p>
        </p:txBody>
      </p:sp>
      <p:sp>
        <p:nvSpPr>
          <p:cNvPr name="TextBox 18" id="18"/>
          <p:cNvSpPr txBox="true"/>
          <p:nvPr/>
        </p:nvSpPr>
        <p:spPr>
          <a:xfrm rot="0">
            <a:off x="799353" y="4834061"/>
            <a:ext cx="7756981" cy="1673352"/>
          </a:xfrm>
          <a:prstGeom prst="rect">
            <a:avLst/>
          </a:prstGeom>
        </p:spPr>
        <p:txBody>
          <a:bodyPr anchor="t" rtlCol="false" tIns="0" lIns="0" bIns="0" rIns="0">
            <a:spAutoFit/>
          </a:bodyPr>
          <a:lstStyle/>
          <a:p>
            <a:pPr algn="ctr" marL="511683" indent="-255842" lvl="1">
              <a:lnSpc>
                <a:spcPts val="3318"/>
              </a:lnSpc>
              <a:buFont typeface="Arial"/>
              <a:buChar char="•"/>
            </a:pPr>
            <a:r>
              <a:rPr lang="en-US" b="true" sz="2370">
                <a:solidFill>
                  <a:srgbClr val="FFFFFF"/>
                </a:solidFill>
                <a:latin typeface="TT Interphases Bold"/>
                <a:ea typeface="TT Interphases Bold"/>
                <a:cs typeface="TT Interphases Bold"/>
                <a:sym typeface="TT Interphases Bold"/>
              </a:rPr>
              <a:t>Aplicación Web:</a:t>
            </a:r>
            <a:r>
              <a:rPr lang="en-US" sz="2370">
                <a:solidFill>
                  <a:srgbClr val="FFFFFF"/>
                </a:solidFill>
                <a:latin typeface="TT Interphases"/>
                <a:ea typeface="TT Interphases"/>
                <a:cs typeface="TT Interphases"/>
                <a:sym typeface="TT Interphases"/>
              </a:rPr>
              <a:t> Desarrollada</a:t>
            </a:r>
            <a:r>
              <a:rPr lang="en-US" sz="2370">
                <a:solidFill>
                  <a:srgbClr val="FFFFFF"/>
                </a:solidFill>
                <a:latin typeface="TT Interphases"/>
                <a:ea typeface="TT Interphases"/>
                <a:cs typeface="TT Interphases"/>
                <a:sym typeface="TT Interphases"/>
              </a:rPr>
              <a:t> con Django, que se conecta directamente a la API de SupaBase para gestionar todas las operaciones de datos crear, leer, actualizar y eliminar de forma estructurada.</a:t>
            </a:r>
          </a:p>
        </p:txBody>
      </p:sp>
      <p:sp>
        <p:nvSpPr>
          <p:cNvPr name="TextBox 19" id="19"/>
          <p:cNvSpPr txBox="true"/>
          <p:nvPr/>
        </p:nvSpPr>
        <p:spPr>
          <a:xfrm rot="0">
            <a:off x="799353" y="6783638"/>
            <a:ext cx="7756981" cy="1673352"/>
          </a:xfrm>
          <a:prstGeom prst="rect">
            <a:avLst/>
          </a:prstGeom>
        </p:spPr>
        <p:txBody>
          <a:bodyPr anchor="t" rtlCol="false" tIns="0" lIns="0" bIns="0" rIns="0">
            <a:spAutoFit/>
          </a:bodyPr>
          <a:lstStyle/>
          <a:p>
            <a:pPr algn="ctr" marL="511683" indent="-255842" lvl="1">
              <a:lnSpc>
                <a:spcPts val="3318"/>
              </a:lnSpc>
              <a:buFont typeface="Arial"/>
              <a:buChar char="•"/>
            </a:pPr>
            <a:r>
              <a:rPr lang="en-US" b="true" sz="2370">
                <a:solidFill>
                  <a:srgbClr val="FFFFFF"/>
                </a:solidFill>
                <a:latin typeface="TT Interphases Bold"/>
                <a:ea typeface="TT Interphases Bold"/>
                <a:cs typeface="TT Interphases Bold"/>
                <a:sym typeface="TT Interphases Bold"/>
              </a:rPr>
              <a:t>Aplicación Móvil:</a:t>
            </a:r>
            <a:r>
              <a:rPr lang="en-US" sz="2370">
                <a:solidFill>
                  <a:srgbClr val="FFFFFF"/>
                </a:solidFill>
                <a:latin typeface="TT Interphases"/>
                <a:ea typeface="TT Interphases"/>
                <a:cs typeface="TT Interphases"/>
                <a:sym typeface="TT Interphases"/>
              </a:rPr>
              <a:t> Construida con Ionic</a:t>
            </a:r>
            <a:r>
              <a:rPr lang="en-US" sz="2370">
                <a:solidFill>
                  <a:srgbClr val="FFFFFF"/>
                </a:solidFill>
                <a:latin typeface="TT Interphases"/>
                <a:ea typeface="TT Interphases"/>
                <a:cs typeface="TT Interphases"/>
                <a:sym typeface="TT Interphases"/>
              </a:rPr>
              <a:t> y Angular, consume la API de la página web, asegurando que los datos se reflejen en tiempo real tanto en la web como en el dispositivo móvil.</a:t>
            </a:r>
          </a:p>
        </p:txBody>
      </p:sp>
      <p:grpSp>
        <p:nvGrpSpPr>
          <p:cNvPr name="Group 20" id="20"/>
          <p:cNvGrpSpPr>
            <a:grpSpLocks noChangeAspect="true"/>
          </p:cNvGrpSpPr>
          <p:nvPr/>
        </p:nvGrpSpPr>
        <p:grpSpPr>
          <a:xfrm rot="0">
            <a:off x="14221845" y="-255099"/>
            <a:ext cx="4224174" cy="2567599"/>
            <a:chOff x="0" y="0"/>
            <a:chExt cx="5632232" cy="3423465"/>
          </a:xfrm>
        </p:grpSpPr>
        <p:sp>
          <p:nvSpPr>
            <p:cNvPr name="Freeform 21" id="21"/>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10"/>
              <a:stretch>
                <a:fillRect l="-5149" t="-37679" r="-5140" b="-32516"/>
              </a:stretch>
            </a:blipFill>
          </p:spPr>
        </p:sp>
      </p:grpSp>
      <p:sp>
        <p:nvSpPr>
          <p:cNvPr name="TextBox 22" id="22"/>
          <p:cNvSpPr txBox="true"/>
          <p:nvPr/>
        </p:nvSpPr>
        <p:spPr>
          <a:xfrm rot="0">
            <a:off x="10847425" y="2205234"/>
            <a:ext cx="5201174" cy="396367"/>
          </a:xfrm>
          <a:prstGeom prst="rect">
            <a:avLst/>
          </a:prstGeom>
        </p:spPr>
        <p:txBody>
          <a:bodyPr anchor="t" rtlCol="false" tIns="0" lIns="0" bIns="0" rIns="0">
            <a:spAutoFit/>
          </a:bodyPr>
          <a:lstStyle/>
          <a:p>
            <a:pPr algn="ctr" marL="0" indent="0" lvl="0">
              <a:lnSpc>
                <a:spcPts val="3223"/>
              </a:lnSpc>
              <a:spcBef>
                <a:spcPct val="0"/>
              </a:spcBef>
            </a:pPr>
            <a:r>
              <a:rPr lang="en-US" b="true" sz="2599" spc="49">
                <a:solidFill>
                  <a:srgbClr val="FFFFFF"/>
                </a:solidFill>
                <a:latin typeface="Muli Heavy"/>
                <a:ea typeface="Muli Heavy"/>
                <a:cs typeface="Muli Heavy"/>
                <a:sym typeface="Muli Heavy"/>
              </a:rPr>
              <a:t>HERRAMIENTAS UTILIZADAS</a:t>
            </a:r>
          </a:p>
        </p:txBody>
      </p:sp>
      <p:sp>
        <p:nvSpPr>
          <p:cNvPr name="Freeform 23" id="23"/>
          <p:cNvSpPr/>
          <p:nvPr/>
        </p:nvSpPr>
        <p:spPr>
          <a:xfrm flipH="false" flipV="false" rot="0">
            <a:off x="12536013" y="2714012"/>
            <a:ext cx="1823999" cy="2001645"/>
          </a:xfrm>
          <a:custGeom>
            <a:avLst/>
            <a:gdLst/>
            <a:ahLst/>
            <a:cxnLst/>
            <a:rect r="r" b="b" t="t" l="l"/>
            <a:pathLst>
              <a:path h="2001645" w="1823999">
                <a:moveTo>
                  <a:pt x="0" y="0"/>
                </a:moveTo>
                <a:lnTo>
                  <a:pt x="1823998" y="0"/>
                </a:lnTo>
                <a:lnTo>
                  <a:pt x="1823998" y="2001644"/>
                </a:lnTo>
                <a:lnTo>
                  <a:pt x="0" y="2001644"/>
                </a:lnTo>
                <a:lnTo>
                  <a:pt x="0" y="0"/>
                </a:lnTo>
                <a:close/>
              </a:path>
            </a:pathLst>
          </a:custGeom>
          <a:blipFill>
            <a:blip r:embed="rId11"/>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3727020" y="2704230"/>
            <a:ext cx="15212927" cy="9393618"/>
            <a:chOff x="0" y="0"/>
            <a:chExt cx="4006697" cy="2474039"/>
          </a:xfrm>
        </p:grpSpPr>
        <p:sp>
          <p:nvSpPr>
            <p:cNvPr name="Freeform 3" id="3"/>
            <p:cNvSpPr/>
            <p:nvPr/>
          </p:nvSpPr>
          <p:spPr>
            <a:xfrm flipH="false" flipV="false" rot="0">
              <a:off x="0" y="0"/>
              <a:ext cx="4006697" cy="2474039"/>
            </a:xfrm>
            <a:custGeom>
              <a:avLst/>
              <a:gdLst/>
              <a:ahLst/>
              <a:cxnLst/>
              <a:rect r="r" b="b" t="t" l="l"/>
              <a:pathLst>
                <a:path h="2474039" w="4006697">
                  <a:moveTo>
                    <a:pt x="14249" y="0"/>
                  </a:moveTo>
                  <a:lnTo>
                    <a:pt x="3992448" y="0"/>
                  </a:lnTo>
                  <a:cubicBezTo>
                    <a:pt x="3996227" y="0"/>
                    <a:pt x="3999851" y="1501"/>
                    <a:pt x="4002524" y="4174"/>
                  </a:cubicBezTo>
                  <a:cubicBezTo>
                    <a:pt x="4005196" y="6846"/>
                    <a:pt x="4006697" y="10470"/>
                    <a:pt x="4006697" y="14249"/>
                  </a:cubicBezTo>
                  <a:lnTo>
                    <a:pt x="4006697" y="2459790"/>
                  </a:lnTo>
                  <a:cubicBezTo>
                    <a:pt x="4006697" y="2467660"/>
                    <a:pt x="4000317" y="2474039"/>
                    <a:pt x="3992448" y="2474039"/>
                  </a:cubicBezTo>
                  <a:lnTo>
                    <a:pt x="14249" y="2474039"/>
                  </a:lnTo>
                  <a:cubicBezTo>
                    <a:pt x="6380" y="2474039"/>
                    <a:pt x="0" y="2467660"/>
                    <a:pt x="0" y="2459790"/>
                  </a:cubicBezTo>
                  <a:lnTo>
                    <a:pt x="0" y="14249"/>
                  </a:lnTo>
                  <a:cubicBezTo>
                    <a:pt x="0" y="6380"/>
                    <a:pt x="6380" y="0"/>
                    <a:pt x="14249" y="0"/>
                  </a:cubicBezTo>
                  <a:close/>
                </a:path>
              </a:pathLst>
            </a:custGeom>
            <a:solidFill>
              <a:srgbClr val="00407B"/>
            </a:solidFill>
          </p:spPr>
        </p:sp>
        <p:sp>
          <p:nvSpPr>
            <p:cNvPr name="TextBox 4" id="4"/>
            <p:cNvSpPr txBox="true"/>
            <p:nvPr/>
          </p:nvSpPr>
          <p:spPr>
            <a:xfrm>
              <a:off x="0" y="-38100"/>
              <a:ext cx="4006697" cy="2512139"/>
            </a:xfrm>
            <a:prstGeom prst="rect">
              <a:avLst/>
            </a:prstGeom>
          </p:spPr>
          <p:txBody>
            <a:bodyPr anchor="ctr" rtlCol="false" tIns="50800" lIns="50800" bIns="50800" rIns="50800"/>
            <a:lstStyle/>
            <a:p>
              <a:pPr algn="ctr">
                <a:lnSpc>
                  <a:spcPts val="1774"/>
                </a:lnSpc>
              </a:pPr>
            </a:p>
          </p:txBody>
        </p:sp>
      </p:grpSp>
      <p:sp>
        <p:nvSpPr>
          <p:cNvPr name="Freeform 5" id="5"/>
          <p:cNvSpPr/>
          <p:nvPr/>
        </p:nvSpPr>
        <p:spPr>
          <a:xfrm flipH="false" flipV="false" rot="0">
            <a:off x="11230004" y="2630807"/>
            <a:ext cx="3588539" cy="3485368"/>
          </a:xfrm>
          <a:custGeom>
            <a:avLst/>
            <a:gdLst/>
            <a:ahLst/>
            <a:cxnLst/>
            <a:rect r="r" b="b" t="t" l="l"/>
            <a:pathLst>
              <a:path h="3485368" w="3588539">
                <a:moveTo>
                  <a:pt x="0" y="0"/>
                </a:moveTo>
                <a:lnTo>
                  <a:pt x="3588539" y="0"/>
                </a:lnTo>
                <a:lnTo>
                  <a:pt x="3588539" y="3485368"/>
                </a:lnTo>
                <a:lnTo>
                  <a:pt x="0" y="3485368"/>
                </a:lnTo>
                <a:lnTo>
                  <a:pt x="0" y="0"/>
                </a:lnTo>
                <a:close/>
              </a:path>
            </a:pathLst>
          </a:custGeom>
          <a:blipFill>
            <a:blip r:embed="rId2"/>
            <a:stretch>
              <a:fillRect l="0" t="0" r="0" b="0"/>
            </a:stretch>
          </a:blipFill>
        </p:spPr>
      </p:sp>
      <p:grpSp>
        <p:nvGrpSpPr>
          <p:cNvPr name="Group 6" id="6"/>
          <p:cNvGrpSpPr/>
          <p:nvPr/>
        </p:nvGrpSpPr>
        <p:grpSpPr>
          <a:xfrm rot="5400000">
            <a:off x="10681537" y="3075575"/>
            <a:ext cx="15212927" cy="3562712"/>
            <a:chOff x="0" y="0"/>
            <a:chExt cx="4006697" cy="938327"/>
          </a:xfrm>
        </p:grpSpPr>
        <p:sp>
          <p:nvSpPr>
            <p:cNvPr name="Freeform 7" id="7"/>
            <p:cNvSpPr/>
            <p:nvPr/>
          </p:nvSpPr>
          <p:spPr>
            <a:xfrm flipH="false" flipV="false" rot="0">
              <a:off x="0" y="0"/>
              <a:ext cx="4006697" cy="938327"/>
            </a:xfrm>
            <a:custGeom>
              <a:avLst/>
              <a:gdLst/>
              <a:ahLst/>
              <a:cxnLst/>
              <a:rect r="r" b="b" t="t" l="l"/>
              <a:pathLst>
                <a:path h="938327" w="4006697">
                  <a:moveTo>
                    <a:pt x="14249" y="0"/>
                  </a:moveTo>
                  <a:lnTo>
                    <a:pt x="3992448" y="0"/>
                  </a:lnTo>
                  <a:cubicBezTo>
                    <a:pt x="3996227" y="0"/>
                    <a:pt x="3999851" y="1501"/>
                    <a:pt x="4002524" y="4174"/>
                  </a:cubicBezTo>
                  <a:cubicBezTo>
                    <a:pt x="4005196" y="6846"/>
                    <a:pt x="4006697" y="10470"/>
                    <a:pt x="4006697" y="14249"/>
                  </a:cubicBezTo>
                  <a:lnTo>
                    <a:pt x="4006697" y="924078"/>
                  </a:lnTo>
                  <a:cubicBezTo>
                    <a:pt x="4006697" y="931948"/>
                    <a:pt x="4000317" y="938327"/>
                    <a:pt x="3992448" y="938327"/>
                  </a:cubicBezTo>
                  <a:lnTo>
                    <a:pt x="14249" y="938327"/>
                  </a:lnTo>
                  <a:cubicBezTo>
                    <a:pt x="6380" y="938327"/>
                    <a:pt x="0" y="931948"/>
                    <a:pt x="0" y="924078"/>
                  </a:cubicBezTo>
                  <a:lnTo>
                    <a:pt x="0" y="14249"/>
                  </a:lnTo>
                  <a:cubicBezTo>
                    <a:pt x="0" y="6380"/>
                    <a:pt x="6380" y="0"/>
                    <a:pt x="14249" y="0"/>
                  </a:cubicBezTo>
                  <a:close/>
                </a:path>
              </a:pathLst>
            </a:custGeom>
            <a:solidFill>
              <a:srgbClr val="FDB61B"/>
            </a:solidFill>
          </p:spPr>
        </p:sp>
        <p:sp>
          <p:nvSpPr>
            <p:cNvPr name="TextBox 8" id="8"/>
            <p:cNvSpPr txBox="true"/>
            <p:nvPr/>
          </p:nvSpPr>
          <p:spPr>
            <a:xfrm>
              <a:off x="0" y="-38100"/>
              <a:ext cx="4006697" cy="976427"/>
            </a:xfrm>
            <a:prstGeom prst="rect">
              <a:avLst/>
            </a:prstGeom>
          </p:spPr>
          <p:txBody>
            <a:bodyPr anchor="ctr" rtlCol="false" tIns="50800" lIns="50800" bIns="50800" rIns="50800"/>
            <a:lstStyle/>
            <a:p>
              <a:pPr algn="ctr">
                <a:lnSpc>
                  <a:spcPts val="1774"/>
                </a:lnSpc>
              </a:pPr>
            </a:p>
          </p:txBody>
        </p:sp>
      </p:grpSp>
      <p:grpSp>
        <p:nvGrpSpPr>
          <p:cNvPr name="Group 9" id="9"/>
          <p:cNvGrpSpPr>
            <a:grpSpLocks noChangeAspect="true"/>
          </p:cNvGrpSpPr>
          <p:nvPr/>
        </p:nvGrpSpPr>
        <p:grpSpPr>
          <a:xfrm rot="0">
            <a:off x="10912187" y="-205425"/>
            <a:ext cx="4224174" cy="2567599"/>
            <a:chOff x="0" y="0"/>
            <a:chExt cx="5632232" cy="3423465"/>
          </a:xfrm>
        </p:grpSpPr>
        <p:sp>
          <p:nvSpPr>
            <p:cNvPr name="Freeform 10" id="10"/>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sp>
        <p:nvSpPr>
          <p:cNvPr name="Freeform 11" id="11"/>
          <p:cNvSpPr/>
          <p:nvPr/>
        </p:nvSpPr>
        <p:spPr>
          <a:xfrm flipH="false" flipV="false" rot="0">
            <a:off x="11609677" y="6664409"/>
            <a:ext cx="2829194" cy="2769074"/>
          </a:xfrm>
          <a:custGeom>
            <a:avLst/>
            <a:gdLst/>
            <a:ahLst/>
            <a:cxnLst/>
            <a:rect r="r" b="b" t="t" l="l"/>
            <a:pathLst>
              <a:path h="2769074" w="2829194">
                <a:moveTo>
                  <a:pt x="0" y="0"/>
                </a:moveTo>
                <a:lnTo>
                  <a:pt x="2829194" y="0"/>
                </a:lnTo>
                <a:lnTo>
                  <a:pt x="2829194" y="2769074"/>
                </a:lnTo>
                <a:lnTo>
                  <a:pt x="0" y="276907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817365" y="1222854"/>
            <a:ext cx="9961365" cy="802147"/>
          </a:xfrm>
          <a:prstGeom prst="rect">
            <a:avLst/>
          </a:prstGeom>
        </p:spPr>
        <p:txBody>
          <a:bodyPr anchor="t" rtlCol="false" tIns="0" lIns="0" bIns="0" rIns="0">
            <a:spAutoFit/>
          </a:bodyPr>
          <a:lstStyle/>
          <a:p>
            <a:pPr algn="ctr" marL="0" indent="0" lvl="0">
              <a:lnSpc>
                <a:spcPts val="6475"/>
              </a:lnSpc>
              <a:spcBef>
                <a:spcPct val="0"/>
              </a:spcBef>
            </a:pPr>
            <a:r>
              <a:rPr lang="en-US" b="true" sz="5221" spc="99">
                <a:solidFill>
                  <a:srgbClr val="FFFFFF"/>
                </a:solidFill>
                <a:latin typeface="Muli Heavy"/>
                <a:ea typeface="Muli Heavy"/>
                <a:cs typeface="Muli Heavy"/>
                <a:sym typeface="Muli Heavy"/>
              </a:rPr>
              <a:t>DESARROLLO TÉCNICO</a:t>
            </a:r>
          </a:p>
        </p:txBody>
      </p:sp>
      <p:sp>
        <p:nvSpPr>
          <p:cNvPr name="TextBox 13" id="13"/>
          <p:cNvSpPr txBox="true"/>
          <p:nvPr/>
        </p:nvSpPr>
        <p:spPr>
          <a:xfrm rot="0">
            <a:off x="379638" y="3314657"/>
            <a:ext cx="7756981" cy="3349752"/>
          </a:xfrm>
          <a:prstGeom prst="rect">
            <a:avLst/>
          </a:prstGeom>
        </p:spPr>
        <p:txBody>
          <a:bodyPr anchor="t" rtlCol="false" tIns="0" lIns="0" bIns="0" rIns="0">
            <a:spAutoFit/>
          </a:bodyPr>
          <a:lstStyle/>
          <a:p>
            <a:pPr algn="ctr">
              <a:lnSpc>
                <a:spcPts val="3318"/>
              </a:lnSpc>
            </a:pPr>
            <a:r>
              <a:rPr lang="en-US" sz="2370">
                <a:solidFill>
                  <a:srgbClr val="FFFFFF"/>
                </a:solidFill>
                <a:latin typeface="TT Interphases"/>
                <a:ea typeface="TT Interphases"/>
                <a:cs typeface="TT Interphases"/>
                <a:sym typeface="TT Interphases"/>
              </a:rPr>
              <a:t>La clave fue usar </a:t>
            </a:r>
            <a:r>
              <a:rPr lang="en-US" sz="2370">
                <a:solidFill>
                  <a:srgbClr val="FFFFFF"/>
                </a:solidFill>
                <a:latin typeface="TT Interphases"/>
                <a:ea typeface="TT Interphases"/>
                <a:cs typeface="TT Interphases"/>
                <a:sym typeface="TT Interphases"/>
              </a:rPr>
              <a:t>APIs como puentes de comunicación para conectar todos los componentes, además la base de datos en la nube actúa como centro de la información, por ello tanto la página web para los trabajadores como la app móvil para los ciudadanos y trabajadores se conectan a la base de datos a través de la API, asegurando que todos los datos estén centralizados, sincronizados y sean accesibles desde cualquier plataforma.</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3615183" y="-7435708"/>
            <a:ext cx="3843522" cy="13821907"/>
            <a:chOff x="0" y="0"/>
            <a:chExt cx="1012286" cy="3640338"/>
          </a:xfrm>
        </p:grpSpPr>
        <p:sp>
          <p:nvSpPr>
            <p:cNvPr name="Freeform 4" id="4"/>
            <p:cNvSpPr/>
            <p:nvPr/>
          </p:nvSpPr>
          <p:spPr>
            <a:xfrm flipH="false" flipV="false" rot="0">
              <a:off x="0" y="0"/>
              <a:ext cx="1012286" cy="3640337"/>
            </a:xfrm>
            <a:custGeom>
              <a:avLst/>
              <a:gdLst/>
              <a:ahLst/>
              <a:cxnLst/>
              <a:rect r="r" b="b" t="t" l="l"/>
              <a:pathLst>
                <a:path h="3640337" w="1012286">
                  <a:moveTo>
                    <a:pt x="56400" y="0"/>
                  </a:moveTo>
                  <a:lnTo>
                    <a:pt x="955886" y="0"/>
                  </a:lnTo>
                  <a:cubicBezTo>
                    <a:pt x="987035" y="0"/>
                    <a:pt x="1012286" y="25251"/>
                    <a:pt x="1012286" y="56400"/>
                  </a:cubicBezTo>
                  <a:lnTo>
                    <a:pt x="1012286" y="3583938"/>
                  </a:lnTo>
                  <a:cubicBezTo>
                    <a:pt x="1012286" y="3615086"/>
                    <a:pt x="987035" y="3640337"/>
                    <a:pt x="955886" y="3640337"/>
                  </a:cubicBezTo>
                  <a:lnTo>
                    <a:pt x="56400" y="3640337"/>
                  </a:lnTo>
                  <a:cubicBezTo>
                    <a:pt x="41442" y="3640337"/>
                    <a:pt x="27096" y="3634395"/>
                    <a:pt x="16519" y="3623818"/>
                  </a:cubicBezTo>
                  <a:cubicBezTo>
                    <a:pt x="5942" y="3613241"/>
                    <a:pt x="0" y="3598896"/>
                    <a:pt x="0" y="3583938"/>
                  </a:cubicBezTo>
                  <a:lnTo>
                    <a:pt x="0" y="56400"/>
                  </a:lnTo>
                  <a:cubicBezTo>
                    <a:pt x="0" y="25251"/>
                    <a:pt x="25251" y="0"/>
                    <a:pt x="56400" y="0"/>
                  </a:cubicBezTo>
                  <a:close/>
                </a:path>
              </a:pathLst>
            </a:custGeom>
            <a:solidFill>
              <a:srgbClr val="FDB61B"/>
            </a:solidFill>
          </p:spPr>
        </p:sp>
        <p:sp>
          <p:nvSpPr>
            <p:cNvPr name="TextBox 5" id="5"/>
            <p:cNvSpPr txBox="true"/>
            <p:nvPr/>
          </p:nvSpPr>
          <p:spPr>
            <a:xfrm>
              <a:off x="0" y="-38100"/>
              <a:ext cx="1012286" cy="3678438"/>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5659147" y="-4324043"/>
            <a:ext cx="7541170" cy="20032059"/>
            <a:chOff x="0" y="0"/>
            <a:chExt cx="1986152" cy="5275933"/>
          </a:xfrm>
        </p:grpSpPr>
        <p:sp>
          <p:nvSpPr>
            <p:cNvPr name="Freeform 7" id="7"/>
            <p:cNvSpPr/>
            <p:nvPr/>
          </p:nvSpPr>
          <p:spPr>
            <a:xfrm flipH="false" flipV="false" rot="0">
              <a:off x="0" y="0"/>
              <a:ext cx="1986152" cy="5275933"/>
            </a:xfrm>
            <a:custGeom>
              <a:avLst/>
              <a:gdLst/>
              <a:ahLst/>
              <a:cxnLst/>
              <a:rect r="r" b="b" t="t" l="l"/>
              <a:pathLst>
                <a:path h="5275933" w="1986152">
                  <a:moveTo>
                    <a:pt x="28745" y="0"/>
                  </a:moveTo>
                  <a:lnTo>
                    <a:pt x="1957406" y="0"/>
                  </a:lnTo>
                  <a:cubicBezTo>
                    <a:pt x="1965030" y="0"/>
                    <a:pt x="1972342" y="3029"/>
                    <a:pt x="1977733" y="8419"/>
                  </a:cubicBezTo>
                  <a:cubicBezTo>
                    <a:pt x="1983123" y="13810"/>
                    <a:pt x="1986152" y="21122"/>
                    <a:pt x="1986152" y="28745"/>
                  </a:cubicBezTo>
                  <a:lnTo>
                    <a:pt x="1986152" y="5247188"/>
                  </a:lnTo>
                  <a:cubicBezTo>
                    <a:pt x="1986152" y="5254812"/>
                    <a:pt x="1983123" y="5262123"/>
                    <a:pt x="1977733" y="5267514"/>
                  </a:cubicBezTo>
                  <a:cubicBezTo>
                    <a:pt x="1972342" y="5272905"/>
                    <a:pt x="1965030" y="5275933"/>
                    <a:pt x="1957406" y="5275933"/>
                  </a:cubicBezTo>
                  <a:lnTo>
                    <a:pt x="28745" y="5275933"/>
                  </a:lnTo>
                  <a:cubicBezTo>
                    <a:pt x="21122" y="5275933"/>
                    <a:pt x="13810" y="5272905"/>
                    <a:pt x="8419" y="5267514"/>
                  </a:cubicBezTo>
                  <a:cubicBezTo>
                    <a:pt x="3029" y="5262123"/>
                    <a:pt x="0" y="5254812"/>
                    <a:pt x="0" y="5247188"/>
                  </a:cubicBezTo>
                  <a:lnTo>
                    <a:pt x="0" y="28745"/>
                  </a:lnTo>
                  <a:cubicBezTo>
                    <a:pt x="0" y="21122"/>
                    <a:pt x="3029" y="13810"/>
                    <a:pt x="8419" y="8419"/>
                  </a:cubicBezTo>
                  <a:cubicBezTo>
                    <a:pt x="13810" y="3029"/>
                    <a:pt x="21122" y="0"/>
                    <a:pt x="28745" y="0"/>
                  </a:cubicBezTo>
                  <a:close/>
                </a:path>
              </a:pathLst>
            </a:custGeom>
            <a:solidFill>
              <a:srgbClr val="00407B"/>
            </a:solidFill>
          </p:spPr>
        </p:sp>
        <p:sp>
          <p:nvSpPr>
            <p:cNvPr name="TextBox 8" id="8"/>
            <p:cNvSpPr txBox="true"/>
            <p:nvPr/>
          </p:nvSpPr>
          <p:spPr>
            <a:xfrm>
              <a:off x="0" y="-38100"/>
              <a:ext cx="1986152" cy="5314033"/>
            </a:xfrm>
            <a:prstGeom prst="rect">
              <a:avLst/>
            </a:prstGeom>
          </p:spPr>
          <p:txBody>
            <a:bodyPr anchor="ctr" rtlCol="false" tIns="50800" lIns="50800" bIns="50800" rIns="50800"/>
            <a:lstStyle/>
            <a:p>
              <a:pPr algn="ctr">
                <a:lnSpc>
                  <a:spcPts val="1774"/>
                </a:lnSpc>
              </a:pPr>
            </a:p>
          </p:txBody>
        </p:sp>
      </p:grpSp>
      <p:grpSp>
        <p:nvGrpSpPr>
          <p:cNvPr name="Group 9" id="9"/>
          <p:cNvGrpSpPr>
            <a:grpSpLocks noChangeAspect="true"/>
          </p:cNvGrpSpPr>
          <p:nvPr/>
        </p:nvGrpSpPr>
        <p:grpSpPr>
          <a:xfrm rot="0">
            <a:off x="14063826" y="-414141"/>
            <a:ext cx="4224174" cy="2567599"/>
            <a:chOff x="0" y="0"/>
            <a:chExt cx="5632232" cy="3423465"/>
          </a:xfrm>
        </p:grpSpPr>
        <p:sp>
          <p:nvSpPr>
            <p:cNvPr name="Freeform 10" id="10"/>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1" id="11"/>
          <p:cNvGrpSpPr/>
          <p:nvPr/>
        </p:nvGrpSpPr>
        <p:grpSpPr>
          <a:xfrm rot="5400000">
            <a:off x="-3517099" y="1546368"/>
            <a:ext cx="7541170" cy="8291237"/>
            <a:chOff x="0" y="0"/>
            <a:chExt cx="1986152" cy="2183700"/>
          </a:xfrm>
        </p:grpSpPr>
        <p:sp>
          <p:nvSpPr>
            <p:cNvPr name="Freeform 12" id="12"/>
            <p:cNvSpPr/>
            <p:nvPr/>
          </p:nvSpPr>
          <p:spPr>
            <a:xfrm flipH="false" flipV="false" rot="0">
              <a:off x="0" y="0"/>
              <a:ext cx="1986152" cy="2183700"/>
            </a:xfrm>
            <a:custGeom>
              <a:avLst/>
              <a:gdLst/>
              <a:ahLst/>
              <a:cxnLst/>
              <a:rect r="r" b="b" t="t" l="l"/>
              <a:pathLst>
                <a:path h="2183700" w="1986152">
                  <a:moveTo>
                    <a:pt x="0" y="0"/>
                  </a:moveTo>
                  <a:lnTo>
                    <a:pt x="1986152" y="0"/>
                  </a:lnTo>
                  <a:lnTo>
                    <a:pt x="1986152" y="2183700"/>
                  </a:lnTo>
                  <a:lnTo>
                    <a:pt x="0" y="2183700"/>
                  </a:lnTo>
                  <a:close/>
                </a:path>
              </a:pathLst>
            </a:custGeom>
            <a:solidFill>
              <a:srgbClr val="FDB61B"/>
            </a:solidFill>
          </p:spPr>
        </p:sp>
        <p:sp>
          <p:nvSpPr>
            <p:cNvPr name="TextBox 13" id="13"/>
            <p:cNvSpPr txBox="true"/>
            <p:nvPr/>
          </p:nvSpPr>
          <p:spPr>
            <a:xfrm>
              <a:off x="0" y="-38100"/>
              <a:ext cx="1986152" cy="2221800"/>
            </a:xfrm>
            <a:prstGeom prst="rect">
              <a:avLst/>
            </a:prstGeom>
          </p:spPr>
          <p:txBody>
            <a:bodyPr anchor="ctr" rtlCol="false" tIns="50800" lIns="50800" bIns="50800" rIns="50800"/>
            <a:lstStyle/>
            <a:p>
              <a:pPr algn="ctr">
                <a:lnSpc>
                  <a:spcPts val="1774"/>
                </a:lnSpc>
              </a:pPr>
            </a:p>
          </p:txBody>
        </p:sp>
      </p:grpSp>
      <p:sp>
        <p:nvSpPr>
          <p:cNvPr name="Freeform 14" id="14"/>
          <p:cNvSpPr/>
          <p:nvPr/>
        </p:nvSpPr>
        <p:spPr>
          <a:xfrm flipH="false" flipV="false" rot="0">
            <a:off x="5304935" y="2153458"/>
            <a:ext cx="7678130" cy="6918603"/>
          </a:xfrm>
          <a:custGeom>
            <a:avLst/>
            <a:gdLst/>
            <a:ahLst/>
            <a:cxnLst/>
            <a:rect r="r" b="b" t="t" l="l"/>
            <a:pathLst>
              <a:path h="6918603" w="7678130">
                <a:moveTo>
                  <a:pt x="0" y="0"/>
                </a:moveTo>
                <a:lnTo>
                  <a:pt x="7678130" y="0"/>
                </a:lnTo>
                <a:lnTo>
                  <a:pt x="7678130" y="6918603"/>
                </a:lnTo>
                <a:lnTo>
                  <a:pt x="0" y="6918603"/>
                </a:lnTo>
                <a:lnTo>
                  <a:pt x="0" y="0"/>
                </a:lnTo>
                <a:close/>
              </a:path>
            </a:pathLst>
          </a:custGeom>
          <a:blipFill>
            <a:blip r:embed="rId4"/>
            <a:stretch>
              <a:fillRect l="0" t="0" r="0" b="0"/>
            </a:stretch>
          </a:blipFill>
        </p:spPr>
      </p:sp>
      <p:sp>
        <p:nvSpPr>
          <p:cNvPr name="TextBox 15" id="15"/>
          <p:cNvSpPr txBox="true"/>
          <p:nvPr/>
        </p:nvSpPr>
        <p:spPr>
          <a:xfrm rot="0">
            <a:off x="0" y="330815"/>
            <a:ext cx="12793964" cy="697885"/>
          </a:xfrm>
          <a:prstGeom prst="rect">
            <a:avLst/>
          </a:prstGeom>
        </p:spPr>
        <p:txBody>
          <a:bodyPr anchor="t" rtlCol="false" tIns="0" lIns="0" bIns="0" rIns="0">
            <a:spAutoFit/>
          </a:bodyPr>
          <a:lstStyle/>
          <a:p>
            <a:pPr algn="ctr" marL="0" indent="0" lvl="0">
              <a:lnSpc>
                <a:spcPts val="5543"/>
              </a:lnSpc>
              <a:spcBef>
                <a:spcPct val="0"/>
              </a:spcBef>
            </a:pPr>
            <a:r>
              <a:rPr lang="en-US" b="true" sz="4470" spc="84">
                <a:solidFill>
                  <a:srgbClr val="FFFFFF"/>
                </a:solidFill>
                <a:latin typeface="Muli Heavy"/>
                <a:ea typeface="Muli Heavy"/>
                <a:cs typeface="Muli Heavy"/>
                <a:sym typeface="Muli Heavy"/>
              </a:rPr>
              <a:t>BASE DE DATOS LOGICO</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3615183" y="-7435708"/>
            <a:ext cx="3843522" cy="13821907"/>
            <a:chOff x="0" y="0"/>
            <a:chExt cx="1012286" cy="3640338"/>
          </a:xfrm>
        </p:grpSpPr>
        <p:sp>
          <p:nvSpPr>
            <p:cNvPr name="Freeform 4" id="4"/>
            <p:cNvSpPr/>
            <p:nvPr/>
          </p:nvSpPr>
          <p:spPr>
            <a:xfrm flipH="false" flipV="false" rot="0">
              <a:off x="0" y="0"/>
              <a:ext cx="1012286" cy="3640337"/>
            </a:xfrm>
            <a:custGeom>
              <a:avLst/>
              <a:gdLst/>
              <a:ahLst/>
              <a:cxnLst/>
              <a:rect r="r" b="b" t="t" l="l"/>
              <a:pathLst>
                <a:path h="3640337" w="1012286">
                  <a:moveTo>
                    <a:pt x="56400" y="0"/>
                  </a:moveTo>
                  <a:lnTo>
                    <a:pt x="955886" y="0"/>
                  </a:lnTo>
                  <a:cubicBezTo>
                    <a:pt x="987035" y="0"/>
                    <a:pt x="1012286" y="25251"/>
                    <a:pt x="1012286" y="56400"/>
                  </a:cubicBezTo>
                  <a:lnTo>
                    <a:pt x="1012286" y="3583938"/>
                  </a:lnTo>
                  <a:cubicBezTo>
                    <a:pt x="1012286" y="3615086"/>
                    <a:pt x="987035" y="3640337"/>
                    <a:pt x="955886" y="3640337"/>
                  </a:cubicBezTo>
                  <a:lnTo>
                    <a:pt x="56400" y="3640337"/>
                  </a:lnTo>
                  <a:cubicBezTo>
                    <a:pt x="41442" y="3640337"/>
                    <a:pt x="27096" y="3634395"/>
                    <a:pt x="16519" y="3623818"/>
                  </a:cubicBezTo>
                  <a:cubicBezTo>
                    <a:pt x="5942" y="3613241"/>
                    <a:pt x="0" y="3598896"/>
                    <a:pt x="0" y="3583938"/>
                  </a:cubicBezTo>
                  <a:lnTo>
                    <a:pt x="0" y="56400"/>
                  </a:lnTo>
                  <a:cubicBezTo>
                    <a:pt x="0" y="25251"/>
                    <a:pt x="25251" y="0"/>
                    <a:pt x="56400" y="0"/>
                  </a:cubicBezTo>
                  <a:close/>
                </a:path>
              </a:pathLst>
            </a:custGeom>
            <a:solidFill>
              <a:srgbClr val="FDB61B"/>
            </a:solidFill>
          </p:spPr>
        </p:sp>
        <p:sp>
          <p:nvSpPr>
            <p:cNvPr name="TextBox 5" id="5"/>
            <p:cNvSpPr txBox="true"/>
            <p:nvPr/>
          </p:nvSpPr>
          <p:spPr>
            <a:xfrm>
              <a:off x="0" y="-38100"/>
              <a:ext cx="1012286" cy="3678438"/>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5659147" y="-4324043"/>
            <a:ext cx="7541170" cy="20032059"/>
            <a:chOff x="0" y="0"/>
            <a:chExt cx="1986152" cy="5275933"/>
          </a:xfrm>
        </p:grpSpPr>
        <p:sp>
          <p:nvSpPr>
            <p:cNvPr name="Freeform 7" id="7"/>
            <p:cNvSpPr/>
            <p:nvPr/>
          </p:nvSpPr>
          <p:spPr>
            <a:xfrm flipH="false" flipV="false" rot="0">
              <a:off x="0" y="0"/>
              <a:ext cx="1986152" cy="5275933"/>
            </a:xfrm>
            <a:custGeom>
              <a:avLst/>
              <a:gdLst/>
              <a:ahLst/>
              <a:cxnLst/>
              <a:rect r="r" b="b" t="t" l="l"/>
              <a:pathLst>
                <a:path h="5275933" w="1986152">
                  <a:moveTo>
                    <a:pt x="28745" y="0"/>
                  </a:moveTo>
                  <a:lnTo>
                    <a:pt x="1957406" y="0"/>
                  </a:lnTo>
                  <a:cubicBezTo>
                    <a:pt x="1965030" y="0"/>
                    <a:pt x="1972342" y="3029"/>
                    <a:pt x="1977733" y="8419"/>
                  </a:cubicBezTo>
                  <a:cubicBezTo>
                    <a:pt x="1983123" y="13810"/>
                    <a:pt x="1986152" y="21122"/>
                    <a:pt x="1986152" y="28745"/>
                  </a:cubicBezTo>
                  <a:lnTo>
                    <a:pt x="1986152" y="5247188"/>
                  </a:lnTo>
                  <a:cubicBezTo>
                    <a:pt x="1986152" y="5254812"/>
                    <a:pt x="1983123" y="5262123"/>
                    <a:pt x="1977733" y="5267514"/>
                  </a:cubicBezTo>
                  <a:cubicBezTo>
                    <a:pt x="1972342" y="5272905"/>
                    <a:pt x="1965030" y="5275933"/>
                    <a:pt x="1957406" y="5275933"/>
                  </a:cubicBezTo>
                  <a:lnTo>
                    <a:pt x="28745" y="5275933"/>
                  </a:lnTo>
                  <a:cubicBezTo>
                    <a:pt x="21122" y="5275933"/>
                    <a:pt x="13810" y="5272905"/>
                    <a:pt x="8419" y="5267514"/>
                  </a:cubicBezTo>
                  <a:cubicBezTo>
                    <a:pt x="3029" y="5262123"/>
                    <a:pt x="0" y="5254812"/>
                    <a:pt x="0" y="5247188"/>
                  </a:cubicBezTo>
                  <a:lnTo>
                    <a:pt x="0" y="28745"/>
                  </a:lnTo>
                  <a:cubicBezTo>
                    <a:pt x="0" y="21122"/>
                    <a:pt x="3029" y="13810"/>
                    <a:pt x="8419" y="8419"/>
                  </a:cubicBezTo>
                  <a:cubicBezTo>
                    <a:pt x="13810" y="3029"/>
                    <a:pt x="21122" y="0"/>
                    <a:pt x="28745" y="0"/>
                  </a:cubicBezTo>
                  <a:close/>
                </a:path>
              </a:pathLst>
            </a:custGeom>
            <a:solidFill>
              <a:srgbClr val="00407B"/>
            </a:solidFill>
          </p:spPr>
        </p:sp>
        <p:sp>
          <p:nvSpPr>
            <p:cNvPr name="TextBox 8" id="8"/>
            <p:cNvSpPr txBox="true"/>
            <p:nvPr/>
          </p:nvSpPr>
          <p:spPr>
            <a:xfrm>
              <a:off x="0" y="-38100"/>
              <a:ext cx="1986152" cy="5314033"/>
            </a:xfrm>
            <a:prstGeom prst="rect">
              <a:avLst/>
            </a:prstGeom>
          </p:spPr>
          <p:txBody>
            <a:bodyPr anchor="ctr" rtlCol="false" tIns="50800" lIns="50800" bIns="50800" rIns="50800"/>
            <a:lstStyle/>
            <a:p>
              <a:pPr algn="ctr">
                <a:lnSpc>
                  <a:spcPts val="1774"/>
                </a:lnSpc>
              </a:pPr>
            </a:p>
          </p:txBody>
        </p:sp>
      </p:grpSp>
      <p:grpSp>
        <p:nvGrpSpPr>
          <p:cNvPr name="Group 9" id="9"/>
          <p:cNvGrpSpPr>
            <a:grpSpLocks noChangeAspect="true"/>
          </p:cNvGrpSpPr>
          <p:nvPr/>
        </p:nvGrpSpPr>
        <p:grpSpPr>
          <a:xfrm rot="0">
            <a:off x="14063826" y="-414141"/>
            <a:ext cx="4224174" cy="2567599"/>
            <a:chOff x="0" y="0"/>
            <a:chExt cx="5632232" cy="3423465"/>
          </a:xfrm>
        </p:grpSpPr>
        <p:sp>
          <p:nvSpPr>
            <p:cNvPr name="Freeform 10" id="10"/>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1" id="11"/>
          <p:cNvGrpSpPr/>
          <p:nvPr/>
        </p:nvGrpSpPr>
        <p:grpSpPr>
          <a:xfrm rot="5400000">
            <a:off x="-3517099" y="1546368"/>
            <a:ext cx="7541170" cy="8291237"/>
            <a:chOff x="0" y="0"/>
            <a:chExt cx="1986152" cy="2183700"/>
          </a:xfrm>
        </p:grpSpPr>
        <p:sp>
          <p:nvSpPr>
            <p:cNvPr name="Freeform 12" id="12"/>
            <p:cNvSpPr/>
            <p:nvPr/>
          </p:nvSpPr>
          <p:spPr>
            <a:xfrm flipH="false" flipV="false" rot="0">
              <a:off x="0" y="0"/>
              <a:ext cx="1986152" cy="2183700"/>
            </a:xfrm>
            <a:custGeom>
              <a:avLst/>
              <a:gdLst/>
              <a:ahLst/>
              <a:cxnLst/>
              <a:rect r="r" b="b" t="t" l="l"/>
              <a:pathLst>
                <a:path h="2183700" w="1986152">
                  <a:moveTo>
                    <a:pt x="0" y="0"/>
                  </a:moveTo>
                  <a:lnTo>
                    <a:pt x="1986152" y="0"/>
                  </a:lnTo>
                  <a:lnTo>
                    <a:pt x="1986152" y="2183700"/>
                  </a:lnTo>
                  <a:lnTo>
                    <a:pt x="0" y="2183700"/>
                  </a:lnTo>
                  <a:close/>
                </a:path>
              </a:pathLst>
            </a:custGeom>
            <a:solidFill>
              <a:srgbClr val="FDB61B"/>
            </a:solidFill>
          </p:spPr>
        </p:sp>
        <p:sp>
          <p:nvSpPr>
            <p:cNvPr name="TextBox 13" id="13"/>
            <p:cNvSpPr txBox="true"/>
            <p:nvPr/>
          </p:nvSpPr>
          <p:spPr>
            <a:xfrm>
              <a:off x="0" y="-38100"/>
              <a:ext cx="1986152" cy="2221800"/>
            </a:xfrm>
            <a:prstGeom prst="rect">
              <a:avLst/>
            </a:prstGeom>
          </p:spPr>
          <p:txBody>
            <a:bodyPr anchor="ctr" rtlCol="false" tIns="50800" lIns="50800" bIns="50800" rIns="50800"/>
            <a:lstStyle/>
            <a:p>
              <a:pPr algn="ctr">
                <a:lnSpc>
                  <a:spcPts val="1774"/>
                </a:lnSpc>
              </a:pPr>
            </a:p>
          </p:txBody>
        </p:sp>
      </p:grpSp>
      <p:sp>
        <p:nvSpPr>
          <p:cNvPr name="Freeform 14" id="14"/>
          <p:cNvSpPr/>
          <p:nvPr/>
        </p:nvSpPr>
        <p:spPr>
          <a:xfrm flipH="false" flipV="false" rot="0">
            <a:off x="5241311" y="2153458"/>
            <a:ext cx="7884815" cy="7104842"/>
          </a:xfrm>
          <a:custGeom>
            <a:avLst/>
            <a:gdLst/>
            <a:ahLst/>
            <a:cxnLst/>
            <a:rect r="r" b="b" t="t" l="l"/>
            <a:pathLst>
              <a:path h="7104842" w="7884815">
                <a:moveTo>
                  <a:pt x="0" y="0"/>
                </a:moveTo>
                <a:lnTo>
                  <a:pt x="7884815" y="0"/>
                </a:lnTo>
                <a:lnTo>
                  <a:pt x="7884815" y="7104842"/>
                </a:lnTo>
                <a:lnTo>
                  <a:pt x="0" y="7104842"/>
                </a:lnTo>
                <a:lnTo>
                  <a:pt x="0" y="0"/>
                </a:lnTo>
                <a:close/>
              </a:path>
            </a:pathLst>
          </a:custGeom>
          <a:blipFill>
            <a:blip r:embed="rId4"/>
            <a:stretch>
              <a:fillRect l="0" t="0" r="0" b="0"/>
            </a:stretch>
          </a:blipFill>
        </p:spPr>
      </p:sp>
      <p:sp>
        <p:nvSpPr>
          <p:cNvPr name="TextBox 15" id="15"/>
          <p:cNvSpPr txBox="true"/>
          <p:nvPr/>
        </p:nvSpPr>
        <p:spPr>
          <a:xfrm rot="0">
            <a:off x="0" y="330815"/>
            <a:ext cx="12793964" cy="697885"/>
          </a:xfrm>
          <a:prstGeom prst="rect">
            <a:avLst/>
          </a:prstGeom>
        </p:spPr>
        <p:txBody>
          <a:bodyPr anchor="t" rtlCol="false" tIns="0" lIns="0" bIns="0" rIns="0">
            <a:spAutoFit/>
          </a:bodyPr>
          <a:lstStyle/>
          <a:p>
            <a:pPr algn="ctr" marL="0" indent="0" lvl="0">
              <a:lnSpc>
                <a:spcPts val="5543"/>
              </a:lnSpc>
              <a:spcBef>
                <a:spcPct val="0"/>
              </a:spcBef>
            </a:pPr>
            <a:r>
              <a:rPr lang="en-US" b="true" sz="4470" spc="84">
                <a:solidFill>
                  <a:srgbClr val="FFFFFF"/>
                </a:solidFill>
                <a:latin typeface="Muli Heavy"/>
                <a:ea typeface="Muli Heavy"/>
                <a:cs typeface="Muli Heavy"/>
                <a:sym typeface="Muli Heavy"/>
              </a:rPr>
              <a:t>BASE DE DATOS RELACIONAL</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5400000">
            <a:off x="7603181" y="-512411"/>
            <a:ext cx="12199553" cy="11621151"/>
            <a:chOff x="0" y="0"/>
            <a:chExt cx="3213051" cy="3060715"/>
          </a:xfrm>
        </p:grpSpPr>
        <p:sp>
          <p:nvSpPr>
            <p:cNvPr name="Freeform 3" id="3"/>
            <p:cNvSpPr/>
            <p:nvPr/>
          </p:nvSpPr>
          <p:spPr>
            <a:xfrm flipH="false" flipV="false" rot="0">
              <a:off x="0" y="0"/>
              <a:ext cx="3213051" cy="3060715"/>
            </a:xfrm>
            <a:custGeom>
              <a:avLst/>
              <a:gdLst/>
              <a:ahLst/>
              <a:cxnLst/>
              <a:rect r="r" b="b" t="t" l="l"/>
              <a:pathLst>
                <a:path h="3060715" w="3213051">
                  <a:moveTo>
                    <a:pt x="17769" y="0"/>
                  </a:moveTo>
                  <a:lnTo>
                    <a:pt x="3195282" y="0"/>
                  </a:lnTo>
                  <a:cubicBezTo>
                    <a:pt x="3199995" y="0"/>
                    <a:pt x="3204514" y="1872"/>
                    <a:pt x="3207847" y="5204"/>
                  </a:cubicBezTo>
                  <a:cubicBezTo>
                    <a:pt x="3211179" y="8537"/>
                    <a:pt x="3213051" y="13056"/>
                    <a:pt x="3213051" y="17769"/>
                  </a:cubicBezTo>
                  <a:lnTo>
                    <a:pt x="3213051" y="3042946"/>
                  </a:lnTo>
                  <a:cubicBezTo>
                    <a:pt x="3213051" y="3047658"/>
                    <a:pt x="3211179" y="3052178"/>
                    <a:pt x="3207847" y="3055510"/>
                  </a:cubicBezTo>
                  <a:cubicBezTo>
                    <a:pt x="3204514" y="3058843"/>
                    <a:pt x="3199995" y="3060715"/>
                    <a:pt x="3195282" y="3060715"/>
                  </a:cubicBezTo>
                  <a:lnTo>
                    <a:pt x="17769" y="3060715"/>
                  </a:lnTo>
                  <a:cubicBezTo>
                    <a:pt x="13056" y="3060715"/>
                    <a:pt x="8537" y="3058843"/>
                    <a:pt x="5204" y="3055510"/>
                  </a:cubicBezTo>
                  <a:cubicBezTo>
                    <a:pt x="1872" y="3052178"/>
                    <a:pt x="0" y="3047658"/>
                    <a:pt x="0" y="3042946"/>
                  </a:cubicBezTo>
                  <a:lnTo>
                    <a:pt x="0" y="17769"/>
                  </a:lnTo>
                  <a:cubicBezTo>
                    <a:pt x="0" y="13056"/>
                    <a:pt x="1872" y="8537"/>
                    <a:pt x="5204" y="5204"/>
                  </a:cubicBezTo>
                  <a:cubicBezTo>
                    <a:pt x="8537" y="1872"/>
                    <a:pt x="13056" y="0"/>
                    <a:pt x="17769" y="0"/>
                  </a:cubicBezTo>
                  <a:close/>
                </a:path>
              </a:pathLst>
            </a:custGeom>
            <a:solidFill>
              <a:srgbClr val="00407B"/>
            </a:solidFill>
          </p:spPr>
        </p:sp>
        <p:sp>
          <p:nvSpPr>
            <p:cNvPr name="TextBox 4" id="4"/>
            <p:cNvSpPr txBox="true"/>
            <p:nvPr/>
          </p:nvSpPr>
          <p:spPr>
            <a:xfrm>
              <a:off x="0" y="-38100"/>
              <a:ext cx="3213051" cy="3098815"/>
            </a:xfrm>
            <a:prstGeom prst="rect">
              <a:avLst/>
            </a:prstGeom>
          </p:spPr>
          <p:txBody>
            <a:bodyPr anchor="ctr" rtlCol="false" tIns="50800" lIns="50800" bIns="50800" rIns="50800"/>
            <a:lstStyle/>
            <a:p>
              <a:pPr algn="ctr">
                <a:lnSpc>
                  <a:spcPts val="1774"/>
                </a:lnSpc>
              </a:pPr>
            </a:p>
          </p:txBody>
        </p:sp>
      </p:grpSp>
      <p:grpSp>
        <p:nvGrpSpPr>
          <p:cNvPr name="Group 5" id="5"/>
          <p:cNvGrpSpPr>
            <a:grpSpLocks noChangeAspect="true"/>
          </p:cNvGrpSpPr>
          <p:nvPr/>
        </p:nvGrpSpPr>
        <p:grpSpPr>
          <a:xfrm rot="0">
            <a:off x="1237683" y="2186366"/>
            <a:ext cx="7751485" cy="6223599"/>
            <a:chOff x="0" y="0"/>
            <a:chExt cx="7467600" cy="5995670"/>
          </a:xfrm>
        </p:grpSpPr>
        <p:sp>
          <p:nvSpPr>
            <p:cNvPr name="Freeform 6" id="6"/>
            <p:cNvSpPr/>
            <p:nvPr/>
          </p:nvSpPr>
          <p:spPr>
            <a:xfrm flipH="false" flipV="false" rot="0">
              <a:off x="0" y="0"/>
              <a:ext cx="7467600" cy="4513580"/>
            </a:xfrm>
            <a:custGeom>
              <a:avLst/>
              <a:gdLst/>
              <a:ahLst/>
              <a:cxnLst/>
              <a:rect r="r" b="b" t="t" l="l"/>
              <a:pathLst>
                <a:path h="4513580" w="7467600">
                  <a:moveTo>
                    <a:pt x="7127240" y="0"/>
                  </a:moveTo>
                  <a:lnTo>
                    <a:pt x="340360" y="0"/>
                  </a:lnTo>
                  <a:cubicBezTo>
                    <a:pt x="152400" y="0"/>
                    <a:pt x="0" y="152400"/>
                    <a:pt x="0" y="340360"/>
                  </a:cubicBezTo>
                  <a:lnTo>
                    <a:pt x="0" y="4513580"/>
                  </a:lnTo>
                  <a:lnTo>
                    <a:pt x="7467600" y="4513580"/>
                  </a:lnTo>
                  <a:lnTo>
                    <a:pt x="7467600" y="340360"/>
                  </a:lnTo>
                  <a:cubicBezTo>
                    <a:pt x="7467600" y="152400"/>
                    <a:pt x="7315200" y="0"/>
                    <a:pt x="7127240" y="0"/>
                  </a:cubicBezTo>
                  <a:close/>
                  <a:moveTo>
                    <a:pt x="7142480" y="4188460"/>
                  </a:moveTo>
                  <a:lnTo>
                    <a:pt x="314961" y="4188460"/>
                  </a:lnTo>
                  <a:lnTo>
                    <a:pt x="314961" y="353060"/>
                  </a:lnTo>
                  <a:lnTo>
                    <a:pt x="7142480" y="353060"/>
                  </a:lnTo>
                  <a:lnTo>
                    <a:pt x="7142480" y="4188460"/>
                  </a:lnTo>
                  <a:close/>
                </a:path>
              </a:pathLst>
            </a:custGeom>
            <a:solidFill>
              <a:srgbClr val="000A1F"/>
            </a:solidFill>
          </p:spPr>
        </p:sp>
        <p:sp>
          <p:nvSpPr>
            <p:cNvPr name="Freeform 7" id="7"/>
            <p:cNvSpPr/>
            <p:nvPr/>
          </p:nvSpPr>
          <p:spPr>
            <a:xfrm flipH="false" flipV="false" rot="0">
              <a:off x="0" y="4514850"/>
              <a:ext cx="7467600" cy="695960"/>
            </a:xfrm>
            <a:custGeom>
              <a:avLst/>
              <a:gdLst/>
              <a:ahLst/>
              <a:cxnLst/>
              <a:rect r="r" b="b" t="t" l="l"/>
              <a:pathLst>
                <a:path h="695960" w="7467600">
                  <a:moveTo>
                    <a:pt x="0" y="355600"/>
                  </a:moveTo>
                  <a:cubicBezTo>
                    <a:pt x="0" y="543560"/>
                    <a:pt x="152400" y="695960"/>
                    <a:pt x="340360" y="695960"/>
                  </a:cubicBezTo>
                  <a:lnTo>
                    <a:pt x="7127240" y="695960"/>
                  </a:lnTo>
                  <a:cubicBezTo>
                    <a:pt x="7315200" y="695960"/>
                    <a:pt x="7467600" y="543560"/>
                    <a:pt x="7467600" y="355600"/>
                  </a:cubicBezTo>
                  <a:lnTo>
                    <a:pt x="7467600" y="0"/>
                  </a:lnTo>
                  <a:lnTo>
                    <a:pt x="0" y="0"/>
                  </a:lnTo>
                  <a:lnTo>
                    <a:pt x="0" y="355600"/>
                  </a:lnTo>
                  <a:close/>
                </a:path>
              </a:pathLst>
            </a:custGeom>
            <a:solidFill>
              <a:srgbClr val="203752"/>
            </a:solidFill>
          </p:spPr>
        </p:sp>
        <p:sp>
          <p:nvSpPr>
            <p:cNvPr name="Freeform 8" id="8"/>
            <p:cNvSpPr/>
            <p:nvPr/>
          </p:nvSpPr>
          <p:spPr>
            <a:xfrm flipH="false" flipV="false" rot="0">
              <a:off x="2429510" y="5210810"/>
              <a:ext cx="2606040" cy="791210"/>
            </a:xfrm>
            <a:custGeom>
              <a:avLst/>
              <a:gdLst/>
              <a:ahLst/>
              <a:cxnLst/>
              <a:rect r="r" b="b" t="t" l="l"/>
              <a:pathLst>
                <a:path h="791210" w="2606040">
                  <a:moveTo>
                    <a:pt x="1258570" y="0"/>
                  </a:moveTo>
                  <a:lnTo>
                    <a:pt x="453390" y="0"/>
                  </a:lnTo>
                  <a:cubicBezTo>
                    <a:pt x="453390" y="0"/>
                    <a:pt x="429260" y="370840"/>
                    <a:pt x="403860" y="525780"/>
                  </a:cubicBezTo>
                  <a:cubicBezTo>
                    <a:pt x="359410" y="791210"/>
                    <a:pt x="87630" y="706120"/>
                    <a:pt x="10160" y="762000"/>
                  </a:cubicBezTo>
                  <a:cubicBezTo>
                    <a:pt x="0" y="769620"/>
                    <a:pt x="5080" y="786130"/>
                    <a:pt x="17780" y="786130"/>
                  </a:cubicBezTo>
                  <a:lnTo>
                    <a:pt x="2588260" y="786130"/>
                  </a:lnTo>
                  <a:cubicBezTo>
                    <a:pt x="2600960" y="786130"/>
                    <a:pt x="2606040" y="769620"/>
                    <a:pt x="2595880" y="762000"/>
                  </a:cubicBezTo>
                  <a:cubicBezTo>
                    <a:pt x="2518410" y="706120"/>
                    <a:pt x="2246630" y="791210"/>
                    <a:pt x="2202180" y="525780"/>
                  </a:cubicBezTo>
                  <a:cubicBezTo>
                    <a:pt x="2176780" y="370840"/>
                    <a:pt x="2152650" y="0"/>
                    <a:pt x="2152650" y="0"/>
                  </a:cubicBezTo>
                  <a:lnTo>
                    <a:pt x="1258570" y="0"/>
                  </a:lnTo>
                  <a:close/>
                </a:path>
              </a:pathLst>
            </a:custGeom>
            <a:solidFill>
              <a:srgbClr val="BBBBBB"/>
            </a:solidFill>
          </p:spPr>
        </p:sp>
        <p:sp>
          <p:nvSpPr>
            <p:cNvPr name="Freeform 9" id="9"/>
            <p:cNvSpPr/>
            <p:nvPr/>
          </p:nvSpPr>
          <p:spPr>
            <a:xfrm flipH="false" flipV="false" rot="0">
              <a:off x="314960" y="353060"/>
              <a:ext cx="6827520" cy="3835400"/>
            </a:xfrm>
            <a:custGeom>
              <a:avLst/>
              <a:gdLst/>
              <a:ahLst/>
              <a:cxnLst/>
              <a:rect r="r" b="b" t="t" l="l"/>
              <a:pathLst>
                <a:path h="3835400" w="6827520">
                  <a:moveTo>
                    <a:pt x="0" y="0"/>
                  </a:moveTo>
                  <a:lnTo>
                    <a:pt x="6827520" y="0"/>
                  </a:lnTo>
                  <a:lnTo>
                    <a:pt x="6827520" y="3835400"/>
                  </a:lnTo>
                  <a:lnTo>
                    <a:pt x="0" y="3835400"/>
                  </a:lnTo>
                  <a:close/>
                </a:path>
              </a:pathLst>
            </a:custGeom>
            <a:blipFill>
              <a:blip r:embed="rId2"/>
              <a:stretch>
                <a:fillRect l="0" t="-9337" r="0" b="-9337"/>
              </a:stretch>
            </a:blipFill>
          </p:spPr>
        </p:sp>
      </p:grpSp>
      <p:sp>
        <p:nvSpPr>
          <p:cNvPr name="TextBox 10" id="10"/>
          <p:cNvSpPr txBox="true"/>
          <p:nvPr/>
        </p:nvSpPr>
        <p:spPr>
          <a:xfrm rot="0">
            <a:off x="10223044" y="2198199"/>
            <a:ext cx="6959826" cy="6649021"/>
          </a:xfrm>
          <a:prstGeom prst="rect">
            <a:avLst/>
          </a:prstGeom>
        </p:spPr>
        <p:txBody>
          <a:bodyPr anchor="t" rtlCol="false" tIns="0" lIns="0" bIns="0" rIns="0">
            <a:spAutoFit/>
          </a:bodyPr>
          <a:lstStyle/>
          <a:p>
            <a:pPr algn="l">
              <a:lnSpc>
                <a:spcPts val="3811"/>
              </a:lnSpc>
            </a:pPr>
            <a:r>
              <a:rPr lang="en-US" sz="2367">
                <a:solidFill>
                  <a:srgbClr val="FFFFFF"/>
                </a:solidFill>
                <a:latin typeface="TT Interphases"/>
                <a:ea typeface="TT Interphases"/>
                <a:cs typeface="TT Interphases"/>
                <a:sym typeface="TT Interphases"/>
              </a:rPr>
              <a:t>El avance del proyecto Seguridad SB demuestra un progreso sólido hacia la implementación de una solución digital que mejorará la gestión de la seguridad ciudadana en San Bernardo. </a:t>
            </a:r>
          </a:p>
          <a:p>
            <a:pPr algn="l">
              <a:lnSpc>
                <a:spcPts val="3811"/>
              </a:lnSpc>
            </a:pPr>
          </a:p>
          <a:p>
            <a:pPr algn="l">
              <a:lnSpc>
                <a:spcPts val="3811"/>
              </a:lnSpc>
            </a:pPr>
            <a:r>
              <a:rPr lang="en-US" sz="2367">
                <a:solidFill>
                  <a:srgbClr val="FFFFFF"/>
                </a:solidFill>
                <a:latin typeface="TT Interphases"/>
                <a:ea typeface="TT Interphases"/>
                <a:cs typeface="TT Interphases"/>
                <a:sym typeface="TT Interphases"/>
              </a:rPr>
              <a:t>A futuro, se espera continuar con el desarrollo e integración de nuevas funcionalidades que fortalezcan la comunicación entre la comunidad y los equipos municipales, optimizando los tiempos de respuesta y promoviendo una mayor participación ciudadana.</a:t>
            </a:r>
          </a:p>
          <a:p>
            <a:pPr algn="l">
              <a:lnSpc>
                <a:spcPts val="3811"/>
              </a:lnSpc>
            </a:pPr>
          </a:p>
          <a:p>
            <a:pPr algn="l">
              <a:lnSpc>
                <a:spcPts val="3811"/>
              </a:lnSpc>
            </a:pPr>
            <a:r>
              <a:rPr lang="en-US" sz="2367">
                <a:solidFill>
                  <a:srgbClr val="FFFFFF"/>
                </a:solidFill>
                <a:latin typeface="TT Interphases"/>
                <a:ea typeface="TT Interphases"/>
                <a:cs typeface="TT Interphases"/>
                <a:sym typeface="TT Interphases"/>
              </a:rPr>
              <a:t>Este proyecto representa un paso importante hacia una comuna más conectada, eficiente y segura.</a:t>
            </a:r>
          </a:p>
        </p:txBody>
      </p:sp>
      <p:grpSp>
        <p:nvGrpSpPr>
          <p:cNvPr name="Group 11" id="11"/>
          <p:cNvGrpSpPr>
            <a:grpSpLocks noChangeAspect="true"/>
          </p:cNvGrpSpPr>
          <p:nvPr/>
        </p:nvGrpSpPr>
        <p:grpSpPr>
          <a:xfrm rot="0">
            <a:off x="-189678" y="-255099"/>
            <a:ext cx="4224174" cy="2567599"/>
            <a:chOff x="0" y="0"/>
            <a:chExt cx="5632232" cy="3423465"/>
          </a:xfrm>
        </p:grpSpPr>
        <p:sp>
          <p:nvSpPr>
            <p:cNvPr name="Freeform 12" id="12"/>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3"/>
              <a:stretch>
                <a:fillRect l="-5149" t="-37679" r="-5140" b="-32516"/>
              </a:stretch>
            </a:blipFill>
          </p:spPr>
        </p:sp>
      </p:grpSp>
      <p:grpSp>
        <p:nvGrpSpPr>
          <p:cNvPr name="Group 13" id="13"/>
          <p:cNvGrpSpPr/>
          <p:nvPr/>
        </p:nvGrpSpPr>
        <p:grpSpPr>
          <a:xfrm rot="5400000">
            <a:off x="11878464" y="-3462932"/>
            <a:ext cx="3648985" cy="6415666"/>
            <a:chOff x="0" y="0"/>
            <a:chExt cx="961050" cy="1689723"/>
          </a:xfrm>
        </p:grpSpPr>
        <p:sp>
          <p:nvSpPr>
            <p:cNvPr name="Freeform 14" id="14"/>
            <p:cNvSpPr/>
            <p:nvPr/>
          </p:nvSpPr>
          <p:spPr>
            <a:xfrm flipH="false" flipV="false" rot="0">
              <a:off x="0" y="0"/>
              <a:ext cx="961050" cy="1689723"/>
            </a:xfrm>
            <a:custGeom>
              <a:avLst/>
              <a:gdLst/>
              <a:ahLst/>
              <a:cxnLst/>
              <a:rect r="r" b="b" t="t" l="l"/>
              <a:pathLst>
                <a:path h="1689723" w="961050">
                  <a:moveTo>
                    <a:pt x="59407" y="0"/>
                  </a:moveTo>
                  <a:lnTo>
                    <a:pt x="901643" y="0"/>
                  </a:lnTo>
                  <a:cubicBezTo>
                    <a:pt x="934452" y="0"/>
                    <a:pt x="961050" y="26597"/>
                    <a:pt x="961050" y="59407"/>
                  </a:cubicBezTo>
                  <a:lnTo>
                    <a:pt x="961050" y="1630316"/>
                  </a:lnTo>
                  <a:cubicBezTo>
                    <a:pt x="961050" y="1646072"/>
                    <a:pt x="954791" y="1661182"/>
                    <a:pt x="943650" y="1672323"/>
                  </a:cubicBezTo>
                  <a:cubicBezTo>
                    <a:pt x="932509" y="1683464"/>
                    <a:pt x="917399" y="1689723"/>
                    <a:pt x="901643" y="1689723"/>
                  </a:cubicBezTo>
                  <a:lnTo>
                    <a:pt x="59407" y="1689723"/>
                  </a:lnTo>
                  <a:cubicBezTo>
                    <a:pt x="43651" y="1689723"/>
                    <a:pt x="28541" y="1683464"/>
                    <a:pt x="17400" y="1672323"/>
                  </a:cubicBezTo>
                  <a:cubicBezTo>
                    <a:pt x="6259" y="1661182"/>
                    <a:pt x="0" y="1646072"/>
                    <a:pt x="0" y="1630316"/>
                  </a:cubicBezTo>
                  <a:lnTo>
                    <a:pt x="0" y="59407"/>
                  </a:lnTo>
                  <a:cubicBezTo>
                    <a:pt x="0" y="43651"/>
                    <a:pt x="6259" y="28541"/>
                    <a:pt x="17400" y="17400"/>
                  </a:cubicBezTo>
                  <a:cubicBezTo>
                    <a:pt x="28541" y="6259"/>
                    <a:pt x="43651" y="0"/>
                    <a:pt x="59407" y="0"/>
                  </a:cubicBezTo>
                  <a:close/>
                </a:path>
              </a:pathLst>
            </a:custGeom>
            <a:solidFill>
              <a:srgbClr val="FDB61B"/>
            </a:solidFill>
          </p:spPr>
        </p:sp>
        <p:sp>
          <p:nvSpPr>
            <p:cNvPr name="TextBox 15" id="15"/>
            <p:cNvSpPr txBox="true"/>
            <p:nvPr/>
          </p:nvSpPr>
          <p:spPr>
            <a:xfrm>
              <a:off x="0" y="-38100"/>
              <a:ext cx="961050" cy="1727823"/>
            </a:xfrm>
            <a:prstGeom prst="rect">
              <a:avLst/>
            </a:prstGeom>
          </p:spPr>
          <p:txBody>
            <a:bodyPr anchor="ctr" rtlCol="false" tIns="50800" lIns="50800" bIns="50800" rIns="50800"/>
            <a:lstStyle/>
            <a:p>
              <a:pPr algn="ctr">
                <a:lnSpc>
                  <a:spcPts val="1774"/>
                </a:lnSpc>
              </a:pPr>
            </a:p>
          </p:txBody>
        </p:sp>
      </p:grpSp>
      <p:sp>
        <p:nvSpPr>
          <p:cNvPr name="TextBox 16" id="16"/>
          <p:cNvSpPr txBox="true"/>
          <p:nvPr/>
        </p:nvSpPr>
        <p:spPr>
          <a:xfrm rot="0">
            <a:off x="10066277" y="439492"/>
            <a:ext cx="7273360" cy="802157"/>
          </a:xfrm>
          <a:prstGeom prst="rect">
            <a:avLst/>
          </a:prstGeom>
        </p:spPr>
        <p:txBody>
          <a:bodyPr anchor="t" rtlCol="false" tIns="0" lIns="0" bIns="0" rIns="0">
            <a:spAutoFit/>
          </a:bodyPr>
          <a:lstStyle/>
          <a:p>
            <a:pPr algn="ctr" marL="0" indent="0" lvl="0">
              <a:lnSpc>
                <a:spcPts val="6472"/>
              </a:lnSpc>
              <a:spcBef>
                <a:spcPct val="0"/>
              </a:spcBef>
            </a:pPr>
            <a:r>
              <a:rPr lang="en-US" b="true" sz="5220" spc="99">
                <a:solidFill>
                  <a:srgbClr val="FFFFFF"/>
                </a:solidFill>
                <a:latin typeface="Muli Heavy"/>
                <a:ea typeface="Muli Heavy"/>
                <a:cs typeface="Muli Heavy"/>
                <a:sym typeface="Muli Heavy"/>
              </a:rPr>
              <a:t>CONCLUSIÓN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376901">
            <a:off x="6025872" y="-1562825"/>
            <a:ext cx="13552631" cy="21642251"/>
            <a:chOff x="0" y="0"/>
            <a:chExt cx="3569417" cy="5700017"/>
          </a:xfrm>
        </p:grpSpPr>
        <p:sp>
          <p:nvSpPr>
            <p:cNvPr name="Freeform 3" id="3"/>
            <p:cNvSpPr/>
            <p:nvPr/>
          </p:nvSpPr>
          <p:spPr>
            <a:xfrm flipH="false" flipV="false" rot="0">
              <a:off x="0" y="0"/>
              <a:ext cx="3569417" cy="5700017"/>
            </a:xfrm>
            <a:custGeom>
              <a:avLst/>
              <a:gdLst/>
              <a:ahLst/>
              <a:cxnLst/>
              <a:rect r="r" b="b" t="t" l="l"/>
              <a:pathLst>
                <a:path h="5700017" w="3569417">
                  <a:moveTo>
                    <a:pt x="0" y="0"/>
                  </a:moveTo>
                  <a:lnTo>
                    <a:pt x="3569417" y="0"/>
                  </a:lnTo>
                  <a:lnTo>
                    <a:pt x="3569417" y="5700017"/>
                  </a:lnTo>
                  <a:lnTo>
                    <a:pt x="0" y="5700017"/>
                  </a:lnTo>
                  <a:close/>
                </a:path>
              </a:pathLst>
            </a:custGeom>
            <a:solidFill>
              <a:srgbClr val="00407B"/>
            </a:solidFill>
          </p:spPr>
        </p:sp>
        <p:sp>
          <p:nvSpPr>
            <p:cNvPr name="TextBox 4" id="4"/>
            <p:cNvSpPr txBox="true"/>
            <p:nvPr/>
          </p:nvSpPr>
          <p:spPr>
            <a:xfrm>
              <a:off x="0" y="-38100"/>
              <a:ext cx="3569417" cy="5738117"/>
            </a:xfrm>
            <a:prstGeom prst="rect">
              <a:avLst/>
            </a:prstGeom>
          </p:spPr>
          <p:txBody>
            <a:bodyPr anchor="ctr" rtlCol="false" tIns="50800" lIns="50800" bIns="50800" rIns="50800"/>
            <a:lstStyle/>
            <a:p>
              <a:pPr algn="ctr">
                <a:lnSpc>
                  <a:spcPts val="1774"/>
                </a:lnSpc>
              </a:pPr>
            </a:p>
          </p:txBody>
        </p:sp>
      </p:grpSp>
      <p:sp>
        <p:nvSpPr>
          <p:cNvPr name="TextBox 5" id="5"/>
          <p:cNvSpPr txBox="true"/>
          <p:nvPr/>
        </p:nvSpPr>
        <p:spPr>
          <a:xfrm rot="0">
            <a:off x="3195769" y="3915744"/>
            <a:ext cx="11896462" cy="2398375"/>
          </a:xfrm>
          <a:prstGeom prst="rect">
            <a:avLst/>
          </a:prstGeom>
        </p:spPr>
        <p:txBody>
          <a:bodyPr anchor="t" rtlCol="false" tIns="0" lIns="0" bIns="0" rIns="0">
            <a:spAutoFit/>
          </a:bodyPr>
          <a:lstStyle/>
          <a:p>
            <a:pPr algn="ctr">
              <a:lnSpc>
                <a:spcPts val="19069"/>
              </a:lnSpc>
            </a:pPr>
            <a:r>
              <a:rPr lang="en-US" b="true" sz="15378" spc="292">
                <a:solidFill>
                  <a:srgbClr val="FFFFFF"/>
                </a:solidFill>
                <a:latin typeface="Muli Heavy"/>
                <a:ea typeface="Muli Heavy"/>
                <a:cs typeface="Muli Heavy"/>
                <a:sym typeface="Muli Heavy"/>
              </a:rPr>
              <a:t>GRACIAS</a:t>
            </a:r>
          </a:p>
        </p:txBody>
      </p:sp>
      <p:grpSp>
        <p:nvGrpSpPr>
          <p:cNvPr name="Group 6" id="6"/>
          <p:cNvGrpSpPr>
            <a:grpSpLocks noChangeAspect="true"/>
          </p:cNvGrpSpPr>
          <p:nvPr/>
        </p:nvGrpSpPr>
        <p:grpSpPr>
          <a:xfrm rot="0">
            <a:off x="521585" y="107322"/>
            <a:ext cx="4224174" cy="2567599"/>
            <a:chOff x="0" y="0"/>
            <a:chExt cx="5632232" cy="3423465"/>
          </a:xfrm>
        </p:grpSpPr>
        <p:sp>
          <p:nvSpPr>
            <p:cNvPr name="Freeform 7" id="7"/>
            <p:cNvSpPr/>
            <p:nvPr/>
          </p:nvSpPr>
          <p:spPr>
            <a:xfrm flipH="false" flipV="false" rot="0">
              <a:off x="0" y="0"/>
              <a:ext cx="5632196" cy="3423412"/>
            </a:xfrm>
            <a:custGeom>
              <a:avLst/>
              <a:gdLst/>
              <a:ahLst/>
              <a:cxnLst/>
              <a:rect r="r" b="b" t="t" l="l"/>
              <a:pathLst>
                <a:path h="3423412" w="5632196">
                  <a:moveTo>
                    <a:pt x="0" y="0"/>
                  </a:moveTo>
                  <a:lnTo>
                    <a:pt x="5632196" y="0"/>
                  </a:lnTo>
                  <a:lnTo>
                    <a:pt x="5632196" y="3423412"/>
                  </a:lnTo>
                  <a:lnTo>
                    <a:pt x="0" y="3423412"/>
                  </a:lnTo>
                  <a:lnTo>
                    <a:pt x="0" y="0"/>
                  </a:lnTo>
                  <a:close/>
                </a:path>
              </a:pathLst>
            </a:custGeom>
            <a:blipFill>
              <a:blip r:embed="rId2"/>
              <a:stretch>
                <a:fillRect l="-5149" t="-37679" r="-5140" b="-32516"/>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DAG1-j61Tzw</dc:identifier>
  <dcterms:modified xsi:type="dcterms:W3CDTF">2011-08-01T06:04:30Z</dcterms:modified>
  <cp:revision>1</cp:revision>
  <dc:title>Resumen evidencias Final</dc:title>
</cp:coreProperties>
</file>